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8" r:id="rId3"/>
  </p:sldMasterIdLst>
  <p:notesMasterIdLst>
    <p:notesMasterId r:id="rId18"/>
  </p:notesMasterIdLst>
  <p:sldIdLst>
    <p:sldId id="5502" r:id="rId4"/>
    <p:sldId id="5503" r:id="rId5"/>
    <p:sldId id="5513" r:id="rId6"/>
    <p:sldId id="5497" r:id="rId7"/>
    <p:sldId id="5515" r:id="rId8"/>
    <p:sldId id="5519" r:id="rId9"/>
    <p:sldId id="5522" r:id="rId10"/>
    <p:sldId id="5529" r:id="rId11"/>
    <p:sldId id="5526" r:id="rId12"/>
    <p:sldId id="5517" r:id="rId13"/>
    <p:sldId id="5525" r:id="rId14"/>
    <p:sldId id="5532" r:id="rId15"/>
    <p:sldId id="5531" r:id="rId16"/>
    <p:sldId id="552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DCA28C-F7B5-439D-8525-0382AA138CF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1DB06CA-B63D-4950-AC5B-5F9B57ADA999}">
      <dgm:prSet/>
      <dgm:spPr>
        <a:xfrm>
          <a:off x="987" y="213292"/>
          <a:ext cx="1244296" cy="746577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Master Data/ Reference Data management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5170689-CDB7-4D85-8464-AED96ADB7A78}" type="parTrans" cxnId="{88B5C1E1-CADF-49BA-A08F-2691E84AD052}">
      <dgm:prSet/>
      <dgm:spPr/>
      <dgm:t>
        <a:bodyPr/>
        <a:lstStyle/>
        <a:p>
          <a:endParaRPr lang="en-US"/>
        </a:p>
      </dgm:t>
    </dgm:pt>
    <dgm:pt modelId="{98EA7A71-B76B-4C3B-9F99-936E5A572A9B}" type="sibTrans" cxnId="{88B5C1E1-CADF-49BA-A08F-2691E84AD052}">
      <dgm:prSet/>
      <dgm:spPr/>
      <dgm:t>
        <a:bodyPr/>
        <a:lstStyle/>
        <a:p>
          <a:endParaRPr lang="en-US"/>
        </a:p>
      </dgm:t>
    </dgm:pt>
    <dgm:pt modelId="{304E058E-B503-4C0B-8059-1903FE235C8B}">
      <dgm:prSet/>
      <dgm:spPr>
        <a:xfrm>
          <a:off x="1369713" y="213292"/>
          <a:ext cx="1244296" cy="746577"/>
        </a:xfrm>
        <a:prstGeom prst="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Quality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D3C0781A-9B8D-46D7-9535-6D20CE08C47A}" type="parTrans" cxnId="{2B52BC57-5143-43C9-8769-55F510AD88B9}">
      <dgm:prSet/>
      <dgm:spPr/>
      <dgm:t>
        <a:bodyPr/>
        <a:lstStyle/>
        <a:p>
          <a:endParaRPr lang="en-US"/>
        </a:p>
      </dgm:t>
    </dgm:pt>
    <dgm:pt modelId="{12B684BA-A8B7-4E8F-8273-9E9E28A6F630}" type="sibTrans" cxnId="{2B52BC57-5143-43C9-8769-55F510AD88B9}">
      <dgm:prSet/>
      <dgm:spPr/>
      <dgm:t>
        <a:bodyPr/>
        <a:lstStyle/>
        <a:p>
          <a:endParaRPr lang="en-US"/>
        </a:p>
      </dgm:t>
    </dgm:pt>
    <dgm:pt modelId="{30A3B8B4-C5A8-4E7D-BEF8-ADD4B090C4CC}">
      <dgm:prSet/>
      <dgm:spPr>
        <a:xfrm>
          <a:off x="2738439" y="213292"/>
          <a:ext cx="1244296" cy="746577"/>
        </a:xfrm>
        <a:prstGeom prst="rect">
          <a:avLst/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Engineering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0E2A8FFD-BF55-44C7-A2A0-AD7B674FE37B}" type="parTrans" cxnId="{2C887027-98B1-4B60-852D-F1EFA0A1ACF0}">
      <dgm:prSet/>
      <dgm:spPr/>
      <dgm:t>
        <a:bodyPr/>
        <a:lstStyle/>
        <a:p>
          <a:endParaRPr lang="en-US"/>
        </a:p>
      </dgm:t>
    </dgm:pt>
    <dgm:pt modelId="{9E67FA27-2FD7-4F40-8E3F-B6EA8A66DDF3}" type="sibTrans" cxnId="{2C887027-98B1-4B60-852D-F1EFA0A1ACF0}">
      <dgm:prSet/>
      <dgm:spPr/>
      <dgm:t>
        <a:bodyPr/>
        <a:lstStyle/>
        <a:p>
          <a:endParaRPr lang="en-US"/>
        </a:p>
      </dgm:t>
    </dgm:pt>
    <dgm:pt modelId="{19F7F123-2F42-4052-A51D-C1AD4253BE0A}">
      <dgm:prSet/>
      <dgm:spPr>
        <a:xfrm>
          <a:off x="4107164" y="213292"/>
          <a:ext cx="1244296" cy="74657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Integration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9BDFB914-01C8-47C7-9980-E19DF556B005}" type="parTrans" cxnId="{4CF61A98-DF49-4F6F-8A7E-0A25FE09BD79}">
      <dgm:prSet/>
      <dgm:spPr/>
      <dgm:t>
        <a:bodyPr/>
        <a:lstStyle/>
        <a:p>
          <a:endParaRPr lang="en-US"/>
        </a:p>
      </dgm:t>
    </dgm:pt>
    <dgm:pt modelId="{32F27ABC-D955-49FC-AE9E-69E637E37AB1}" type="sibTrans" cxnId="{4CF61A98-DF49-4F6F-8A7E-0A25FE09BD79}">
      <dgm:prSet/>
      <dgm:spPr/>
      <dgm:t>
        <a:bodyPr/>
        <a:lstStyle/>
        <a:p>
          <a:endParaRPr lang="en-US"/>
        </a:p>
      </dgm:t>
    </dgm:pt>
    <dgm:pt modelId="{CD37C1AF-285F-412A-B7A6-6BD7E6BD7EC8}">
      <dgm:prSet/>
      <dgm:spPr>
        <a:xfrm>
          <a:off x="5475890" y="213292"/>
          <a:ext cx="1244296" cy="746577"/>
        </a:xfrm>
        <a:prstGeom prst="rect">
          <a:avLst/>
        </a:prstGeom>
        <a:solidFill>
          <a:srgbClr val="70AD47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Privacy &amp; Governance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417664B3-7310-4F68-9588-FD393632FFAB}" type="parTrans" cxnId="{4F15D133-14BF-4B8D-B06D-C389B40053EF}">
      <dgm:prSet/>
      <dgm:spPr/>
      <dgm:t>
        <a:bodyPr/>
        <a:lstStyle/>
        <a:p>
          <a:endParaRPr lang="en-US"/>
        </a:p>
      </dgm:t>
    </dgm:pt>
    <dgm:pt modelId="{53F3A420-A227-4C67-A4E4-9A58052764B0}" type="sibTrans" cxnId="{4F15D133-14BF-4B8D-B06D-C389B40053EF}">
      <dgm:prSet/>
      <dgm:spPr/>
      <dgm:t>
        <a:bodyPr/>
        <a:lstStyle/>
        <a:p>
          <a:endParaRPr lang="en-US"/>
        </a:p>
      </dgm:t>
    </dgm:pt>
    <dgm:pt modelId="{DC42E614-3F4D-4635-809C-3B230463F6C4}">
      <dgm:prSet/>
      <dgm:spPr>
        <a:xfrm>
          <a:off x="6844616" y="213292"/>
          <a:ext cx="1244296" cy="746577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Architecture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334BF6A-8913-43AC-A12A-F54622E86DE8}" type="parTrans" cxnId="{BA6547C4-8AE3-48B3-B6F6-822D7F8FD5F9}">
      <dgm:prSet/>
      <dgm:spPr/>
      <dgm:t>
        <a:bodyPr/>
        <a:lstStyle/>
        <a:p>
          <a:endParaRPr lang="en-US"/>
        </a:p>
      </dgm:t>
    </dgm:pt>
    <dgm:pt modelId="{BAF962A3-3D02-491D-AEC1-A6A5D268A487}" type="sibTrans" cxnId="{BA6547C4-8AE3-48B3-B6F6-822D7F8FD5F9}">
      <dgm:prSet/>
      <dgm:spPr/>
      <dgm:t>
        <a:bodyPr/>
        <a:lstStyle/>
        <a:p>
          <a:endParaRPr lang="en-US"/>
        </a:p>
      </dgm:t>
    </dgm:pt>
    <dgm:pt modelId="{2B6F0968-5605-964B-9C8E-8F915ABC44BB}" type="pres">
      <dgm:prSet presAssocID="{09DCA28C-F7B5-439D-8525-0382AA138CF8}" presName="diagram" presStyleCnt="0">
        <dgm:presLayoutVars>
          <dgm:dir/>
          <dgm:resizeHandles val="exact"/>
        </dgm:presLayoutVars>
      </dgm:prSet>
      <dgm:spPr/>
    </dgm:pt>
    <dgm:pt modelId="{DD72472B-19DF-F443-AD08-0A7E9587692C}" type="pres">
      <dgm:prSet presAssocID="{F1DB06CA-B63D-4950-AC5B-5F9B57ADA999}" presName="node" presStyleLbl="node1" presStyleIdx="0" presStyleCnt="6">
        <dgm:presLayoutVars>
          <dgm:bulletEnabled val="1"/>
        </dgm:presLayoutVars>
      </dgm:prSet>
      <dgm:spPr/>
    </dgm:pt>
    <dgm:pt modelId="{B294C098-6347-9B48-BB26-B1438C98FBC4}" type="pres">
      <dgm:prSet presAssocID="{98EA7A71-B76B-4C3B-9F99-936E5A572A9B}" presName="sibTrans" presStyleCnt="0"/>
      <dgm:spPr/>
    </dgm:pt>
    <dgm:pt modelId="{0D01270A-DE99-F94C-900A-230137431011}" type="pres">
      <dgm:prSet presAssocID="{304E058E-B503-4C0B-8059-1903FE235C8B}" presName="node" presStyleLbl="node1" presStyleIdx="1" presStyleCnt="6">
        <dgm:presLayoutVars>
          <dgm:bulletEnabled val="1"/>
        </dgm:presLayoutVars>
      </dgm:prSet>
      <dgm:spPr/>
    </dgm:pt>
    <dgm:pt modelId="{462B91E0-204A-154B-AF68-D823948C3A69}" type="pres">
      <dgm:prSet presAssocID="{12B684BA-A8B7-4E8F-8273-9E9E28A6F630}" presName="sibTrans" presStyleCnt="0"/>
      <dgm:spPr/>
    </dgm:pt>
    <dgm:pt modelId="{E7C11570-2800-0C44-AF9A-FFF3BFDD5745}" type="pres">
      <dgm:prSet presAssocID="{30A3B8B4-C5A8-4E7D-BEF8-ADD4B090C4CC}" presName="node" presStyleLbl="node1" presStyleIdx="2" presStyleCnt="6">
        <dgm:presLayoutVars>
          <dgm:bulletEnabled val="1"/>
        </dgm:presLayoutVars>
      </dgm:prSet>
      <dgm:spPr/>
    </dgm:pt>
    <dgm:pt modelId="{B1D93A89-33D7-A540-B0CE-5F6F8908802E}" type="pres">
      <dgm:prSet presAssocID="{9E67FA27-2FD7-4F40-8E3F-B6EA8A66DDF3}" presName="sibTrans" presStyleCnt="0"/>
      <dgm:spPr/>
    </dgm:pt>
    <dgm:pt modelId="{00926F64-E8C7-6048-A110-90739D4C5C61}" type="pres">
      <dgm:prSet presAssocID="{19F7F123-2F42-4052-A51D-C1AD4253BE0A}" presName="node" presStyleLbl="node1" presStyleIdx="3" presStyleCnt="6">
        <dgm:presLayoutVars>
          <dgm:bulletEnabled val="1"/>
        </dgm:presLayoutVars>
      </dgm:prSet>
      <dgm:spPr/>
    </dgm:pt>
    <dgm:pt modelId="{4956C4EA-F529-9F40-AAE7-26399AB2C2AA}" type="pres">
      <dgm:prSet presAssocID="{32F27ABC-D955-49FC-AE9E-69E637E37AB1}" presName="sibTrans" presStyleCnt="0"/>
      <dgm:spPr/>
    </dgm:pt>
    <dgm:pt modelId="{354BB443-53BB-714B-8F66-C8B4668AD8E8}" type="pres">
      <dgm:prSet presAssocID="{CD37C1AF-285F-412A-B7A6-6BD7E6BD7EC8}" presName="node" presStyleLbl="node1" presStyleIdx="4" presStyleCnt="6">
        <dgm:presLayoutVars>
          <dgm:bulletEnabled val="1"/>
        </dgm:presLayoutVars>
      </dgm:prSet>
      <dgm:spPr/>
    </dgm:pt>
    <dgm:pt modelId="{A532719B-9007-7F41-9658-68AB546C08C5}" type="pres">
      <dgm:prSet presAssocID="{53F3A420-A227-4C67-A4E4-9A58052764B0}" presName="sibTrans" presStyleCnt="0"/>
      <dgm:spPr/>
    </dgm:pt>
    <dgm:pt modelId="{4FA787DA-07A2-7845-A746-D7F994B4056B}" type="pres">
      <dgm:prSet presAssocID="{DC42E614-3F4D-4635-809C-3B230463F6C4}" presName="node" presStyleLbl="node1" presStyleIdx="5" presStyleCnt="6">
        <dgm:presLayoutVars>
          <dgm:bulletEnabled val="1"/>
        </dgm:presLayoutVars>
      </dgm:prSet>
      <dgm:spPr/>
    </dgm:pt>
  </dgm:ptLst>
  <dgm:cxnLst>
    <dgm:cxn modelId="{2C887027-98B1-4B60-852D-F1EFA0A1ACF0}" srcId="{09DCA28C-F7B5-439D-8525-0382AA138CF8}" destId="{30A3B8B4-C5A8-4E7D-BEF8-ADD4B090C4CC}" srcOrd="2" destOrd="0" parTransId="{0E2A8FFD-BF55-44C7-A2A0-AD7B674FE37B}" sibTransId="{9E67FA27-2FD7-4F40-8E3F-B6EA8A66DDF3}"/>
    <dgm:cxn modelId="{4F15D133-14BF-4B8D-B06D-C389B40053EF}" srcId="{09DCA28C-F7B5-439D-8525-0382AA138CF8}" destId="{CD37C1AF-285F-412A-B7A6-6BD7E6BD7EC8}" srcOrd="4" destOrd="0" parTransId="{417664B3-7310-4F68-9588-FD393632FFAB}" sibTransId="{53F3A420-A227-4C67-A4E4-9A58052764B0}"/>
    <dgm:cxn modelId="{433C3D3C-53A8-2744-BE5F-7275F67C9A39}" type="presOf" srcId="{304E058E-B503-4C0B-8059-1903FE235C8B}" destId="{0D01270A-DE99-F94C-900A-230137431011}" srcOrd="0" destOrd="0" presId="urn:microsoft.com/office/officeart/2005/8/layout/default"/>
    <dgm:cxn modelId="{49C2EF67-696E-BA47-8399-2F563D792BE9}" type="presOf" srcId="{F1DB06CA-B63D-4950-AC5B-5F9B57ADA999}" destId="{DD72472B-19DF-F443-AD08-0A7E9587692C}" srcOrd="0" destOrd="0" presId="urn:microsoft.com/office/officeart/2005/8/layout/default"/>
    <dgm:cxn modelId="{DA12094D-0865-614E-A4F6-07CA197DD71E}" type="presOf" srcId="{CD37C1AF-285F-412A-B7A6-6BD7E6BD7EC8}" destId="{354BB443-53BB-714B-8F66-C8B4668AD8E8}" srcOrd="0" destOrd="0" presId="urn:microsoft.com/office/officeart/2005/8/layout/default"/>
    <dgm:cxn modelId="{2B52BC57-5143-43C9-8769-55F510AD88B9}" srcId="{09DCA28C-F7B5-439D-8525-0382AA138CF8}" destId="{304E058E-B503-4C0B-8059-1903FE235C8B}" srcOrd="1" destOrd="0" parTransId="{D3C0781A-9B8D-46D7-9535-6D20CE08C47A}" sibTransId="{12B684BA-A8B7-4E8F-8273-9E9E28A6F630}"/>
    <dgm:cxn modelId="{E1809F8D-8AF7-044E-9DF0-1D3E10DC2B9E}" type="presOf" srcId="{30A3B8B4-C5A8-4E7D-BEF8-ADD4B090C4CC}" destId="{E7C11570-2800-0C44-AF9A-FFF3BFDD5745}" srcOrd="0" destOrd="0" presId="urn:microsoft.com/office/officeart/2005/8/layout/default"/>
    <dgm:cxn modelId="{4CF61A98-DF49-4F6F-8A7E-0A25FE09BD79}" srcId="{09DCA28C-F7B5-439D-8525-0382AA138CF8}" destId="{19F7F123-2F42-4052-A51D-C1AD4253BE0A}" srcOrd="3" destOrd="0" parTransId="{9BDFB914-01C8-47C7-9980-E19DF556B005}" sibTransId="{32F27ABC-D955-49FC-AE9E-69E637E37AB1}"/>
    <dgm:cxn modelId="{866D60A8-E41A-A446-8173-16D319822A44}" type="presOf" srcId="{09DCA28C-F7B5-439D-8525-0382AA138CF8}" destId="{2B6F0968-5605-964B-9C8E-8F915ABC44BB}" srcOrd="0" destOrd="0" presId="urn:microsoft.com/office/officeart/2005/8/layout/default"/>
    <dgm:cxn modelId="{BA6547C4-8AE3-48B3-B6F6-822D7F8FD5F9}" srcId="{09DCA28C-F7B5-439D-8525-0382AA138CF8}" destId="{DC42E614-3F4D-4635-809C-3B230463F6C4}" srcOrd="5" destOrd="0" parTransId="{1334BF6A-8913-43AC-A12A-F54622E86DE8}" sibTransId="{BAF962A3-3D02-491D-AEC1-A6A5D268A487}"/>
    <dgm:cxn modelId="{F634B3D6-3C45-E340-9C3B-A6E0552C6B1D}" type="presOf" srcId="{19F7F123-2F42-4052-A51D-C1AD4253BE0A}" destId="{00926F64-E8C7-6048-A110-90739D4C5C61}" srcOrd="0" destOrd="0" presId="urn:microsoft.com/office/officeart/2005/8/layout/default"/>
    <dgm:cxn modelId="{88B5C1E1-CADF-49BA-A08F-2691E84AD052}" srcId="{09DCA28C-F7B5-439D-8525-0382AA138CF8}" destId="{F1DB06CA-B63D-4950-AC5B-5F9B57ADA999}" srcOrd="0" destOrd="0" parTransId="{15170689-CDB7-4D85-8464-AED96ADB7A78}" sibTransId="{98EA7A71-B76B-4C3B-9F99-936E5A572A9B}"/>
    <dgm:cxn modelId="{98A61CFA-93DA-B84D-9525-00F54B52F52C}" type="presOf" srcId="{DC42E614-3F4D-4635-809C-3B230463F6C4}" destId="{4FA787DA-07A2-7845-A746-D7F994B4056B}" srcOrd="0" destOrd="0" presId="urn:microsoft.com/office/officeart/2005/8/layout/default"/>
    <dgm:cxn modelId="{C88E7FE7-3E0B-1D4A-A86C-236279D7DD53}" type="presParOf" srcId="{2B6F0968-5605-964B-9C8E-8F915ABC44BB}" destId="{DD72472B-19DF-F443-AD08-0A7E9587692C}" srcOrd="0" destOrd="0" presId="urn:microsoft.com/office/officeart/2005/8/layout/default"/>
    <dgm:cxn modelId="{7375D5D0-5812-7843-9FDF-DBA5BF6D0FF6}" type="presParOf" srcId="{2B6F0968-5605-964B-9C8E-8F915ABC44BB}" destId="{B294C098-6347-9B48-BB26-B1438C98FBC4}" srcOrd="1" destOrd="0" presId="urn:microsoft.com/office/officeart/2005/8/layout/default"/>
    <dgm:cxn modelId="{8FF89E2C-833A-7548-9A3E-7497438E01BB}" type="presParOf" srcId="{2B6F0968-5605-964B-9C8E-8F915ABC44BB}" destId="{0D01270A-DE99-F94C-900A-230137431011}" srcOrd="2" destOrd="0" presId="urn:microsoft.com/office/officeart/2005/8/layout/default"/>
    <dgm:cxn modelId="{FA02C1EF-1A33-DC4F-84C7-53C3FAE874DA}" type="presParOf" srcId="{2B6F0968-5605-964B-9C8E-8F915ABC44BB}" destId="{462B91E0-204A-154B-AF68-D823948C3A69}" srcOrd="3" destOrd="0" presId="urn:microsoft.com/office/officeart/2005/8/layout/default"/>
    <dgm:cxn modelId="{55B77557-57CE-5344-B9E6-C630C715D8FD}" type="presParOf" srcId="{2B6F0968-5605-964B-9C8E-8F915ABC44BB}" destId="{E7C11570-2800-0C44-AF9A-FFF3BFDD5745}" srcOrd="4" destOrd="0" presId="urn:microsoft.com/office/officeart/2005/8/layout/default"/>
    <dgm:cxn modelId="{89C02F8E-21F7-EC4A-93BB-123670728F6A}" type="presParOf" srcId="{2B6F0968-5605-964B-9C8E-8F915ABC44BB}" destId="{B1D93A89-33D7-A540-B0CE-5F6F8908802E}" srcOrd="5" destOrd="0" presId="urn:microsoft.com/office/officeart/2005/8/layout/default"/>
    <dgm:cxn modelId="{6DE6BFE8-6101-B645-8BEB-768EB0F54447}" type="presParOf" srcId="{2B6F0968-5605-964B-9C8E-8F915ABC44BB}" destId="{00926F64-E8C7-6048-A110-90739D4C5C61}" srcOrd="6" destOrd="0" presId="urn:microsoft.com/office/officeart/2005/8/layout/default"/>
    <dgm:cxn modelId="{45B5B41A-73C0-2449-9A32-838B9DE26662}" type="presParOf" srcId="{2B6F0968-5605-964B-9C8E-8F915ABC44BB}" destId="{4956C4EA-F529-9F40-AAE7-26399AB2C2AA}" srcOrd="7" destOrd="0" presId="urn:microsoft.com/office/officeart/2005/8/layout/default"/>
    <dgm:cxn modelId="{6C56906D-888A-7F48-AAAB-8ECDCD1C6BF4}" type="presParOf" srcId="{2B6F0968-5605-964B-9C8E-8F915ABC44BB}" destId="{354BB443-53BB-714B-8F66-C8B4668AD8E8}" srcOrd="8" destOrd="0" presId="urn:microsoft.com/office/officeart/2005/8/layout/default"/>
    <dgm:cxn modelId="{F5568289-3BDA-B142-8FE2-3A7D40594A11}" type="presParOf" srcId="{2B6F0968-5605-964B-9C8E-8F915ABC44BB}" destId="{A532719B-9007-7F41-9658-68AB546C08C5}" srcOrd="9" destOrd="0" presId="urn:microsoft.com/office/officeart/2005/8/layout/default"/>
    <dgm:cxn modelId="{FE0257A5-211A-FC47-B1F7-59BFB1844DF6}" type="presParOf" srcId="{2B6F0968-5605-964B-9C8E-8F915ABC44BB}" destId="{4FA787DA-07A2-7845-A746-D7F994B4056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2472B-19DF-F443-AD08-0A7E9587692C}">
      <dsp:nvSpPr>
        <dsp:cNvPr id="0" name=""/>
        <dsp:cNvSpPr/>
      </dsp:nvSpPr>
      <dsp:spPr>
        <a:xfrm>
          <a:off x="765" y="247558"/>
          <a:ext cx="964090" cy="578454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Master Data/ Reference Data management</a:t>
          </a: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765" y="247558"/>
        <a:ext cx="964090" cy="578454"/>
      </dsp:txXfrm>
    </dsp:sp>
    <dsp:sp modelId="{0D01270A-DE99-F94C-900A-230137431011}">
      <dsp:nvSpPr>
        <dsp:cNvPr id="0" name=""/>
        <dsp:cNvSpPr/>
      </dsp:nvSpPr>
      <dsp:spPr>
        <a:xfrm>
          <a:off x="1061264" y="247558"/>
          <a:ext cx="964090" cy="578454"/>
        </a:xfrm>
        <a:prstGeom prst="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Quality</a:t>
          </a: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1061264" y="247558"/>
        <a:ext cx="964090" cy="578454"/>
      </dsp:txXfrm>
    </dsp:sp>
    <dsp:sp modelId="{E7C11570-2800-0C44-AF9A-FFF3BFDD5745}">
      <dsp:nvSpPr>
        <dsp:cNvPr id="0" name=""/>
        <dsp:cNvSpPr/>
      </dsp:nvSpPr>
      <dsp:spPr>
        <a:xfrm>
          <a:off x="2121763" y="247558"/>
          <a:ext cx="964090" cy="578454"/>
        </a:xfrm>
        <a:prstGeom prst="rect">
          <a:avLst/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Engineering</a:t>
          </a: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2121763" y="247558"/>
        <a:ext cx="964090" cy="578454"/>
      </dsp:txXfrm>
    </dsp:sp>
    <dsp:sp modelId="{00926F64-E8C7-6048-A110-90739D4C5C61}">
      <dsp:nvSpPr>
        <dsp:cNvPr id="0" name=""/>
        <dsp:cNvSpPr/>
      </dsp:nvSpPr>
      <dsp:spPr>
        <a:xfrm>
          <a:off x="3182263" y="247558"/>
          <a:ext cx="964090" cy="578454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Integration</a:t>
          </a: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182263" y="247558"/>
        <a:ext cx="964090" cy="578454"/>
      </dsp:txXfrm>
    </dsp:sp>
    <dsp:sp modelId="{354BB443-53BB-714B-8F66-C8B4668AD8E8}">
      <dsp:nvSpPr>
        <dsp:cNvPr id="0" name=""/>
        <dsp:cNvSpPr/>
      </dsp:nvSpPr>
      <dsp:spPr>
        <a:xfrm>
          <a:off x="4242762" y="247558"/>
          <a:ext cx="964090" cy="578454"/>
        </a:xfrm>
        <a:prstGeom prst="rect">
          <a:avLst/>
        </a:prstGeom>
        <a:solidFill>
          <a:srgbClr val="70AD47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Privacy &amp; Governance</a:t>
          </a: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242762" y="247558"/>
        <a:ext cx="964090" cy="578454"/>
      </dsp:txXfrm>
    </dsp:sp>
    <dsp:sp modelId="{4FA787DA-07A2-7845-A746-D7F994B4056B}">
      <dsp:nvSpPr>
        <dsp:cNvPr id="0" name=""/>
        <dsp:cNvSpPr/>
      </dsp:nvSpPr>
      <dsp:spPr>
        <a:xfrm>
          <a:off x="5303261" y="247558"/>
          <a:ext cx="964090" cy="578454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Data Architecture</a:t>
          </a: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5303261" y="247558"/>
        <a:ext cx="964090" cy="578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6C793-3EBB-404E-9A00-A362909179B9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6A2D9-98DF-455D-8233-993175C0A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95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Exploring 'Retrieval Augmented Generation': combining retrieval techniques with generation for enhanced data output.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36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Overview of presentation topics: Introduction, Path of RAG, RAG essence, Upcoming Technologies, Benefits, RAG Architecture, and Customer Stories.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451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Introduction to DataPattern: Overview of partners, clients, global presence, and specialized domains, showcasing the company's diversified expertise and global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1F72CD-8697-AA4B-A98B-4D887057FB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48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Detailing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DataPattern's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service offerings, encompassing a range of solutions tailored to meet diverse client needs and industry requirements.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664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Introduction to RAG (Retrieval Augmented Generation), including its process flow and utilization of external sources to enhance text generation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82A8B-78A0-FF49-8BEF-F28E7E8DD4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722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Highlighting the core functionalities of RAG and its integration capabilities, showcasing its versatility and adaptability within various contexts and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82A8B-78A0-FF49-8BEF-F28E7E8DD4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654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Detailing the numerous benefits of RAG, emphasizing its capacity to improve text generation efficiency, accuracy, and relevance, ultimately enhancing overall workflow and output quality.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9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Presenting the architecture flow chart of RAG, illustrating the structural framework and key components that facilitate its retrieval-augmented text generation process.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37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Illustrating a customer success story through the '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EminenceAI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' project, showcasing real-world implementation and the tangible benefits derived from utilizing RAG within the context of a specific project.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374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Detailing challenges, approach, solutions, and results of the '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EminenceAI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' project, showcasing RAG's effectiveness in overcoming obstacles and delivering impactful outcomes.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60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Highlighting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DataPattern's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capabilities in RAG, including expertise in platforms like Databricks, GEN AI, and Power BI, showcasing its proficiency in leveraging diverse technologies to enhance text generation processes.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44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Detailing the possibilities and capabilities within RAG, showcasing the range of applications and potential outcomes achievable through its utilization.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16A2D9-98DF-455D-8233-993175C0A57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05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Detailing RAG-based services offered by DataPattern, encompassing custom AI solutions, natural language queries, data integrations, and big data processing, showcasing the breadth of capabilities in leveraging RAG for various applications.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16A2D9-98DF-455D-8233-993175C0A57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326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Exploring future technologies in RAG, showcasing upcoming innovations and advancements.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6A2D9-98DF-455D-8233-993175C0A57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6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0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546" t="40603" r="18637" b="43215"/>
          <a:stretch/>
        </p:blipFill>
        <p:spPr bwMode="gray">
          <a:xfrm>
            <a:off x="203200" y="72989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1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8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0" y="1945557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2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7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892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C233-40C0-3242-AF16-F0072A21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63017"/>
            <a:ext cx="11300236" cy="505979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00-A1A8-084B-93A1-73B8FAB7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0"/>
            <a:ext cx="11300236" cy="4674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 descr="A black background with orange and blue text&#10;&#10;Description automatically generated">
            <a:extLst>
              <a:ext uri="{FF2B5EF4-FFF2-40B4-BE49-F238E27FC236}">
                <a16:creationId xmlns:a16="http://schemas.microsoft.com/office/drawing/2014/main" id="{31990838-3A7D-B653-CB94-14CD621D2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7000"/>
          </a:blip>
          <a:srcRect l="21591" t="42382" r="22726" b="43071"/>
          <a:stretch/>
        </p:blipFill>
        <p:spPr>
          <a:xfrm>
            <a:off x="10109268" y="110881"/>
            <a:ext cx="1656635" cy="32456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0E69FB-7722-AEB7-F5CC-F07034FDC5FD}"/>
              </a:ext>
            </a:extLst>
          </p:cNvPr>
          <p:cNvCxnSpPr>
            <a:cxnSpLocks/>
          </p:cNvCxnSpPr>
          <p:nvPr userDrawn="1"/>
        </p:nvCxnSpPr>
        <p:spPr>
          <a:xfrm>
            <a:off x="445882" y="666037"/>
            <a:ext cx="10898015" cy="0"/>
          </a:xfrm>
          <a:prstGeom prst="line">
            <a:avLst/>
          </a:prstGeom>
          <a:ln>
            <a:solidFill>
              <a:srgbClr val="F18A31">
                <a:alpha val="72000"/>
              </a:srgb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339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FC27-AD7F-1A46-A6F9-2C9507026F9D}" type="datetime1">
              <a:rPr lang="en-US" smtClean="0"/>
              <a:t>3/28/2024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4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5"/>
          <p:cNvSpPr/>
          <p:nvPr userDrawn="1"/>
        </p:nvSpPr>
        <p:spPr bwMode="gray">
          <a:xfrm rot="16200000">
            <a:off x="3747181" y="3268820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1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0214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6E250-8C04-4D62-9CB2-2B7E46FF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1F2D-E3A3-B34A-8C97-CD0456629075}" type="datetime1">
              <a:rPr lang="en-US" smtClean="0"/>
              <a:t>3/28/2024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F2B3-A0E6-4327-8D38-D8F2690C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91ED-28E0-4D7F-B506-44A67BDF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253-7455-46C9-BD4C-CB6661B7FE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19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739967" y="2008520"/>
            <a:ext cx="10289680" cy="13644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E9A-2755-1B49-9094-02250BA934CE}" type="datetime1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2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DDCECB-ED66-4E99-9EED-BC8E6A1D8F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4108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258B5-B018-0245-A255-48DC38274B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9557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578E96-FCC1-784A-B328-9A60C05A1D4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3/28/2024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04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AFC5D9-9B93-C04D-97CB-878064126594}" type="datetime1">
              <a:rPr lang="en-US" smtClean="0"/>
              <a:t>3/28/2024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4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5"/>
          <p:cNvSpPr/>
          <p:nvPr userDrawn="1"/>
        </p:nvSpPr>
        <p:spPr bwMode="gray">
          <a:xfrm rot="16200000">
            <a:off x="3747181" y="3268820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1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041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0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546" t="40603" r="18637" b="43215"/>
          <a:stretch/>
        </p:blipFill>
        <p:spPr bwMode="gray">
          <a:xfrm>
            <a:off x="203200" y="72989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1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8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0" y="1945557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2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7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205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C233-40C0-3242-AF16-F0072A21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195985"/>
            <a:ext cx="11300236" cy="71430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00-A1A8-084B-93A1-73B8FAB7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0"/>
            <a:ext cx="11300236" cy="4751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 descr="A black background with orange and blue text&#10;&#10;Description automatically generated">
            <a:extLst>
              <a:ext uri="{FF2B5EF4-FFF2-40B4-BE49-F238E27FC236}">
                <a16:creationId xmlns:a16="http://schemas.microsoft.com/office/drawing/2014/main" id="{31990838-3A7D-B653-CB94-14CD621D2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7000"/>
          </a:blip>
          <a:srcRect l="21591" t="42382" r="22726" b="43071"/>
          <a:stretch/>
        </p:blipFill>
        <p:spPr>
          <a:xfrm>
            <a:off x="10216710" y="273163"/>
            <a:ext cx="1656635" cy="32456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0E69FB-7722-AEB7-F5CC-F07034FDC5FD}"/>
              </a:ext>
            </a:extLst>
          </p:cNvPr>
          <p:cNvCxnSpPr>
            <a:cxnSpLocks/>
          </p:cNvCxnSpPr>
          <p:nvPr userDrawn="1"/>
        </p:nvCxnSpPr>
        <p:spPr>
          <a:xfrm>
            <a:off x="445882" y="906182"/>
            <a:ext cx="10898015" cy="0"/>
          </a:xfrm>
          <a:prstGeom prst="line">
            <a:avLst/>
          </a:prstGeom>
          <a:ln>
            <a:solidFill>
              <a:srgbClr val="F18A31">
                <a:alpha val="72000"/>
              </a:srgb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49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0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546" t="40603" r="18637" b="43215"/>
          <a:stretch/>
        </p:blipFill>
        <p:spPr bwMode="gray">
          <a:xfrm>
            <a:off x="203200" y="72989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1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8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0" y="1945557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2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7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218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C233-40C0-3242-AF16-F0072A21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195985"/>
            <a:ext cx="11300236" cy="71430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00-A1A8-084B-93A1-73B8FAB7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0"/>
            <a:ext cx="11300236" cy="4751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 descr="A black background with orange and blue text&#10;&#10;Description automatically generated">
            <a:extLst>
              <a:ext uri="{FF2B5EF4-FFF2-40B4-BE49-F238E27FC236}">
                <a16:creationId xmlns:a16="http://schemas.microsoft.com/office/drawing/2014/main" id="{31990838-3A7D-B653-CB94-14CD621D2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7000"/>
          </a:blip>
          <a:srcRect l="21591" t="42382" r="22726" b="43071"/>
          <a:stretch/>
        </p:blipFill>
        <p:spPr>
          <a:xfrm>
            <a:off x="10233959" y="183967"/>
            <a:ext cx="1656635" cy="32456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0E69FB-7722-AEB7-F5CC-F07034FDC5FD}"/>
              </a:ext>
            </a:extLst>
          </p:cNvPr>
          <p:cNvCxnSpPr>
            <a:cxnSpLocks/>
          </p:cNvCxnSpPr>
          <p:nvPr userDrawn="1"/>
        </p:nvCxnSpPr>
        <p:spPr>
          <a:xfrm>
            <a:off x="445882" y="906182"/>
            <a:ext cx="10898015" cy="0"/>
          </a:xfrm>
          <a:prstGeom prst="line">
            <a:avLst/>
          </a:prstGeom>
          <a:ln>
            <a:solidFill>
              <a:srgbClr val="F18A31">
                <a:alpha val="72000"/>
              </a:srgb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222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FC27-AD7F-1A46-A6F9-2C9507026F9D}" type="datetime1">
              <a:rPr lang="en-US" smtClean="0"/>
              <a:t>3/28/2024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4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5"/>
          <p:cNvSpPr/>
          <p:nvPr userDrawn="1"/>
        </p:nvSpPr>
        <p:spPr bwMode="gray">
          <a:xfrm rot="16200000">
            <a:off x="3747181" y="3268820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1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56920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739967" y="2008520"/>
            <a:ext cx="10289680" cy="13644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E9A-2755-1B49-9094-02250BA934CE}" type="datetime1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6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258B5-B018-0245-A255-48DC38274B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9557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578E96-FCC1-784A-B328-9A60C05A1D4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3/28/2024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613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AFC5D9-9B93-C04D-97CB-878064126594}" type="datetime1">
              <a:rPr lang="en-US" smtClean="0"/>
              <a:t>3/28/2024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4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5"/>
          <p:cNvSpPr/>
          <p:nvPr userDrawn="1"/>
        </p:nvSpPr>
        <p:spPr bwMode="gray">
          <a:xfrm rot="16200000">
            <a:off x="3747181" y="3268820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1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23150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0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546" t="40603" r="18637" b="43215"/>
          <a:stretch/>
        </p:blipFill>
        <p:spPr bwMode="gray">
          <a:xfrm>
            <a:off x="203200" y="72989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1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8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0" y="1945557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2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7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3523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C233-40C0-3242-AF16-F0072A21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195985"/>
            <a:ext cx="11300236" cy="71430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00-A1A8-084B-93A1-73B8FAB7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0"/>
            <a:ext cx="11300236" cy="4751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 descr="A black background with orange and blue text&#10;&#10;Description automatically generated">
            <a:extLst>
              <a:ext uri="{FF2B5EF4-FFF2-40B4-BE49-F238E27FC236}">
                <a16:creationId xmlns:a16="http://schemas.microsoft.com/office/drawing/2014/main" id="{31990838-3A7D-B653-CB94-14CD621D2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7000"/>
          </a:blip>
          <a:srcRect l="21591" t="42382" r="22726" b="43071"/>
          <a:stretch/>
        </p:blipFill>
        <p:spPr>
          <a:xfrm>
            <a:off x="10535365" y="65383"/>
            <a:ext cx="1656635" cy="32456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0E69FB-7722-AEB7-F5CC-F07034FDC5FD}"/>
              </a:ext>
            </a:extLst>
          </p:cNvPr>
          <p:cNvCxnSpPr>
            <a:cxnSpLocks/>
          </p:cNvCxnSpPr>
          <p:nvPr userDrawn="1"/>
        </p:nvCxnSpPr>
        <p:spPr>
          <a:xfrm>
            <a:off x="445882" y="906182"/>
            <a:ext cx="10898015" cy="0"/>
          </a:xfrm>
          <a:prstGeom prst="line">
            <a:avLst/>
          </a:prstGeom>
          <a:ln>
            <a:solidFill>
              <a:srgbClr val="F18A31">
                <a:alpha val="72000"/>
              </a:srgb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607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FC27-AD7F-1A46-A6F9-2C9507026F9D}" type="datetime1">
              <a:rPr lang="en-US" smtClean="0"/>
              <a:t>3/28/2024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4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5"/>
          <p:cNvSpPr/>
          <p:nvPr userDrawn="1"/>
        </p:nvSpPr>
        <p:spPr bwMode="gray">
          <a:xfrm rot="16200000">
            <a:off x="3747181" y="3268820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1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65294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6E250-8C04-4D62-9CB2-2B7E46FF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1F2D-E3A3-B34A-8C97-CD0456629075}" type="datetime1">
              <a:rPr lang="en-US" smtClean="0"/>
              <a:t>3/28/2024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F2B3-A0E6-4327-8D38-D8F2690C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91ED-28E0-4D7F-B506-44A67BDF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253-7455-46C9-BD4C-CB6661B7FE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2283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739967" y="2008520"/>
            <a:ext cx="10289680" cy="13644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E9A-2755-1B49-9094-02250BA934CE}" type="datetime1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4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DDCECB-ED66-4E99-9EED-BC8E6A1D8F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982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258B5-B018-0245-A255-48DC38274B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9557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578E96-FCC1-784A-B328-9A60C05A1D4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3/28/2024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2841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AFC5D9-9B93-C04D-97CB-878064126594}" type="datetime1">
              <a:rPr lang="en-US" smtClean="0"/>
              <a:t>3/28/2024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4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5"/>
          <p:cNvSpPr/>
          <p:nvPr userDrawn="1"/>
        </p:nvSpPr>
        <p:spPr bwMode="gray">
          <a:xfrm rot="16200000">
            <a:off x="3747181" y="3268820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1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2213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D6418-E216-C64F-BF26-5BDA3C39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316007"/>
            <a:ext cx="11300236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0821-D19D-A148-BAC4-6F471600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673915"/>
            <a:ext cx="11300236" cy="136447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D067D-7D1A-D643-89DD-494771B9F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931"/>
          <a:stretch/>
        </p:blipFill>
        <p:spPr>
          <a:xfrm>
            <a:off x="11303723" y="6174735"/>
            <a:ext cx="542837" cy="54674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 flipH="1">
            <a:off x="465667" y="6196247"/>
            <a:ext cx="10923693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99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+mn-lt"/>
          <a:ea typeface="Segoe UI Historic" panose="020B0502040204020203" pitchFamily="34" charset="0"/>
          <a:cs typeface="Segoe UI Historic" panose="020B0502040204020203" pitchFamily="34" charset="0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12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8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14375" indent="-17145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7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Calibri" panose="020F0502020204030204" pitchFamily="34" charset="0"/>
        <a:buChar char="‐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D6418-E216-C64F-BF26-5BDA3C39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316007"/>
            <a:ext cx="11300236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0821-D19D-A148-BAC4-6F471600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673915"/>
            <a:ext cx="11300236" cy="136447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D067D-7D1A-D643-89DD-494771B9F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931"/>
          <a:stretch/>
        </p:blipFill>
        <p:spPr>
          <a:xfrm>
            <a:off x="11303723" y="6174735"/>
            <a:ext cx="542837" cy="54674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 flipH="1">
            <a:off x="465667" y="6071330"/>
            <a:ext cx="10923693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40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+mn-lt"/>
          <a:ea typeface="Segoe UI Historic" panose="020B0502040204020203" pitchFamily="34" charset="0"/>
          <a:cs typeface="Segoe UI Historic" panose="020B0502040204020203" pitchFamily="34" charset="0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12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8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14375" indent="-17145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7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Calibri" panose="020F0502020204030204" pitchFamily="34" charset="0"/>
        <a:buChar char="‐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2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D6418-E216-C64F-BF26-5BDA3C39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316007"/>
            <a:ext cx="11300236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0821-D19D-A148-BAC4-6F471600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673915"/>
            <a:ext cx="11300236" cy="136447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2" y="6357327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D067D-7D1A-D643-89DD-494771B9F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931"/>
          <a:stretch/>
        </p:blipFill>
        <p:spPr>
          <a:xfrm>
            <a:off x="11303723" y="6174735"/>
            <a:ext cx="542837" cy="54674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 flipH="1">
            <a:off x="465667" y="6071330"/>
            <a:ext cx="10923693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24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+mn-lt"/>
          <a:ea typeface="Segoe UI Historic" panose="020B0502040204020203" pitchFamily="34" charset="0"/>
          <a:cs typeface="Segoe UI Historic" panose="020B0502040204020203" pitchFamily="34" charset="0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12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8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14375" indent="-17145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7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Calibri" panose="020F0502020204030204" pitchFamily="34" charset="0"/>
        <a:buChar char="‐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22.png"/><Relationship Id="rId3" Type="http://schemas.openxmlformats.org/officeDocument/2006/relationships/image" Target="../media/image30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8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7.png"/><Relationship Id="rId4" Type="http://schemas.openxmlformats.org/officeDocument/2006/relationships/diagramData" Target="../diagrams/data1.xml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19" Type="http://schemas.openxmlformats.org/officeDocument/2006/relationships/image" Target="../media/image51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1369B-EEB1-0083-FEFE-2B5E7D7A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2BA253-7455-46C9-BD4C-CB6661B7FEAE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496A2-5081-DCFC-8DEC-FF1B8122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89863" y="0"/>
            <a:ext cx="6457025" cy="6858000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ED50B5B-2DBA-9A1D-FBA5-359AACBBCE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9546" t="40603" r="18637" b="43215"/>
          <a:stretch/>
        </p:blipFill>
        <p:spPr bwMode="gray">
          <a:xfrm>
            <a:off x="124692" y="470252"/>
            <a:ext cx="4724399" cy="92753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611BE4E-1AC8-E64D-0242-3065DC3651CA}"/>
              </a:ext>
            </a:extLst>
          </p:cNvPr>
          <p:cNvGrpSpPr/>
          <p:nvPr/>
        </p:nvGrpSpPr>
        <p:grpSpPr>
          <a:xfrm>
            <a:off x="-1" y="1844709"/>
            <a:ext cx="6885710" cy="4997747"/>
            <a:chOff x="2646012" y="912574"/>
            <a:chExt cx="6144594" cy="4847604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6F49854-5C45-5549-2BBF-5159970892DD}"/>
                </a:ext>
              </a:extLst>
            </p:cNvPr>
            <p:cNvSpPr/>
            <p:nvPr/>
          </p:nvSpPr>
          <p:spPr bwMode="gray">
            <a:xfrm flipH="1">
              <a:off x="2646012" y="912574"/>
              <a:ext cx="6144594" cy="4847604"/>
            </a:xfrm>
            <a:custGeom>
              <a:avLst/>
              <a:gdLst>
                <a:gd name="connsiteX0" fmla="*/ 1209872 w 6187440"/>
                <a:gd name="connsiteY0" fmla="*/ 0 h 4839487"/>
                <a:gd name="connsiteX1" fmla="*/ 6187440 w 6187440"/>
                <a:gd name="connsiteY1" fmla="*/ 0 h 4839487"/>
                <a:gd name="connsiteX2" fmla="*/ 6187440 w 6187440"/>
                <a:gd name="connsiteY2" fmla="*/ 4839487 h 4839487"/>
                <a:gd name="connsiteX3" fmla="*/ 0 w 6187440"/>
                <a:gd name="connsiteY3" fmla="*/ 4839487 h 483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7440" h="4839487">
                  <a:moveTo>
                    <a:pt x="1209872" y="0"/>
                  </a:moveTo>
                  <a:lnTo>
                    <a:pt x="6187440" y="0"/>
                  </a:lnTo>
                  <a:lnTo>
                    <a:pt x="6187440" y="4839487"/>
                  </a:lnTo>
                  <a:lnTo>
                    <a:pt x="0" y="4839487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039BD1-934C-B41B-C579-B5425CA38A5D}"/>
                </a:ext>
              </a:extLst>
            </p:cNvPr>
            <p:cNvSpPr/>
            <p:nvPr/>
          </p:nvSpPr>
          <p:spPr bwMode="gray">
            <a:xfrm flipH="1">
              <a:off x="2646012" y="1110709"/>
              <a:ext cx="5944496" cy="4649469"/>
            </a:xfrm>
            <a:custGeom>
              <a:avLst/>
              <a:gdLst>
                <a:gd name="connsiteX0" fmla="*/ 1209872 w 6187440"/>
                <a:gd name="connsiteY0" fmla="*/ 0 h 4839487"/>
                <a:gd name="connsiteX1" fmla="*/ 6187440 w 6187440"/>
                <a:gd name="connsiteY1" fmla="*/ 0 h 4839487"/>
                <a:gd name="connsiteX2" fmla="*/ 6187440 w 6187440"/>
                <a:gd name="connsiteY2" fmla="*/ 4839487 h 4839487"/>
                <a:gd name="connsiteX3" fmla="*/ 0 w 6187440"/>
                <a:gd name="connsiteY3" fmla="*/ 4839487 h 483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7440" h="4839487">
                  <a:moveTo>
                    <a:pt x="1209872" y="0"/>
                  </a:moveTo>
                  <a:lnTo>
                    <a:pt x="6187440" y="0"/>
                  </a:lnTo>
                  <a:lnTo>
                    <a:pt x="6187440" y="4839487"/>
                  </a:lnTo>
                  <a:lnTo>
                    <a:pt x="0" y="483948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BDFE5A93-1060-4689-F600-1900C787324F}"/>
                </a:ext>
              </a:extLst>
            </p:cNvPr>
            <p:cNvSpPr/>
            <p:nvPr/>
          </p:nvSpPr>
          <p:spPr>
            <a:xfrm flipH="1">
              <a:off x="7628152" y="1875648"/>
              <a:ext cx="973931" cy="2929573"/>
            </a:xfrm>
            <a:prstGeom prst="parallelogram">
              <a:avLst>
                <a:gd name="adj" fmla="val 74084"/>
              </a:avLst>
            </a:prstGeom>
            <a:solidFill>
              <a:srgbClr val="033C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CC0852D-AB86-BA1B-8595-F0546450AB25}"/>
                </a:ext>
              </a:extLst>
            </p:cNvPr>
            <p:cNvSpPr/>
            <p:nvPr/>
          </p:nvSpPr>
          <p:spPr>
            <a:xfrm flipH="1">
              <a:off x="7773519" y="2002731"/>
              <a:ext cx="889434" cy="2675406"/>
            </a:xfrm>
            <a:prstGeom prst="parallelogram">
              <a:avLst>
                <a:gd name="adj" fmla="val 74084"/>
              </a:avLst>
            </a:prstGeom>
            <a:solidFill>
              <a:srgbClr val="F18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75F5DF86-FEFC-66F4-3900-8A040669423F}"/>
              </a:ext>
            </a:extLst>
          </p:cNvPr>
          <p:cNvSpPr txBox="1">
            <a:spLocks/>
          </p:cNvSpPr>
          <p:nvPr/>
        </p:nvSpPr>
        <p:spPr bwMode="gray">
          <a:xfrm>
            <a:off x="359410" y="2640013"/>
            <a:ext cx="5155425" cy="1893252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Elevating Augment Generation with Enhanced Response Quality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5416922-1395-4B49-299D-A0F3EE2FEDE9}"/>
              </a:ext>
            </a:extLst>
          </p:cNvPr>
          <p:cNvSpPr txBox="1">
            <a:spLocks/>
          </p:cNvSpPr>
          <p:nvPr/>
        </p:nvSpPr>
        <p:spPr bwMode="gray">
          <a:xfrm>
            <a:off x="373864" y="4893868"/>
            <a:ext cx="4724400" cy="583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DataPattern with </a:t>
            </a:r>
            <a:r>
              <a:rPr lang="en-US" sz="1800" dirty="0">
                <a:solidFill>
                  <a:srgbClr val="3F3F3F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retrieval argument generation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59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5" y="65995"/>
            <a:ext cx="11300236" cy="526975"/>
          </a:xfrm>
        </p:spPr>
        <p:txBody>
          <a:bodyPr>
            <a:normAutofit/>
          </a:bodyPr>
          <a:lstStyle/>
          <a:p>
            <a:r>
              <a:rPr lang="en-CA" sz="2800"/>
              <a:t>Slide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284" y="2198915"/>
            <a:ext cx="195435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284" y="2800588"/>
            <a:ext cx="275086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Path of RAG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FBB15-E5CE-CF4C-BF0A-7825587B0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4F2BC-2147-1849-F6CA-11E274478EFB}"/>
              </a:ext>
            </a:extLst>
          </p:cNvPr>
          <p:cNvSpPr txBox="1"/>
          <p:nvPr/>
        </p:nvSpPr>
        <p:spPr>
          <a:xfrm>
            <a:off x="1527283" y="3467337"/>
            <a:ext cx="275086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 Essence Unveiled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CAFCE-A697-EE85-F3CB-99779B76DF1A}"/>
              </a:ext>
            </a:extLst>
          </p:cNvPr>
          <p:cNvSpPr txBox="1"/>
          <p:nvPr/>
        </p:nvSpPr>
        <p:spPr>
          <a:xfrm>
            <a:off x="1527282" y="4165836"/>
            <a:ext cx="275086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Upcoming Technologies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D9BBD-4183-366B-FC06-13EB5A667D5A}"/>
              </a:ext>
            </a:extLst>
          </p:cNvPr>
          <p:cNvSpPr txBox="1"/>
          <p:nvPr/>
        </p:nvSpPr>
        <p:spPr>
          <a:xfrm>
            <a:off x="6459116" y="3350977"/>
            <a:ext cx="2750864" cy="6771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Stories – Case study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</p:txBody>
      </p:sp>
      <p:pic>
        <p:nvPicPr>
          <p:cNvPr id="27" name="Graphic 26" descr="Caret Right with solid fill">
            <a:extLst>
              <a:ext uri="{FF2B5EF4-FFF2-40B4-BE49-F238E27FC236}">
                <a16:creationId xmlns:a16="http://schemas.microsoft.com/office/drawing/2014/main" id="{D0D0C98E-4970-56E9-E87B-63030FD74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177" y="2212883"/>
            <a:ext cx="321734" cy="332317"/>
          </a:xfrm>
          <a:prstGeom prst="rect">
            <a:avLst/>
          </a:prstGeom>
        </p:spPr>
      </p:pic>
      <p:pic>
        <p:nvPicPr>
          <p:cNvPr id="28" name="Graphic 27" descr="Caret Right with solid fill">
            <a:extLst>
              <a:ext uri="{FF2B5EF4-FFF2-40B4-BE49-F238E27FC236}">
                <a16:creationId xmlns:a16="http://schemas.microsoft.com/office/drawing/2014/main" id="{973D29EF-78E8-4280-E910-C7A05C7BD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176" y="2805549"/>
            <a:ext cx="321734" cy="332317"/>
          </a:xfrm>
          <a:prstGeom prst="rect">
            <a:avLst/>
          </a:prstGeom>
        </p:spPr>
      </p:pic>
      <p:pic>
        <p:nvPicPr>
          <p:cNvPr id="29" name="Graphic 28" descr="Caret Right with solid fill">
            <a:extLst>
              <a:ext uri="{FF2B5EF4-FFF2-40B4-BE49-F238E27FC236}">
                <a16:creationId xmlns:a16="http://schemas.microsoft.com/office/drawing/2014/main" id="{ED3AA35E-35CC-17C3-0450-20151E7DB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175" y="3429965"/>
            <a:ext cx="321734" cy="332317"/>
          </a:xfrm>
          <a:prstGeom prst="rect">
            <a:avLst/>
          </a:prstGeom>
        </p:spPr>
      </p:pic>
      <p:pic>
        <p:nvPicPr>
          <p:cNvPr id="34" name="Graphic 33" descr="Caret Right with solid fill">
            <a:extLst>
              <a:ext uri="{FF2B5EF4-FFF2-40B4-BE49-F238E27FC236}">
                <a16:creationId xmlns:a16="http://schemas.microsoft.com/office/drawing/2014/main" id="{FE245DCB-D534-B1E8-7636-A445769B0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176" y="4170799"/>
            <a:ext cx="321734" cy="332317"/>
          </a:xfrm>
          <a:prstGeom prst="rect">
            <a:avLst/>
          </a:prstGeom>
        </p:spPr>
      </p:pic>
      <p:pic>
        <p:nvPicPr>
          <p:cNvPr id="40" name="Graphic 39" descr="Caret Right with solid fill">
            <a:extLst>
              <a:ext uri="{FF2B5EF4-FFF2-40B4-BE49-F238E27FC236}">
                <a16:creationId xmlns:a16="http://schemas.microsoft.com/office/drawing/2014/main" id="{F1157238-E04A-2815-5A96-EB703B1AF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3096" y="2247072"/>
            <a:ext cx="321734" cy="332317"/>
          </a:xfrm>
          <a:prstGeom prst="rect">
            <a:avLst/>
          </a:prstGeom>
        </p:spPr>
      </p:pic>
      <p:pic>
        <p:nvPicPr>
          <p:cNvPr id="41" name="Graphic 40" descr="Caret Right with solid fill">
            <a:extLst>
              <a:ext uri="{FF2B5EF4-FFF2-40B4-BE49-F238E27FC236}">
                <a16:creationId xmlns:a16="http://schemas.microsoft.com/office/drawing/2014/main" id="{90F060CE-F898-1B82-66E8-CB6A3925A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3096" y="2852764"/>
            <a:ext cx="321734" cy="332317"/>
          </a:xfrm>
          <a:prstGeom prst="rect">
            <a:avLst/>
          </a:prstGeom>
        </p:spPr>
      </p:pic>
      <p:pic>
        <p:nvPicPr>
          <p:cNvPr id="42" name="Graphic 41" descr="Caret Right with solid fill">
            <a:extLst>
              <a:ext uri="{FF2B5EF4-FFF2-40B4-BE49-F238E27FC236}">
                <a16:creationId xmlns:a16="http://schemas.microsoft.com/office/drawing/2014/main" id="{4D556FD6-35BD-C077-4A67-B369F5FD8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3096" y="3477994"/>
            <a:ext cx="321734" cy="332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BAEA4D-CF1B-CAE0-721C-8A45950F11B0}"/>
              </a:ext>
            </a:extLst>
          </p:cNvPr>
          <p:cNvSpPr txBox="1"/>
          <p:nvPr/>
        </p:nvSpPr>
        <p:spPr>
          <a:xfrm>
            <a:off x="6459116" y="2247072"/>
            <a:ext cx="404203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D11F4-68F7-5CB4-0CA3-695E5A56AF18}"/>
              </a:ext>
            </a:extLst>
          </p:cNvPr>
          <p:cNvSpPr txBox="1"/>
          <p:nvPr/>
        </p:nvSpPr>
        <p:spPr>
          <a:xfrm>
            <a:off x="6459116" y="2807184"/>
            <a:ext cx="404203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of RAG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89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0D79A25-DD79-11E0-FFF6-DD66FB0FBFCD}"/>
              </a:ext>
            </a:extLst>
          </p:cNvPr>
          <p:cNvSpPr/>
          <p:nvPr/>
        </p:nvSpPr>
        <p:spPr>
          <a:xfrm>
            <a:off x="4133684" y="3987453"/>
            <a:ext cx="609600" cy="609600"/>
          </a:xfrm>
          <a:prstGeom prst="ellipse">
            <a:avLst/>
          </a:prstGeom>
          <a:solidFill>
            <a:srgbClr val="5FB7A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A59C77F2-68C8-9343-9B98-7D508C85E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662" y="4910850"/>
            <a:ext cx="1220060" cy="9066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C25977-7EDA-8141-B6FA-90352BE7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Introduction -DataPattern</a:t>
            </a:r>
          </a:p>
        </p:txBody>
      </p:sp>
      <p:sp>
        <p:nvSpPr>
          <p:cNvPr id="5" name="Line 36">
            <a:extLst>
              <a:ext uri="{FF2B5EF4-FFF2-40B4-BE49-F238E27FC236}">
                <a16:creationId xmlns:a16="http://schemas.microsoft.com/office/drawing/2014/main" id="{9C089EBA-6B40-49ED-AB82-CDA47219F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5438" y="2682370"/>
            <a:ext cx="2253539" cy="926034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E35A35">
                    <a:lumMod val="5000"/>
                    <a:lumOff val="95000"/>
                    <a:alpha val="0"/>
                  </a:srgbClr>
                </a:gs>
                <a:gs pos="70000">
                  <a:srgbClr val="3081AC"/>
                </a:gs>
              </a:gsLst>
              <a:lin ang="10800000" scaled="1"/>
              <a:tileRect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Line 44">
            <a:extLst>
              <a:ext uri="{FF2B5EF4-FFF2-40B4-BE49-F238E27FC236}">
                <a16:creationId xmlns:a16="http://schemas.microsoft.com/office/drawing/2014/main" id="{EC34D9DB-12DA-4AA9-BA20-96F3A5BDA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4642" y="1533549"/>
            <a:ext cx="2679627" cy="12504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E35A35">
                    <a:lumMod val="5000"/>
                    <a:lumOff val="95000"/>
                    <a:alpha val="0"/>
                  </a:srgbClr>
                </a:gs>
                <a:gs pos="86000">
                  <a:srgbClr val="E35A35"/>
                </a:gs>
              </a:gsLst>
              <a:lin ang="0" scaled="1"/>
              <a:tileRect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Line 45">
            <a:extLst>
              <a:ext uri="{FF2B5EF4-FFF2-40B4-BE49-F238E27FC236}">
                <a16:creationId xmlns:a16="http://schemas.microsoft.com/office/drawing/2014/main" id="{F7CD591D-4BA9-4405-B44A-B3024BC3B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7514" y="1546053"/>
            <a:ext cx="3171227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E35A35">
                    <a:lumMod val="5000"/>
                    <a:lumOff val="95000"/>
                    <a:alpha val="0"/>
                  </a:srgbClr>
                </a:gs>
                <a:gs pos="58000">
                  <a:srgbClr val="A2A4AC"/>
                </a:gs>
              </a:gsLst>
              <a:lin ang="10800000" scaled="1"/>
              <a:tileRect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41D861-8133-4959-8ABF-D0CE7BB3780D}"/>
              </a:ext>
            </a:extLst>
          </p:cNvPr>
          <p:cNvSpPr/>
          <p:nvPr/>
        </p:nvSpPr>
        <p:spPr>
          <a:xfrm>
            <a:off x="3766949" y="4701671"/>
            <a:ext cx="2109376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>
                <a:ln>
                  <a:noFill/>
                </a:ln>
                <a:solidFill>
                  <a:srgbClr val="8BB74C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Segoe UI Light" panose="020B0502040204020203" pitchFamily="34" charset="0"/>
              </a:rPr>
              <a:t>Global Presence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849D-5EE0-41C0-BF3D-68E27BCB577F}"/>
              </a:ext>
            </a:extLst>
          </p:cNvPr>
          <p:cNvSpPr/>
          <p:nvPr/>
        </p:nvSpPr>
        <p:spPr>
          <a:xfrm>
            <a:off x="620508" y="4375216"/>
            <a:ext cx="2796359" cy="13090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Woman empowered organization 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125+ Team members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 focused view for Dx initiatives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Industrial Expertise / Specialized skills 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Hybrid options – Onshore/ Near Shore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8B1355-F507-4CAB-A9A0-8B5EB5DDF80C}"/>
              </a:ext>
            </a:extLst>
          </p:cNvPr>
          <p:cNvSpPr/>
          <p:nvPr/>
        </p:nvSpPr>
        <p:spPr>
          <a:xfrm>
            <a:off x="9306275" y="4420952"/>
            <a:ext cx="2279585" cy="8658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just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Hi Tech</a:t>
            </a:r>
          </a:p>
          <a:p>
            <a:pPr marL="285750" marR="0" lvl="0" indent="-285750" algn="just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Energy &amp; utilities</a:t>
            </a:r>
          </a:p>
          <a:p>
            <a:pPr marL="285750" marR="0" lvl="0" indent="-285750" algn="just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Manufacturing</a:t>
            </a:r>
          </a:p>
          <a:p>
            <a:pPr marL="285750" marR="0" lvl="0" indent="-285750" algn="just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Banking and Financial Services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9575A8-C80D-458D-A4CF-AEB43DCD232D}"/>
              </a:ext>
            </a:extLst>
          </p:cNvPr>
          <p:cNvSpPr/>
          <p:nvPr/>
        </p:nvSpPr>
        <p:spPr>
          <a:xfrm>
            <a:off x="8972081" y="4082398"/>
            <a:ext cx="2279585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>
                <a:ln>
                  <a:noFill/>
                </a:ln>
                <a:solidFill>
                  <a:srgbClr val="3081AC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Segoe UI Light" panose="020B0502040204020203" pitchFamily="34" charset="0"/>
              </a:rPr>
              <a:t>Domains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B4A921-44DE-4737-AFE8-4414205BFB17}"/>
              </a:ext>
            </a:extLst>
          </p:cNvPr>
          <p:cNvSpPr/>
          <p:nvPr/>
        </p:nvSpPr>
        <p:spPr>
          <a:xfrm>
            <a:off x="8842727" y="2240051"/>
            <a:ext cx="3349273" cy="11079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286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Major Energy company in US</a:t>
            </a:r>
          </a:p>
          <a:p>
            <a:pPr marL="6286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Major Payments company in US</a:t>
            </a:r>
          </a:p>
          <a:p>
            <a:pPr marL="6286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Major Telecom clients in Canada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France based technology service provider</a:t>
            </a:r>
          </a:p>
          <a:p>
            <a:pPr marL="6286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India based Consulting firm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001C25-B4CA-42EB-B385-4871FFD37085}"/>
              </a:ext>
            </a:extLst>
          </p:cNvPr>
          <p:cNvSpPr/>
          <p:nvPr/>
        </p:nvSpPr>
        <p:spPr>
          <a:xfrm>
            <a:off x="9941366" y="1890067"/>
            <a:ext cx="966508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A2A4AC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Segoe UI Light" panose="020B0502040204020203" pitchFamily="34" charset="0"/>
              </a:rPr>
              <a:t>Clients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8ACEE6-62FE-47A9-972D-5918EED4755B}"/>
              </a:ext>
            </a:extLst>
          </p:cNvPr>
          <p:cNvSpPr/>
          <p:nvPr/>
        </p:nvSpPr>
        <p:spPr>
          <a:xfrm>
            <a:off x="10948741" y="1211901"/>
            <a:ext cx="609600" cy="609600"/>
          </a:xfrm>
          <a:prstGeom prst="ellipse">
            <a:avLst/>
          </a:prstGeom>
          <a:solidFill>
            <a:srgbClr val="A2A4A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BE1F0CE-7F99-4694-866B-698B03C8BC0B}"/>
              </a:ext>
            </a:extLst>
          </p:cNvPr>
          <p:cNvGrpSpPr/>
          <p:nvPr/>
        </p:nvGrpSpPr>
        <p:grpSpPr>
          <a:xfrm>
            <a:off x="3883377" y="1533549"/>
            <a:ext cx="4171950" cy="2022475"/>
            <a:chOff x="4005263" y="1957388"/>
            <a:chExt cx="4171950" cy="2022475"/>
          </a:xfrm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45046809-7F03-409C-94C9-E2BB11C59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263" y="1957388"/>
              <a:ext cx="604838" cy="1092200"/>
            </a:xfrm>
            <a:custGeom>
              <a:avLst/>
              <a:gdLst>
                <a:gd name="T0" fmla="*/ 92 w 158"/>
                <a:gd name="T1" fmla="*/ 285 h 285"/>
                <a:gd name="T2" fmla="*/ 0 w 158"/>
                <a:gd name="T3" fmla="*/ 3 h 285"/>
                <a:gd name="T4" fmla="*/ 80 w 158"/>
                <a:gd name="T5" fmla="*/ 0 h 285"/>
                <a:gd name="T6" fmla="*/ 158 w 158"/>
                <a:gd name="T7" fmla="*/ 241 h 285"/>
                <a:gd name="T8" fmla="*/ 92 w 158"/>
                <a:gd name="T9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285">
                  <a:moveTo>
                    <a:pt x="92" y="285"/>
                  </a:moveTo>
                  <a:cubicBezTo>
                    <a:pt x="36" y="202"/>
                    <a:pt x="4" y="104"/>
                    <a:pt x="0" y="3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4" y="86"/>
                    <a:pt x="111" y="169"/>
                    <a:pt x="158" y="241"/>
                  </a:cubicBezTo>
                  <a:lnTo>
                    <a:pt x="92" y="285"/>
                  </a:lnTo>
                  <a:close/>
                </a:path>
              </a:pathLst>
            </a:custGeom>
            <a:solidFill>
              <a:srgbClr val="E35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1327AA7B-7421-4664-AB29-EFCE8B1CE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938" y="2992438"/>
              <a:ext cx="1020763" cy="857250"/>
            </a:xfrm>
            <a:custGeom>
              <a:avLst/>
              <a:gdLst>
                <a:gd name="T0" fmla="*/ 240 w 267"/>
                <a:gd name="T1" fmla="*/ 224 h 224"/>
                <a:gd name="T2" fmla="*/ 0 w 267"/>
                <a:gd name="T3" fmla="*/ 50 h 224"/>
                <a:gd name="T4" fmla="*/ 63 w 267"/>
                <a:gd name="T5" fmla="*/ 0 h 224"/>
                <a:gd name="T6" fmla="*/ 267 w 267"/>
                <a:gd name="T7" fmla="*/ 149 h 224"/>
                <a:gd name="T8" fmla="*/ 240 w 267"/>
                <a:gd name="T9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224">
                  <a:moveTo>
                    <a:pt x="240" y="224"/>
                  </a:moveTo>
                  <a:cubicBezTo>
                    <a:pt x="146" y="189"/>
                    <a:pt x="63" y="129"/>
                    <a:pt x="0" y="5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116" y="68"/>
                    <a:pt x="187" y="119"/>
                    <a:pt x="267" y="149"/>
                  </a:cubicBezTo>
                  <a:lnTo>
                    <a:pt x="240" y="224"/>
                  </a:lnTo>
                  <a:close/>
                </a:path>
              </a:pathLst>
            </a:custGeom>
            <a:solidFill>
              <a:srgbClr val="ECB4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2" name="Freeform 7">
              <a:extLst>
                <a:ext uri="{FF2B5EF4-FFF2-40B4-BE49-F238E27FC236}">
                  <a16:creationId xmlns:a16="http://schemas.microsoft.com/office/drawing/2014/main" id="{535AE390-08F7-41C3-8C91-D7F9961C5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088" y="3608388"/>
              <a:ext cx="1131888" cy="371475"/>
            </a:xfrm>
            <a:custGeom>
              <a:avLst/>
              <a:gdLst>
                <a:gd name="T0" fmla="*/ 148 w 296"/>
                <a:gd name="T1" fmla="*/ 97 h 97"/>
                <a:gd name="T2" fmla="*/ 0 w 296"/>
                <a:gd name="T3" fmla="*/ 77 h 97"/>
                <a:gd name="T4" fmla="*/ 21 w 296"/>
                <a:gd name="T5" fmla="*/ 0 h 97"/>
                <a:gd name="T6" fmla="*/ 148 w 296"/>
                <a:gd name="T7" fmla="*/ 17 h 97"/>
                <a:gd name="T8" fmla="*/ 274 w 296"/>
                <a:gd name="T9" fmla="*/ 0 h 97"/>
                <a:gd name="T10" fmla="*/ 296 w 296"/>
                <a:gd name="T11" fmla="*/ 77 h 97"/>
                <a:gd name="T12" fmla="*/ 148 w 296"/>
                <a:gd name="T13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97">
                  <a:moveTo>
                    <a:pt x="148" y="97"/>
                  </a:moveTo>
                  <a:cubicBezTo>
                    <a:pt x="98" y="97"/>
                    <a:pt x="48" y="90"/>
                    <a:pt x="0" y="7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62" y="11"/>
                    <a:pt x="105" y="17"/>
                    <a:pt x="148" y="17"/>
                  </a:cubicBezTo>
                  <a:cubicBezTo>
                    <a:pt x="191" y="17"/>
                    <a:pt x="233" y="11"/>
                    <a:pt x="274" y="0"/>
                  </a:cubicBezTo>
                  <a:cubicBezTo>
                    <a:pt x="296" y="77"/>
                    <a:pt x="296" y="77"/>
                    <a:pt x="296" y="77"/>
                  </a:cubicBezTo>
                  <a:cubicBezTo>
                    <a:pt x="248" y="90"/>
                    <a:pt x="198" y="97"/>
                    <a:pt x="148" y="97"/>
                  </a:cubicBezTo>
                  <a:close/>
                </a:path>
              </a:pathLst>
            </a:custGeom>
            <a:solidFill>
              <a:srgbClr val="5FB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A42B10A3-8BA2-420F-92DD-5915EF542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3963" y="1957388"/>
              <a:ext cx="603250" cy="1092200"/>
            </a:xfrm>
            <a:custGeom>
              <a:avLst/>
              <a:gdLst>
                <a:gd name="T0" fmla="*/ 66 w 158"/>
                <a:gd name="T1" fmla="*/ 285 h 285"/>
                <a:gd name="T2" fmla="*/ 0 w 158"/>
                <a:gd name="T3" fmla="*/ 241 h 285"/>
                <a:gd name="T4" fmla="*/ 78 w 158"/>
                <a:gd name="T5" fmla="*/ 0 h 285"/>
                <a:gd name="T6" fmla="*/ 158 w 158"/>
                <a:gd name="T7" fmla="*/ 3 h 285"/>
                <a:gd name="T8" fmla="*/ 66 w 158"/>
                <a:gd name="T9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285">
                  <a:moveTo>
                    <a:pt x="66" y="285"/>
                  </a:moveTo>
                  <a:cubicBezTo>
                    <a:pt x="0" y="241"/>
                    <a:pt x="0" y="241"/>
                    <a:pt x="0" y="241"/>
                  </a:cubicBezTo>
                  <a:cubicBezTo>
                    <a:pt x="47" y="169"/>
                    <a:pt x="74" y="86"/>
                    <a:pt x="78" y="0"/>
                  </a:cubicBezTo>
                  <a:cubicBezTo>
                    <a:pt x="158" y="3"/>
                    <a:pt x="158" y="3"/>
                    <a:pt x="158" y="3"/>
                  </a:cubicBezTo>
                  <a:cubicBezTo>
                    <a:pt x="154" y="104"/>
                    <a:pt x="122" y="201"/>
                    <a:pt x="66" y="285"/>
                  </a:cubicBezTo>
                  <a:close/>
                </a:path>
              </a:pathLst>
            </a:custGeom>
            <a:solidFill>
              <a:srgbClr val="A2A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B05A425-E6CA-4F76-8254-DA0A8C57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7188" y="2992438"/>
              <a:ext cx="1023938" cy="857250"/>
            </a:xfrm>
            <a:custGeom>
              <a:avLst/>
              <a:gdLst>
                <a:gd name="T0" fmla="*/ 28 w 268"/>
                <a:gd name="T1" fmla="*/ 224 h 224"/>
                <a:gd name="T2" fmla="*/ 0 w 268"/>
                <a:gd name="T3" fmla="*/ 149 h 224"/>
                <a:gd name="T4" fmla="*/ 205 w 268"/>
                <a:gd name="T5" fmla="*/ 0 h 224"/>
                <a:gd name="T6" fmla="*/ 268 w 268"/>
                <a:gd name="T7" fmla="*/ 50 h 224"/>
                <a:gd name="T8" fmla="*/ 28 w 268"/>
                <a:gd name="T9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24">
                  <a:moveTo>
                    <a:pt x="28" y="224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81" y="119"/>
                    <a:pt x="152" y="68"/>
                    <a:pt x="205" y="0"/>
                  </a:cubicBezTo>
                  <a:cubicBezTo>
                    <a:pt x="268" y="50"/>
                    <a:pt x="268" y="50"/>
                    <a:pt x="268" y="50"/>
                  </a:cubicBezTo>
                  <a:cubicBezTo>
                    <a:pt x="205" y="129"/>
                    <a:pt x="122" y="189"/>
                    <a:pt x="28" y="224"/>
                  </a:cubicBezTo>
                  <a:close/>
                </a:path>
              </a:pathLst>
            </a:custGeom>
            <a:solidFill>
              <a:srgbClr val="3081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5" name="Line 34">
            <a:extLst>
              <a:ext uri="{FF2B5EF4-FFF2-40B4-BE49-F238E27FC236}">
                <a16:creationId xmlns:a16="http://schemas.microsoft.com/office/drawing/2014/main" id="{0BBF939E-64C5-4362-9884-C4DE58F695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9507" y="3455178"/>
            <a:ext cx="736612" cy="569325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E35A35">
                    <a:lumMod val="5000"/>
                    <a:lumOff val="95000"/>
                    <a:alpha val="0"/>
                  </a:srgbClr>
                </a:gs>
                <a:gs pos="40000">
                  <a:srgbClr val="5FB7A2"/>
                </a:gs>
              </a:gsLst>
              <a:lin ang="10800000" scaled="1"/>
              <a:tileRect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00BEA23-8AD6-4477-8DFD-91B9A1B8A081}"/>
              </a:ext>
            </a:extLst>
          </p:cNvPr>
          <p:cNvGrpSpPr/>
          <p:nvPr/>
        </p:nvGrpSpPr>
        <p:grpSpPr>
          <a:xfrm>
            <a:off x="9795696" y="3406428"/>
            <a:ext cx="609600" cy="609600"/>
            <a:chOff x="9661236" y="4443381"/>
            <a:chExt cx="609600" cy="6096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C1942D9-B95F-4E71-849D-644336B5097F}"/>
                </a:ext>
              </a:extLst>
            </p:cNvPr>
            <p:cNvSpPr/>
            <p:nvPr/>
          </p:nvSpPr>
          <p:spPr>
            <a:xfrm>
              <a:off x="9661236" y="4443381"/>
              <a:ext cx="609600" cy="609600"/>
            </a:xfrm>
            <a:prstGeom prst="ellipse">
              <a:avLst/>
            </a:prstGeom>
            <a:solidFill>
              <a:srgbClr val="3081A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52D4FFF-F374-44DB-8D0F-EA05DF82B813}"/>
                </a:ext>
              </a:extLst>
            </p:cNvPr>
            <p:cNvGrpSpPr/>
            <p:nvPr/>
          </p:nvGrpSpPr>
          <p:grpSpPr>
            <a:xfrm>
              <a:off x="9828829" y="4611058"/>
              <a:ext cx="274414" cy="274246"/>
              <a:chOff x="7245351" y="146050"/>
              <a:chExt cx="5207000" cy="5203825"/>
            </a:xfrm>
            <a:solidFill>
              <a:sysClr val="window" lastClr="FFFFFF"/>
            </a:solidFill>
          </p:grpSpPr>
          <p:sp>
            <p:nvSpPr>
              <p:cNvPr id="80" name="Freeform 200">
                <a:extLst>
                  <a:ext uri="{FF2B5EF4-FFF2-40B4-BE49-F238E27FC236}">
                    <a16:creationId xmlns:a16="http://schemas.microsoft.com/office/drawing/2014/main" id="{9F77AD66-FF4F-416E-8A59-A205303F57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64751" y="2965450"/>
                <a:ext cx="2387600" cy="2384425"/>
              </a:xfrm>
              <a:custGeom>
                <a:avLst/>
                <a:gdLst>
                  <a:gd name="T0" fmla="*/ 2324 w 3008"/>
                  <a:gd name="T1" fmla="*/ 329 h 3004"/>
                  <a:gd name="T2" fmla="*/ 274 w 3008"/>
                  <a:gd name="T3" fmla="*/ 2378 h 3004"/>
                  <a:gd name="T4" fmla="*/ 274 w 3008"/>
                  <a:gd name="T5" fmla="*/ 2731 h 3004"/>
                  <a:gd name="T6" fmla="*/ 629 w 3008"/>
                  <a:gd name="T7" fmla="*/ 2731 h 3004"/>
                  <a:gd name="T8" fmla="*/ 2677 w 3008"/>
                  <a:gd name="T9" fmla="*/ 682 h 3004"/>
                  <a:gd name="T10" fmla="*/ 2324 w 3008"/>
                  <a:gd name="T11" fmla="*/ 329 h 3004"/>
                  <a:gd name="T12" fmla="*/ 2324 w 3008"/>
                  <a:gd name="T13" fmla="*/ 0 h 3004"/>
                  <a:gd name="T14" fmla="*/ 2360 w 3008"/>
                  <a:gd name="T15" fmla="*/ 4 h 3004"/>
                  <a:gd name="T16" fmla="*/ 2392 w 3008"/>
                  <a:gd name="T17" fmla="*/ 16 h 3004"/>
                  <a:gd name="T18" fmla="*/ 2422 w 3008"/>
                  <a:gd name="T19" fmla="*/ 40 h 3004"/>
                  <a:gd name="T20" fmla="*/ 2968 w 3008"/>
                  <a:gd name="T21" fmla="*/ 586 h 3004"/>
                  <a:gd name="T22" fmla="*/ 2990 w 3008"/>
                  <a:gd name="T23" fmla="*/ 614 h 3004"/>
                  <a:gd name="T24" fmla="*/ 3002 w 3008"/>
                  <a:gd name="T25" fmla="*/ 648 h 3004"/>
                  <a:gd name="T26" fmla="*/ 3008 w 3008"/>
                  <a:gd name="T27" fmla="*/ 682 h 3004"/>
                  <a:gd name="T28" fmla="*/ 3002 w 3008"/>
                  <a:gd name="T29" fmla="*/ 718 h 3004"/>
                  <a:gd name="T30" fmla="*/ 2990 w 3008"/>
                  <a:gd name="T31" fmla="*/ 750 h 3004"/>
                  <a:gd name="T32" fmla="*/ 2968 w 3008"/>
                  <a:gd name="T33" fmla="*/ 779 h 3004"/>
                  <a:gd name="T34" fmla="*/ 780 w 3008"/>
                  <a:gd name="T35" fmla="*/ 2964 h 3004"/>
                  <a:gd name="T36" fmla="*/ 752 w 3008"/>
                  <a:gd name="T37" fmla="*/ 2986 h 3004"/>
                  <a:gd name="T38" fmla="*/ 720 w 3008"/>
                  <a:gd name="T39" fmla="*/ 3000 h 3004"/>
                  <a:gd name="T40" fmla="*/ 684 w 3008"/>
                  <a:gd name="T41" fmla="*/ 3004 h 3004"/>
                  <a:gd name="T42" fmla="*/ 138 w 3008"/>
                  <a:gd name="T43" fmla="*/ 3004 h 3004"/>
                  <a:gd name="T44" fmla="*/ 102 w 3008"/>
                  <a:gd name="T45" fmla="*/ 3000 h 3004"/>
                  <a:gd name="T46" fmla="*/ 68 w 3008"/>
                  <a:gd name="T47" fmla="*/ 2986 h 3004"/>
                  <a:gd name="T48" fmla="*/ 42 w 3008"/>
                  <a:gd name="T49" fmla="*/ 2964 h 3004"/>
                  <a:gd name="T50" fmla="*/ 20 w 3008"/>
                  <a:gd name="T51" fmla="*/ 2936 h 3004"/>
                  <a:gd name="T52" fmla="*/ 6 w 3008"/>
                  <a:gd name="T53" fmla="*/ 2904 h 3004"/>
                  <a:gd name="T54" fmla="*/ 0 w 3008"/>
                  <a:gd name="T55" fmla="*/ 2867 h 3004"/>
                  <a:gd name="T56" fmla="*/ 0 w 3008"/>
                  <a:gd name="T57" fmla="*/ 2320 h 3004"/>
                  <a:gd name="T58" fmla="*/ 6 w 3008"/>
                  <a:gd name="T59" fmla="*/ 2286 h 3004"/>
                  <a:gd name="T60" fmla="*/ 20 w 3008"/>
                  <a:gd name="T61" fmla="*/ 2253 h 3004"/>
                  <a:gd name="T62" fmla="*/ 40 w 3008"/>
                  <a:gd name="T63" fmla="*/ 2225 h 3004"/>
                  <a:gd name="T64" fmla="*/ 2228 w 3008"/>
                  <a:gd name="T65" fmla="*/ 40 h 3004"/>
                  <a:gd name="T66" fmla="*/ 2256 w 3008"/>
                  <a:gd name="T67" fmla="*/ 16 h 3004"/>
                  <a:gd name="T68" fmla="*/ 2290 w 3008"/>
                  <a:gd name="T69" fmla="*/ 4 h 3004"/>
                  <a:gd name="T70" fmla="*/ 2324 w 3008"/>
                  <a:gd name="T71" fmla="*/ 0 h 3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08" h="3004">
                    <a:moveTo>
                      <a:pt x="2324" y="329"/>
                    </a:moveTo>
                    <a:lnTo>
                      <a:pt x="274" y="2378"/>
                    </a:lnTo>
                    <a:lnTo>
                      <a:pt x="274" y="2731"/>
                    </a:lnTo>
                    <a:lnTo>
                      <a:pt x="629" y="2731"/>
                    </a:lnTo>
                    <a:lnTo>
                      <a:pt x="2677" y="682"/>
                    </a:lnTo>
                    <a:lnTo>
                      <a:pt x="2324" y="329"/>
                    </a:lnTo>
                    <a:close/>
                    <a:moveTo>
                      <a:pt x="2324" y="0"/>
                    </a:moveTo>
                    <a:lnTo>
                      <a:pt x="2360" y="4"/>
                    </a:lnTo>
                    <a:lnTo>
                      <a:pt x="2392" y="16"/>
                    </a:lnTo>
                    <a:lnTo>
                      <a:pt x="2422" y="40"/>
                    </a:lnTo>
                    <a:lnTo>
                      <a:pt x="2968" y="586"/>
                    </a:lnTo>
                    <a:lnTo>
                      <a:pt x="2990" y="614"/>
                    </a:lnTo>
                    <a:lnTo>
                      <a:pt x="3002" y="648"/>
                    </a:lnTo>
                    <a:lnTo>
                      <a:pt x="3008" y="682"/>
                    </a:lnTo>
                    <a:lnTo>
                      <a:pt x="3002" y="718"/>
                    </a:lnTo>
                    <a:lnTo>
                      <a:pt x="2990" y="750"/>
                    </a:lnTo>
                    <a:lnTo>
                      <a:pt x="2968" y="779"/>
                    </a:lnTo>
                    <a:lnTo>
                      <a:pt x="780" y="2964"/>
                    </a:lnTo>
                    <a:lnTo>
                      <a:pt x="752" y="2986"/>
                    </a:lnTo>
                    <a:lnTo>
                      <a:pt x="720" y="3000"/>
                    </a:lnTo>
                    <a:lnTo>
                      <a:pt x="684" y="3004"/>
                    </a:lnTo>
                    <a:lnTo>
                      <a:pt x="138" y="3004"/>
                    </a:lnTo>
                    <a:lnTo>
                      <a:pt x="102" y="3000"/>
                    </a:lnTo>
                    <a:lnTo>
                      <a:pt x="68" y="2986"/>
                    </a:lnTo>
                    <a:lnTo>
                      <a:pt x="42" y="2964"/>
                    </a:lnTo>
                    <a:lnTo>
                      <a:pt x="20" y="2936"/>
                    </a:lnTo>
                    <a:lnTo>
                      <a:pt x="6" y="2904"/>
                    </a:lnTo>
                    <a:lnTo>
                      <a:pt x="0" y="2867"/>
                    </a:lnTo>
                    <a:lnTo>
                      <a:pt x="0" y="2320"/>
                    </a:lnTo>
                    <a:lnTo>
                      <a:pt x="6" y="2286"/>
                    </a:lnTo>
                    <a:lnTo>
                      <a:pt x="20" y="2253"/>
                    </a:lnTo>
                    <a:lnTo>
                      <a:pt x="40" y="2225"/>
                    </a:lnTo>
                    <a:lnTo>
                      <a:pt x="2228" y="40"/>
                    </a:lnTo>
                    <a:lnTo>
                      <a:pt x="2256" y="16"/>
                    </a:lnTo>
                    <a:lnTo>
                      <a:pt x="2290" y="4"/>
                    </a:lnTo>
                    <a:lnTo>
                      <a:pt x="23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1" name="Freeform 201">
                <a:extLst>
                  <a:ext uri="{FF2B5EF4-FFF2-40B4-BE49-F238E27FC236}">
                    <a16:creationId xmlns:a16="http://schemas.microsoft.com/office/drawing/2014/main" id="{C8657672-B5EC-4E95-A5A1-2B01936CF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68088" y="3398838"/>
                <a:ext cx="650875" cy="650875"/>
              </a:xfrm>
              <a:custGeom>
                <a:avLst/>
                <a:gdLst>
                  <a:gd name="T0" fmla="*/ 135 w 820"/>
                  <a:gd name="T1" fmla="*/ 0 h 820"/>
                  <a:gd name="T2" fmla="*/ 169 w 820"/>
                  <a:gd name="T3" fmla="*/ 4 h 820"/>
                  <a:gd name="T4" fmla="*/ 203 w 820"/>
                  <a:gd name="T5" fmla="*/ 18 h 820"/>
                  <a:gd name="T6" fmla="*/ 231 w 820"/>
                  <a:gd name="T7" fmla="*/ 40 h 820"/>
                  <a:gd name="T8" fmla="*/ 780 w 820"/>
                  <a:gd name="T9" fmla="*/ 586 h 820"/>
                  <a:gd name="T10" fmla="*/ 802 w 820"/>
                  <a:gd name="T11" fmla="*/ 614 h 820"/>
                  <a:gd name="T12" fmla="*/ 814 w 820"/>
                  <a:gd name="T13" fmla="*/ 648 h 820"/>
                  <a:gd name="T14" fmla="*/ 820 w 820"/>
                  <a:gd name="T15" fmla="*/ 682 h 820"/>
                  <a:gd name="T16" fmla="*/ 814 w 820"/>
                  <a:gd name="T17" fmla="*/ 718 h 820"/>
                  <a:gd name="T18" fmla="*/ 802 w 820"/>
                  <a:gd name="T19" fmla="*/ 750 h 820"/>
                  <a:gd name="T20" fmla="*/ 780 w 820"/>
                  <a:gd name="T21" fmla="*/ 780 h 820"/>
                  <a:gd name="T22" fmla="*/ 750 w 820"/>
                  <a:gd name="T23" fmla="*/ 802 h 820"/>
                  <a:gd name="T24" fmla="*/ 718 w 820"/>
                  <a:gd name="T25" fmla="*/ 816 h 820"/>
                  <a:gd name="T26" fmla="*/ 682 w 820"/>
                  <a:gd name="T27" fmla="*/ 820 h 820"/>
                  <a:gd name="T28" fmla="*/ 648 w 820"/>
                  <a:gd name="T29" fmla="*/ 816 h 820"/>
                  <a:gd name="T30" fmla="*/ 614 w 820"/>
                  <a:gd name="T31" fmla="*/ 802 h 820"/>
                  <a:gd name="T32" fmla="*/ 586 w 820"/>
                  <a:gd name="T33" fmla="*/ 780 h 820"/>
                  <a:gd name="T34" fmla="*/ 40 w 820"/>
                  <a:gd name="T35" fmla="*/ 233 h 820"/>
                  <a:gd name="T36" fmla="*/ 16 w 820"/>
                  <a:gd name="T37" fmla="*/ 204 h 820"/>
                  <a:gd name="T38" fmla="*/ 4 w 820"/>
                  <a:gd name="T39" fmla="*/ 172 h 820"/>
                  <a:gd name="T40" fmla="*/ 0 w 820"/>
                  <a:gd name="T41" fmla="*/ 136 h 820"/>
                  <a:gd name="T42" fmla="*/ 4 w 820"/>
                  <a:gd name="T43" fmla="*/ 102 h 820"/>
                  <a:gd name="T44" fmla="*/ 16 w 820"/>
                  <a:gd name="T45" fmla="*/ 68 h 820"/>
                  <a:gd name="T46" fmla="*/ 40 w 820"/>
                  <a:gd name="T47" fmla="*/ 40 h 820"/>
                  <a:gd name="T48" fmla="*/ 68 w 820"/>
                  <a:gd name="T49" fmla="*/ 18 h 820"/>
                  <a:gd name="T50" fmla="*/ 101 w 820"/>
                  <a:gd name="T51" fmla="*/ 4 h 820"/>
                  <a:gd name="T52" fmla="*/ 135 w 820"/>
                  <a:gd name="T53" fmla="*/ 0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0" h="820">
                    <a:moveTo>
                      <a:pt x="135" y="0"/>
                    </a:moveTo>
                    <a:lnTo>
                      <a:pt x="169" y="4"/>
                    </a:lnTo>
                    <a:lnTo>
                      <a:pt x="203" y="18"/>
                    </a:lnTo>
                    <a:lnTo>
                      <a:pt x="231" y="40"/>
                    </a:lnTo>
                    <a:lnTo>
                      <a:pt x="780" y="586"/>
                    </a:lnTo>
                    <a:lnTo>
                      <a:pt x="802" y="614"/>
                    </a:lnTo>
                    <a:lnTo>
                      <a:pt x="814" y="648"/>
                    </a:lnTo>
                    <a:lnTo>
                      <a:pt x="820" y="682"/>
                    </a:lnTo>
                    <a:lnTo>
                      <a:pt x="814" y="718"/>
                    </a:lnTo>
                    <a:lnTo>
                      <a:pt x="802" y="750"/>
                    </a:lnTo>
                    <a:lnTo>
                      <a:pt x="780" y="780"/>
                    </a:lnTo>
                    <a:lnTo>
                      <a:pt x="750" y="802"/>
                    </a:lnTo>
                    <a:lnTo>
                      <a:pt x="718" y="816"/>
                    </a:lnTo>
                    <a:lnTo>
                      <a:pt x="682" y="820"/>
                    </a:lnTo>
                    <a:lnTo>
                      <a:pt x="648" y="816"/>
                    </a:lnTo>
                    <a:lnTo>
                      <a:pt x="614" y="802"/>
                    </a:lnTo>
                    <a:lnTo>
                      <a:pt x="586" y="780"/>
                    </a:lnTo>
                    <a:lnTo>
                      <a:pt x="40" y="233"/>
                    </a:lnTo>
                    <a:lnTo>
                      <a:pt x="16" y="204"/>
                    </a:lnTo>
                    <a:lnTo>
                      <a:pt x="4" y="172"/>
                    </a:lnTo>
                    <a:lnTo>
                      <a:pt x="0" y="136"/>
                    </a:lnTo>
                    <a:lnTo>
                      <a:pt x="4" y="102"/>
                    </a:lnTo>
                    <a:lnTo>
                      <a:pt x="16" y="68"/>
                    </a:lnTo>
                    <a:lnTo>
                      <a:pt x="40" y="40"/>
                    </a:lnTo>
                    <a:lnTo>
                      <a:pt x="68" y="18"/>
                    </a:lnTo>
                    <a:lnTo>
                      <a:pt x="101" y="4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2" name="Freeform 202">
                <a:extLst>
                  <a:ext uri="{FF2B5EF4-FFF2-40B4-BE49-F238E27FC236}">
                    <a16:creationId xmlns:a16="http://schemas.microsoft.com/office/drawing/2014/main" id="{E605ABDB-8A58-46D6-8225-4C7DD8A1B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5351" y="146050"/>
                <a:ext cx="3905250" cy="4770438"/>
              </a:xfrm>
              <a:custGeom>
                <a:avLst/>
                <a:gdLst>
                  <a:gd name="T0" fmla="*/ 1777 w 4921"/>
                  <a:gd name="T1" fmla="*/ 0 h 6010"/>
                  <a:gd name="T2" fmla="*/ 4783 w 4921"/>
                  <a:gd name="T3" fmla="*/ 0 h 6010"/>
                  <a:gd name="T4" fmla="*/ 4819 w 4921"/>
                  <a:gd name="T5" fmla="*/ 6 h 6010"/>
                  <a:gd name="T6" fmla="*/ 4853 w 4921"/>
                  <a:gd name="T7" fmla="*/ 20 h 6010"/>
                  <a:gd name="T8" fmla="*/ 4879 w 4921"/>
                  <a:gd name="T9" fmla="*/ 40 h 6010"/>
                  <a:gd name="T10" fmla="*/ 4901 w 4921"/>
                  <a:gd name="T11" fmla="*/ 68 h 6010"/>
                  <a:gd name="T12" fmla="*/ 4915 w 4921"/>
                  <a:gd name="T13" fmla="*/ 102 h 6010"/>
                  <a:gd name="T14" fmla="*/ 4921 w 4921"/>
                  <a:gd name="T15" fmla="*/ 138 h 6010"/>
                  <a:gd name="T16" fmla="*/ 4921 w 4921"/>
                  <a:gd name="T17" fmla="*/ 3961 h 6010"/>
                  <a:gd name="T18" fmla="*/ 4915 w 4921"/>
                  <a:gd name="T19" fmla="*/ 3997 h 6010"/>
                  <a:gd name="T20" fmla="*/ 4901 w 4921"/>
                  <a:gd name="T21" fmla="*/ 4031 h 6010"/>
                  <a:gd name="T22" fmla="*/ 4881 w 4921"/>
                  <a:gd name="T23" fmla="*/ 4058 h 6010"/>
                  <a:gd name="T24" fmla="*/ 4853 w 4921"/>
                  <a:gd name="T25" fmla="*/ 4078 h 6010"/>
                  <a:gd name="T26" fmla="*/ 4819 w 4921"/>
                  <a:gd name="T27" fmla="*/ 4092 h 6010"/>
                  <a:gd name="T28" fmla="*/ 4783 w 4921"/>
                  <a:gd name="T29" fmla="*/ 4098 h 6010"/>
                  <a:gd name="T30" fmla="*/ 4747 w 4921"/>
                  <a:gd name="T31" fmla="*/ 4092 h 6010"/>
                  <a:gd name="T32" fmla="*/ 4715 w 4921"/>
                  <a:gd name="T33" fmla="*/ 4078 h 6010"/>
                  <a:gd name="T34" fmla="*/ 4687 w 4921"/>
                  <a:gd name="T35" fmla="*/ 4058 h 6010"/>
                  <a:gd name="T36" fmla="*/ 4665 w 4921"/>
                  <a:gd name="T37" fmla="*/ 4031 h 6010"/>
                  <a:gd name="T38" fmla="*/ 4651 w 4921"/>
                  <a:gd name="T39" fmla="*/ 3997 h 6010"/>
                  <a:gd name="T40" fmla="*/ 4647 w 4921"/>
                  <a:gd name="T41" fmla="*/ 3961 h 6010"/>
                  <a:gd name="T42" fmla="*/ 4647 w 4921"/>
                  <a:gd name="T43" fmla="*/ 273 h 6010"/>
                  <a:gd name="T44" fmla="*/ 1833 w 4921"/>
                  <a:gd name="T45" fmla="*/ 273 h 6010"/>
                  <a:gd name="T46" fmla="*/ 273 w 4921"/>
                  <a:gd name="T47" fmla="*/ 1832 h 6010"/>
                  <a:gd name="T48" fmla="*/ 273 w 4921"/>
                  <a:gd name="T49" fmla="*/ 5737 h 6010"/>
                  <a:gd name="T50" fmla="*/ 3006 w 4921"/>
                  <a:gd name="T51" fmla="*/ 5737 h 6010"/>
                  <a:gd name="T52" fmla="*/ 3044 w 4921"/>
                  <a:gd name="T53" fmla="*/ 5741 h 6010"/>
                  <a:gd name="T54" fmla="*/ 3076 w 4921"/>
                  <a:gd name="T55" fmla="*/ 5755 h 6010"/>
                  <a:gd name="T56" fmla="*/ 3103 w 4921"/>
                  <a:gd name="T57" fmla="*/ 5777 h 6010"/>
                  <a:gd name="T58" fmla="*/ 3125 w 4921"/>
                  <a:gd name="T59" fmla="*/ 5805 h 6010"/>
                  <a:gd name="T60" fmla="*/ 3137 w 4921"/>
                  <a:gd name="T61" fmla="*/ 5836 h 6010"/>
                  <a:gd name="T62" fmla="*/ 3143 w 4921"/>
                  <a:gd name="T63" fmla="*/ 5872 h 6010"/>
                  <a:gd name="T64" fmla="*/ 3137 w 4921"/>
                  <a:gd name="T65" fmla="*/ 5910 h 6010"/>
                  <a:gd name="T66" fmla="*/ 3125 w 4921"/>
                  <a:gd name="T67" fmla="*/ 5942 h 6010"/>
                  <a:gd name="T68" fmla="*/ 3103 w 4921"/>
                  <a:gd name="T69" fmla="*/ 5970 h 6010"/>
                  <a:gd name="T70" fmla="*/ 3076 w 4921"/>
                  <a:gd name="T71" fmla="*/ 5992 h 6010"/>
                  <a:gd name="T72" fmla="*/ 3044 w 4921"/>
                  <a:gd name="T73" fmla="*/ 6004 h 6010"/>
                  <a:gd name="T74" fmla="*/ 3006 w 4921"/>
                  <a:gd name="T75" fmla="*/ 6010 h 6010"/>
                  <a:gd name="T76" fmla="*/ 138 w 4921"/>
                  <a:gd name="T77" fmla="*/ 6010 h 6010"/>
                  <a:gd name="T78" fmla="*/ 100 w 4921"/>
                  <a:gd name="T79" fmla="*/ 6004 h 6010"/>
                  <a:gd name="T80" fmla="*/ 68 w 4921"/>
                  <a:gd name="T81" fmla="*/ 5992 h 6010"/>
                  <a:gd name="T82" fmla="*/ 40 w 4921"/>
                  <a:gd name="T83" fmla="*/ 5970 h 6010"/>
                  <a:gd name="T84" fmla="*/ 18 w 4921"/>
                  <a:gd name="T85" fmla="*/ 5942 h 6010"/>
                  <a:gd name="T86" fmla="*/ 4 w 4921"/>
                  <a:gd name="T87" fmla="*/ 5910 h 6010"/>
                  <a:gd name="T88" fmla="*/ 0 w 4921"/>
                  <a:gd name="T89" fmla="*/ 5872 h 6010"/>
                  <a:gd name="T90" fmla="*/ 0 w 4921"/>
                  <a:gd name="T91" fmla="*/ 1776 h 6010"/>
                  <a:gd name="T92" fmla="*/ 4 w 4921"/>
                  <a:gd name="T93" fmla="*/ 1740 h 6010"/>
                  <a:gd name="T94" fmla="*/ 18 w 4921"/>
                  <a:gd name="T95" fmla="*/ 1708 h 6010"/>
                  <a:gd name="T96" fmla="*/ 40 w 4921"/>
                  <a:gd name="T97" fmla="*/ 1678 h 6010"/>
                  <a:gd name="T98" fmla="*/ 1679 w 4921"/>
                  <a:gd name="T99" fmla="*/ 40 h 6010"/>
                  <a:gd name="T100" fmla="*/ 1707 w 4921"/>
                  <a:gd name="T101" fmla="*/ 18 h 6010"/>
                  <a:gd name="T102" fmla="*/ 1741 w 4921"/>
                  <a:gd name="T103" fmla="*/ 6 h 6010"/>
                  <a:gd name="T104" fmla="*/ 1777 w 4921"/>
                  <a:gd name="T105" fmla="*/ 0 h 6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921" h="6010">
                    <a:moveTo>
                      <a:pt x="1777" y="0"/>
                    </a:moveTo>
                    <a:lnTo>
                      <a:pt x="4783" y="0"/>
                    </a:lnTo>
                    <a:lnTo>
                      <a:pt x="4819" y="6"/>
                    </a:lnTo>
                    <a:lnTo>
                      <a:pt x="4853" y="20"/>
                    </a:lnTo>
                    <a:lnTo>
                      <a:pt x="4879" y="40"/>
                    </a:lnTo>
                    <a:lnTo>
                      <a:pt x="4901" y="68"/>
                    </a:lnTo>
                    <a:lnTo>
                      <a:pt x="4915" y="102"/>
                    </a:lnTo>
                    <a:lnTo>
                      <a:pt x="4921" y="138"/>
                    </a:lnTo>
                    <a:lnTo>
                      <a:pt x="4921" y="3961"/>
                    </a:lnTo>
                    <a:lnTo>
                      <a:pt x="4915" y="3997"/>
                    </a:lnTo>
                    <a:lnTo>
                      <a:pt x="4901" y="4031"/>
                    </a:lnTo>
                    <a:lnTo>
                      <a:pt x="4881" y="4058"/>
                    </a:lnTo>
                    <a:lnTo>
                      <a:pt x="4853" y="4078"/>
                    </a:lnTo>
                    <a:lnTo>
                      <a:pt x="4819" y="4092"/>
                    </a:lnTo>
                    <a:lnTo>
                      <a:pt x="4783" y="4098"/>
                    </a:lnTo>
                    <a:lnTo>
                      <a:pt x="4747" y="4092"/>
                    </a:lnTo>
                    <a:lnTo>
                      <a:pt x="4715" y="4078"/>
                    </a:lnTo>
                    <a:lnTo>
                      <a:pt x="4687" y="4058"/>
                    </a:lnTo>
                    <a:lnTo>
                      <a:pt x="4665" y="4031"/>
                    </a:lnTo>
                    <a:lnTo>
                      <a:pt x="4651" y="3997"/>
                    </a:lnTo>
                    <a:lnTo>
                      <a:pt x="4647" y="3961"/>
                    </a:lnTo>
                    <a:lnTo>
                      <a:pt x="4647" y="273"/>
                    </a:lnTo>
                    <a:lnTo>
                      <a:pt x="1833" y="273"/>
                    </a:lnTo>
                    <a:lnTo>
                      <a:pt x="273" y="1832"/>
                    </a:lnTo>
                    <a:lnTo>
                      <a:pt x="273" y="5737"/>
                    </a:lnTo>
                    <a:lnTo>
                      <a:pt x="3006" y="5737"/>
                    </a:lnTo>
                    <a:lnTo>
                      <a:pt x="3044" y="5741"/>
                    </a:lnTo>
                    <a:lnTo>
                      <a:pt x="3076" y="5755"/>
                    </a:lnTo>
                    <a:lnTo>
                      <a:pt x="3103" y="5777"/>
                    </a:lnTo>
                    <a:lnTo>
                      <a:pt x="3125" y="5805"/>
                    </a:lnTo>
                    <a:lnTo>
                      <a:pt x="3137" y="5836"/>
                    </a:lnTo>
                    <a:lnTo>
                      <a:pt x="3143" y="5872"/>
                    </a:lnTo>
                    <a:lnTo>
                      <a:pt x="3137" y="5910"/>
                    </a:lnTo>
                    <a:lnTo>
                      <a:pt x="3125" y="5942"/>
                    </a:lnTo>
                    <a:lnTo>
                      <a:pt x="3103" y="5970"/>
                    </a:lnTo>
                    <a:lnTo>
                      <a:pt x="3076" y="5992"/>
                    </a:lnTo>
                    <a:lnTo>
                      <a:pt x="3044" y="6004"/>
                    </a:lnTo>
                    <a:lnTo>
                      <a:pt x="3006" y="6010"/>
                    </a:lnTo>
                    <a:lnTo>
                      <a:pt x="138" y="6010"/>
                    </a:lnTo>
                    <a:lnTo>
                      <a:pt x="100" y="6004"/>
                    </a:lnTo>
                    <a:lnTo>
                      <a:pt x="68" y="5992"/>
                    </a:lnTo>
                    <a:lnTo>
                      <a:pt x="40" y="5970"/>
                    </a:lnTo>
                    <a:lnTo>
                      <a:pt x="18" y="5942"/>
                    </a:lnTo>
                    <a:lnTo>
                      <a:pt x="4" y="5910"/>
                    </a:lnTo>
                    <a:lnTo>
                      <a:pt x="0" y="5872"/>
                    </a:lnTo>
                    <a:lnTo>
                      <a:pt x="0" y="1776"/>
                    </a:lnTo>
                    <a:lnTo>
                      <a:pt x="4" y="1740"/>
                    </a:lnTo>
                    <a:lnTo>
                      <a:pt x="18" y="1708"/>
                    </a:lnTo>
                    <a:lnTo>
                      <a:pt x="40" y="1678"/>
                    </a:lnTo>
                    <a:lnTo>
                      <a:pt x="1679" y="40"/>
                    </a:lnTo>
                    <a:lnTo>
                      <a:pt x="1707" y="18"/>
                    </a:lnTo>
                    <a:lnTo>
                      <a:pt x="1741" y="6"/>
                    </a:lnTo>
                    <a:lnTo>
                      <a:pt x="17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3" name="Freeform 203">
                <a:extLst>
                  <a:ext uri="{FF2B5EF4-FFF2-40B4-BE49-F238E27FC236}">
                    <a16:creationId xmlns:a16="http://schemas.microsoft.com/office/drawing/2014/main" id="{19DC57A3-AFC9-48CD-BE25-EDF2ADD42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5351" y="146050"/>
                <a:ext cx="1517650" cy="1517650"/>
              </a:xfrm>
              <a:custGeom>
                <a:avLst/>
                <a:gdLst>
                  <a:gd name="T0" fmla="*/ 1777 w 1913"/>
                  <a:gd name="T1" fmla="*/ 0 h 1912"/>
                  <a:gd name="T2" fmla="*/ 1813 w 1913"/>
                  <a:gd name="T3" fmla="*/ 6 h 1912"/>
                  <a:gd name="T4" fmla="*/ 1845 w 1913"/>
                  <a:gd name="T5" fmla="*/ 20 h 1912"/>
                  <a:gd name="T6" fmla="*/ 1873 w 1913"/>
                  <a:gd name="T7" fmla="*/ 40 h 1912"/>
                  <a:gd name="T8" fmla="*/ 1895 w 1913"/>
                  <a:gd name="T9" fmla="*/ 68 h 1912"/>
                  <a:gd name="T10" fmla="*/ 1909 w 1913"/>
                  <a:gd name="T11" fmla="*/ 102 h 1912"/>
                  <a:gd name="T12" fmla="*/ 1913 w 1913"/>
                  <a:gd name="T13" fmla="*/ 138 h 1912"/>
                  <a:gd name="T14" fmla="*/ 1913 w 1913"/>
                  <a:gd name="T15" fmla="*/ 1776 h 1912"/>
                  <a:gd name="T16" fmla="*/ 1909 w 1913"/>
                  <a:gd name="T17" fmla="*/ 1812 h 1912"/>
                  <a:gd name="T18" fmla="*/ 1895 w 1913"/>
                  <a:gd name="T19" fmla="*/ 1844 h 1912"/>
                  <a:gd name="T20" fmla="*/ 1873 w 1913"/>
                  <a:gd name="T21" fmla="*/ 1872 h 1912"/>
                  <a:gd name="T22" fmla="*/ 1845 w 1913"/>
                  <a:gd name="T23" fmla="*/ 1894 h 1912"/>
                  <a:gd name="T24" fmla="*/ 1813 w 1913"/>
                  <a:gd name="T25" fmla="*/ 1908 h 1912"/>
                  <a:gd name="T26" fmla="*/ 1777 w 1913"/>
                  <a:gd name="T27" fmla="*/ 1912 h 1912"/>
                  <a:gd name="T28" fmla="*/ 138 w 1913"/>
                  <a:gd name="T29" fmla="*/ 1912 h 1912"/>
                  <a:gd name="T30" fmla="*/ 100 w 1913"/>
                  <a:gd name="T31" fmla="*/ 1908 h 1912"/>
                  <a:gd name="T32" fmla="*/ 68 w 1913"/>
                  <a:gd name="T33" fmla="*/ 1894 h 1912"/>
                  <a:gd name="T34" fmla="*/ 40 w 1913"/>
                  <a:gd name="T35" fmla="*/ 1872 h 1912"/>
                  <a:gd name="T36" fmla="*/ 18 w 1913"/>
                  <a:gd name="T37" fmla="*/ 1844 h 1912"/>
                  <a:gd name="T38" fmla="*/ 4 w 1913"/>
                  <a:gd name="T39" fmla="*/ 1812 h 1912"/>
                  <a:gd name="T40" fmla="*/ 0 w 1913"/>
                  <a:gd name="T41" fmla="*/ 1776 h 1912"/>
                  <a:gd name="T42" fmla="*/ 4 w 1913"/>
                  <a:gd name="T43" fmla="*/ 1740 h 1912"/>
                  <a:gd name="T44" fmla="*/ 18 w 1913"/>
                  <a:gd name="T45" fmla="*/ 1706 h 1912"/>
                  <a:gd name="T46" fmla="*/ 40 w 1913"/>
                  <a:gd name="T47" fmla="*/ 1678 h 1912"/>
                  <a:gd name="T48" fmla="*/ 68 w 1913"/>
                  <a:gd name="T49" fmla="*/ 1658 h 1912"/>
                  <a:gd name="T50" fmla="*/ 100 w 1913"/>
                  <a:gd name="T51" fmla="*/ 1644 h 1912"/>
                  <a:gd name="T52" fmla="*/ 138 w 1913"/>
                  <a:gd name="T53" fmla="*/ 1639 h 1912"/>
                  <a:gd name="T54" fmla="*/ 1640 w 1913"/>
                  <a:gd name="T55" fmla="*/ 1639 h 1912"/>
                  <a:gd name="T56" fmla="*/ 1640 w 1913"/>
                  <a:gd name="T57" fmla="*/ 138 h 1912"/>
                  <a:gd name="T58" fmla="*/ 1645 w 1913"/>
                  <a:gd name="T59" fmla="*/ 102 h 1912"/>
                  <a:gd name="T60" fmla="*/ 1659 w 1913"/>
                  <a:gd name="T61" fmla="*/ 68 h 1912"/>
                  <a:gd name="T62" fmla="*/ 1679 w 1913"/>
                  <a:gd name="T63" fmla="*/ 40 h 1912"/>
                  <a:gd name="T64" fmla="*/ 1707 w 1913"/>
                  <a:gd name="T65" fmla="*/ 20 h 1912"/>
                  <a:gd name="T66" fmla="*/ 1741 w 1913"/>
                  <a:gd name="T67" fmla="*/ 6 h 1912"/>
                  <a:gd name="T68" fmla="*/ 1777 w 1913"/>
                  <a:gd name="T69" fmla="*/ 0 h 1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913" h="1912">
                    <a:moveTo>
                      <a:pt x="1777" y="0"/>
                    </a:moveTo>
                    <a:lnTo>
                      <a:pt x="1813" y="6"/>
                    </a:lnTo>
                    <a:lnTo>
                      <a:pt x="1845" y="20"/>
                    </a:lnTo>
                    <a:lnTo>
                      <a:pt x="1873" y="40"/>
                    </a:lnTo>
                    <a:lnTo>
                      <a:pt x="1895" y="68"/>
                    </a:lnTo>
                    <a:lnTo>
                      <a:pt x="1909" y="102"/>
                    </a:lnTo>
                    <a:lnTo>
                      <a:pt x="1913" y="138"/>
                    </a:lnTo>
                    <a:lnTo>
                      <a:pt x="1913" y="1776"/>
                    </a:lnTo>
                    <a:lnTo>
                      <a:pt x="1909" y="1812"/>
                    </a:lnTo>
                    <a:lnTo>
                      <a:pt x="1895" y="1844"/>
                    </a:lnTo>
                    <a:lnTo>
                      <a:pt x="1873" y="1872"/>
                    </a:lnTo>
                    <a:lnTo>
                      <a:pt x="1845" y="1894"/>
                    </a:lnTo>
                    <a:lnTo>
                      <a:pt x="1813" y="1908"/>
                    </a:lnTo>
                    <a:lnTo>
                      <a:pt x="1777" y="1912"/>
                    </a:lnTo>
                    <a:lnTo>
                      <a:pt x="138" y="1912"/>
                    </a:lnTo>
                    <a:lnTo>
                      <a:pt x="100" y="1908"/>
                    </a:lnTo>
                    <a:lnTo>
                      <a:pt x="68" y="1894"/>
                    </a:lnTo>
                    <a:lnTo>
                      <a:pt x="40" y="1872"/>
                    </a:lnTo>
                    <a:lnTo>
                      <a:pt x="18" y="1844"/>
                    </a:lnTo>
                    <a:lnTo>
                      <a:pt x="4" y="1812"/>
                    </a:lnTo>
                    <a:lnTo>
                      <a:pt x="0" y="1776"/>
                    </a:lnTo>
                    <a:lnTo>
                      <a:pt x="4" y="1740"/>
                    </a:lnTo>
                    <a:lnTo>
                      <a:pt x="18" y="1706"/>
                    </a:lnTo>
                    <a:lnTo>
                      <a:pt x="40" y="1678"/>
                    </a:lnTo>
                    <a:lnTo>
                      <a:pt x="68" y="1658"/>
                    </a:lnTo>
                    <a:lnTo>
                      <a:pt x="100" y="1644"/>
                    </a:lnTo>
                    <a:lnTo>
                      <a:pt x="138" y="1639"/>
                    </a:lnTo>
                    <a:lnTo>
                      <a:pt x="1640" y="1639"/>
                    </a:lnTo>
                    <a:lnTo>
                      <a:pt x="1640" y="138"/>
                    </a:lnTo>
                    <a:lnTo>
                      <a:pt x="1645" y="102"/>
                    </a:lnTo>
                    <a:lnTo>
                      <a:pt x="1659" y="68"/>
                    </a:lnTo>
                    <a:lnTo>
                      <a:pt x="1679" y="40"/>
                    </a:lnTo>
                    <a:lnTo>
                      <a:pt x="1707" y="20"/>
                    </a:lnTo>
                    <a:lnTo>
                      <a:pt x="1741" y="6"/>
                    </a:lnTo>
                    <a:lnTo>
                      <a:pt x="17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4" name="Freeform 204">
                <a:extLst>
                  <a:ext uri="{FF2B5EF4-FFF2-40B4-BE49-F238E27FC236}">
                    <a16:creationId xmlns:a16="http://schemas.microsoft.com/office/drawing/2014/main" id="{05C0BDE1-90F9-4DE3-BCE7-5FD5964CC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876" y="1012825"/>
                <a:ext cx="1084263" cy="1301750"/>
              </a:xfrm>
              <a:custGeom>
                <a:avLst/>
                <a:gdLst>
                  <a:gd name="T0" fmla="*/ 859 w 1366"/>
                  <a:gd name="T1" fmla="*/ 16 h 1641"/>
                  <a:gd name="T2" fmla="*/ 1087 w 1366"/>
                  <a:gd name="T3" fmla="*/ 90 h 1641"/>
                  <a:gd name="T4" fmla="*/ 1258 w 1366"/>
                  <a:gd name="T5" fmla="*/ 216 h 1641"/>
                  <a:gd name="T6" fmla="*/ 1354 w 1366"/>
                  <a:gd name="T7" fmla="*/ 381 h 1641"/>
                  <a:gd name="T8" fmla="*/ 1354 w 1366"/>
                  <a:gd name="T9" fmla="*/ 515 h 1641"/>
                  <a:gd name="T10" fmla="*/ 1280 w 1366"/>
                  <a:gd name="T11" fmla="*/ 584 h 1641"/>
                  <a:gd name="T12" fmla="*/ 1172 w 1366"/>
                  <a:gd name="T13" fmla="*/ 580 h 1641"/>
                  <a:gd name="T14" fmla="*/ 1102 w 1366"/>
                  <a:gd name="T15" fmla="*/ 507 h 1641"/>
                  <a:gd name="T16" fmla="*/ 1065 w 1366"/>
                  <a:gd name="T17" fmla="*/ 409 h 1641"/>
                  <a:gd name="T18" fmla="*/ 947 w 1366"/>
                  <a:gd name="T19" fmla="*/ 325 h 1641"/>
                  <a:gd name="T20" fmla="*/ 757 w 1366"/>
                  <a:gd name="T21" fmla="*/ 277 h 1641"/>
                  <a:gd name="T22" fmla="*/ 538 w 1366"/>
                  <a:gd name="T23" fmla="*/ 289 h 1641"/>
                  <a:gd name="T24" fmla="*/ 369 w 1366"/>
                  <a:gd name="T25" fmla="*/ 355 h 1641"/>
                  <a:gd name="T26" fmla="*/ 281 w 1366"/>
                  <a:gd name="T27" fmla="*/ 447 h 1641"/>
                  <a:gd name="T28" fmla="*/ 281 w 1366"/>
                  <a:gd name="T29" fmla="*/ 517 h 1641"/>
                  <a:gd name="T30" fmla="*/ 335 w 1366"/>
                  <a:gd name="T31" fmla="*/ 574 h 1641"/>
                  <a:gd name="T32" fmla="*/ 458 w 1366"/>
                  <a:gd name="T33" fmla="*/ 632 h 1641"/>
                  <a:gd name="T34" fmla="*/ 678 w 1366"/>
                  <a:gd name="T35" fmla="*/ 682 h 1641"/>
                  <a:gd name="T36" fmla="*/ 690 w 1366"/>
                  <a:gd name="T37" fmla="*/ 684 h 1641"/>
                  <a:gd name="T38" fmla="*/ 706 w 1366"/>
                  <a:gd name="T39" fmla="*/ 686 h 1641"/>
                  <a:gd name="T40" fmla="*/ 777 w 1366"/>
                  <a:gd name="T41" fmla="*/ 698 h 1641"/>
                  <a:gd name="T42" fmla="*/ 911 w 1366"/>
                  <a:gd name="T43" fmla="*/ 726 h 1641"/>
                  <a:gd name="T44" fmla="*/ 1057 w 1366"/>
                  <a:gd name="T45" fmla="*/ 772 h 1641"/>
                  <a:gd name="T46" fmla="*/ 1196 w 1366"/>
                  <a:gd name="T47" fmla="*/ 846 h 1641"/>
                  <a:gd name="T48" fmla="*/ 1304 w 1366"/>
                  <a:gd name="T49" fmla="*/ 953 h 1641"/>
                  <a:gd name="T50" fmla="*/ 1362 w 1366"/>
                  <a:gd name="T51" fmla="*/ 1103 h 1641"/>
                  <a:gd name="T52" fmla="*/ 1342 w 1366"/>
                  <a:gd name="T53" fmla="*/ 1290 h 1641"/>
                  <a:gd name="T54" fmla="*/ 1226 w 1366"/>
                  <a:gd name="T55" fmla="*/ 1455 h 1641"/>
                  <a:gd name="T56" fmla="*/ 1031 w 1366"/>
                  <a:gd name="T57" fmla="*/ 1575 h 1641"/>
                  <a:gd name="T58" fmla="*/ 777 w 1366"/>
                  <a:gd name="T59" fmla="*/ 1635 h 1641"/>
                  <a:gd name="T60" fmla="*/ 508 w 1366"/>
                  <a:gd name="T61" fmla="*/ 1625 h 1641"/>
                  <a:gd name="T62" fmla="*/ 279 w 1366"/>
                  <a:gd name="T63" fmla="*/ 1549 h 1641"/>
                  <a:gd name="T64" fmla="*/ 109 w 1366"/>
                  <a:gd name="T65" fmla="*/ 1424 h 1641"/>
                  <a:gd name="T66" fmla="*/ 13 w 1366"/>
                  <a:gd name="T67" fmla="*/ 1258 h 1641"/>
                  <a:gd name="T68" fmla="*/ 13 w 1366"/>
                  <a:gd name="T69" fmla="*/ 1127 h 1641"/>
                  <a:gd name="T70" fmla="*/ 87 w 1366"/>
                  <a:gd name="T71" fmla="*/ 1057 h 1641"/>
                  <a:gd name="T72" fmla="*/ 195 w 1366"/>
                  <a:gd name="T73" fmla="*/ 1061 h 1641"/>
                  <a:gd name="T74" fmla="*/ 265 w 1366"/>
                  <a:gd name="T75" fmla="*/ 1135 h 1641"/>
                  <a:gd name="T76" fmla="*/ 303 w 1366"/>
                  <a:gd name="T77" fmla="*/ 1232 h 1641"/>
                  <a:gd name="T78" fmla="*/ 420 w 1366"/>
                  <a:gd name="T79" fmla="*/ 1316 h 1641"/>
                  <a:gd name="T80" fmla="*/ 608 w 1366"/>
                  <a:gd name="T81" fmla="*/ 1364 h 1641"/>
                  <a:gd name="T82" fmla="*/ 827 w 1366"/>
                  <a:gd name="T83" fmla="*/ 1352 h 1641"/>
                  <a:gd name="T84" fmla="*/ 999 w 1366"/>
                  <a:gd name="T85" fmla="*/ 1286 h 1641"/>
                  <a:gd name="T86" fmla="*/ 1087 w 1366"/>
                  <a:gd name="T87" fmla="*/ 1194 h 1641"/>
                  <a:gd name="T88" fmla="*/ 1085 w 1366"/>
                  <a:gd name="T89" fmla="*/ 1125 h 1641"/>
                  <a:gd name="T90" fmla="*/ 1033 w 1366"/>
                  <a:gd name="T91" fmla="*/ 1067 h 1641"/>
                  <a:gd name="T92" fmla="*/ 907 w 1366"/>
                  <a:gd name="T93" fmla="*/ 1009 h 1641"/>
                  <a:gd name="T94" fmla="*/ 690 w 1366"/>
                  <a:gd name="T95" fmla="*/ 959 h 1641"/>
                  <a:gd name="T96" fmla="*/ 678 w 1366"/>
                  <a:gd name="T97" fmla="*/ 957 h 1641"/>
                  <a:gd name="T98" fmla="*/ 662 w 1366"/>
                  <a:gd name="T99" fmla="*/ 955 h 1641"/>
                  <a:gd name="T100" fmla="*/ 590 w 1366"/>
                  <a:gd name="T101" fmla="*/ 943 h 1641"/>
                  <a:gd name="T102" fmla="*/ 456 w 1366"/>
                  <a:gd name="T103" fmla="*/ 915 h 1641"/>
                  <a:gd name="T104" fmla="*/ 311 w 1366"/>
                  <a:gd name="T105" fmla="*/ 869 h 1641"/>
                  <a:gd name="T106" fmla="*/ 171 w 1366"/>
                  <a:gd name="T107" fmla="*/ 794 h 1641"/>
                  <a:gd name="T108" fmla="*/ 63 w 1366"/>
                  <a:gd name="T109" fmla="*/ 686 h 1641"/>
                  <a:gd name="T110" fmla="*/ 4 w 1366"/>
                  <a:gd name="T111" fmla="*/ 539 h 1641"/>
                  <a:gd name="T112" fmla="*/ 23 w 1366"/>
                  <a:gd name="T113" fmla="*/ 351 h 1641"/>
                  <a:gd name="T114" fmla="*/ 141 w 1366"/>
                  <a:gd name="T115" fmla="*/ 186 h 1641"/>
                  <a:gd name="T116" fmla="*/ 337 w 1366"/>
                  <a:gd name="T117" fmla="*/ 66 h 1641"/>
                  <a:gd name="T118" fmla="*/ 590 w 1366"/>
                  <a:gd name="T119" fmla="*/ 4 h 1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66" h="1641">
                    <a:moveTo>
                      <a:pt x="684" y="0"/>
                    </a:moveTo>
                    <a:lnTo>
                      <a:pt x="773" y="4"/>
                    </a:lnTo>
                    <a:lnTo>
                      <a:pt x="859" y="16"/>
                    </a:lnTo>
                    <a:lnTo>
                      <a:pt x="941" y="34"/>
                    </a:lnTo>
                    <a:lnTo>
                      <a:pt x="1017" y="60"/>
                    </a:lnTo>
                    <a:lnTo>
                      <a:pt x="1087" y="90"/>
                    </a:lnTo>
                    <a:lnTo>
                      <a:pt x="1152" y="128"/>
                    </a:lnTo>
                    <a:lnTo>
                      <a:pt x="1208" y="170"/>
                    </a:lnTo>
                    <a:lnTo>
                      <a:pt x="1258" y="216"/>
                    </a:lnTo>
                    <a:lnTo>
                      <a:pt x="1300" y="267"/>
                    </a:lnTo>
                    <a:lnTo>
                      <a:pt x="1332" y="323"/>
                    </a:lnTo>
                    <a:lnTo>
                      <a:pt x="1354" y="381"/>
                    </a:lnTo>
                    <a:lnTo>
                      <a:pt x="1366" y="443"/>
                    </a:lnTo>
                    <a:lnTo>
                      <a:pt x="1364" y="481"/>
                    </a:lnTo>
                    <a:lnTo>
                      <a:pt x="1354" y="515"/>
                    </a:lnTo>
                    <a:lnTo>
                      <a:pt x="1336" y="545"/>
                    </a:lnTo>
                    <a:lnTo>
                      <a:pt x="1310" y="568"/>
                    </a:lnTo>
                    <a:lnTo>
                      <a:pt x="1280" y="584"/>
                    </a:lnTo>
                    <a:lnTo>
                      <a:pt x="1244" y="592"/>
                    </a:lnTo>
                    <a:lnTo>
                      <a:pt x="1206" y="592"/>
                    </a:lnTo>
                    <a:lnTo>
                      <a:pt x="1172" y="580"/>
                    </a:lnTo>
                    <a:lnTo>
                      <a:pt x="1144" y="562"/>
                    </a:lnTo>
                    <a:lnTo>
                      <a:pt x="1120" y="539"/>
                    </a:lnTo>
                    <a:lnTo>
                      <a:pt x="1102" y="507"/>
                    </a:lnTo>
                    <a:lnTo>
                      <a:pt x="1095" y="471"/>
                    </a:lnTo>
                    <a:lnTo>
                      <a:pt x="1085" y="439"/>
                    </a:lnTo>
                    <a:lnTo>
                      <a:pt x="1065" y="409"/>
                    </a:lnTo>
                    <a:lnTo>
                      <a:pt x="1035" y="379"/>
                    </a:lnTo>
                    <a:lnTo>
                      <a:pt x="995" y="351"/>
                    </a:lnTo>
                    <a:lnTo>
                      <a:pt x="947" y="325"/>
                    </a:lnTo>
                    <a:lnTo>
                      <a:pt x="891" y="305"/>
                    </a:lnTo>
                    <a:lnTo>
                      <a:pt x="827" y="287"/>
                    </a:lnTo>
                    <a:lnTo>
                      <a:pt x="757" y="277"/>
                    </a:lnTo>
                    <a:lnTo>
                      <a:pt x="684" y="273"/>
                    </a:lnTo>
                    <a:lnTo>
                      <a:pt x="608" y="277"/>
                    </a:lnTo>
                    <a:lnTo>
                      <a:pt x="538" y="289"/>
                    </a:lnTo>
                    <a:lnTo>
                      <a:pt x="474" y="305"/>
                    </a:lnTo>
                    <a:lnTo>
                      <a:pt x="418" y="329"/>
                    </a:lnTo>
                    <a:lnTo>
                      <a:pt x="369" y="355"/>
                    </a:lnTo>
                    <a:lnTo>
                      <a:pt x="329" y="383"/>
                    </a:lnTo>
                    <a:lnTo>
                      <a:pt x="299" y="415"/>
                    </a:lnTo>
                    <a:lnTo>
                      <a:pt x="281" y="447"/>
                    </a:lnTo>
                    <a:lnTo>
                      <a:pt x="273" y="479"/>
                    </a:lnTo>
                    <a:lnTo>
                      <a:pt x="275" y="497"/>
                    </a:lnTo>
                    <a:lnTo>
                      <a:pt x="281" y="517"/>
                    </a:lnTo>
                    <a:lnTo>
                      <a:pt x="293" y="535"/>
                    </a:lnTo>
                    <a:lnTo>
                      <a:pt x="311" y="554"/>
                    </a:lnTo>
                    <a:lnTo>
                      <a:pt x="335" y="574"/>
                    </a:lnTo>
                    <a:lnTo>
                      <a:pt x="367" y="594"/>
                    </a:lnTo>
                    <a:lnTo>
                      <a:pt x="408" y="614"/>
                    </a:lnTo>
                    <a:lnTo>
                      <a:pt x="458" y="632"/>
                    </a:lnTo>
                    <a:lnTo>
                      <a:pt x="520" y="650"/>
                    </a:lnTo>
                    <a:lnTo>
                      <a:pt x="594" y="666"/>
                    </a:lnTo>
                    <a:lnTo>
                      <a:pt x="678" y="682"/>
                    </a:lnTo>
                    <a:lnTo>
                      <a:pt x="680" y="682"/>
                    </a:lnTo>
                    <a:lnTo>
                      <a:pt x="684" y="682"/>
                    </a:lnTo>
                    <a:lnTo>
                      <a:pt x="690" y="684"/>
                    </a:lnTo>
                    <a:lnTo>
                      <a:pt x="696" y="684"/>
                    </a:lnTo>
                    <a:lnTo>
                      <a:pt x="702" y="686"/>
                    </a:lnTo>
                    <a:lnTo>
                      <a:pt x="706" y="686"/>
                    </a:lnTo>
                    <a:lnTo>
                      <a:pt x="708" y="686"/>
                    </a:lnTo>
                    <a:lnTo>
                      <a:pt x="739" y="692"/>
                    </a:lnTo>
                    <a:lnTo>
                      <a:pt x="777" y="698"/>
                    </a:lnTo>
                    <a:lnTo>
                      <a:pt x="819" y="704"/>
                    </a:lnTo>
                    <a:lnTo>
                      <a:pt x="863" y="714"/>
                    </a:lnTo>
                    <a:lnTo>
                      <a:pt x="911" y="726"/>
                    </a:lnTo>
                    <a:lnTo>
                      <a:pt x="959" y="738"/>
                    </a:lnTo>
                    <a:lnTo>
                      <a:pt x="1009" y="754"/>
                    </a:lnTo>
                    <a:lnTo>
                      <a:pt x="1057" y="772"/>
                    </a:lnTo>
                    <a:lnTo>
                      <a:pt x="1104" y="794"/>
                    </a:lnTo>
                    <a:lnTo>
                      <a:pt x="1150" y="818"/>
                    </a:lnTo>
                    <a:lnTo>
                      <a:pt x="1196" y="846"/>
                    </a:lnTo>
                    <a:lnTo>
                      <a:pt x="1236" y="877"/>
                    </a:lnTo>
                    <a:lnTo>
                      <a:pt x="1272" y="913"/>
                    </a:lnTo>
                    <a:lnTo>
                      <a:pt x="1304" y="953"/>
                    </a:lnTo>
                    <a:lnTo>
                      <a:pt x="1330" y="999"/>
                    </a:lnTo>
                    <a:lnTo>
                      <a:pt x="1350" y="1047"/>
                    </a:lnTo>
                    <a:lnTo>
                      <a:pt x="1362" y="1103"/>
                    </a:lnTo>
                    <a:lnTo>
                      <a:pt x="1366" y="1162"/>
                    </a:lnTo>
                    <a:lnTo>
                      <a:pt x="1360" y="1228"/>
                    </a:lnTo>
                    <a:lnTo>
                      <a:pt x="1342" y="1290"/>
                    </a:lnTo>
                    <a:lnTo>
                      <a:pt x="1314" y="1350"/>
                    </a:lnTo>
                    <a:lnTo>
                      <a:pt x="1274" y="1406"/>
                    </a:lnTo>
                    <a:lnTo>
                      <a:pt x="1226" y="1455"/>
                    </a:lnTo>
                    <a:lnTo>
                      <a:pt x="1168" y="1501"/>
                    </a:lnTo>
                    <a:lnTo>
                      <a:pt x="1102" y="1541"/>
                    </a:lnTo>
                    <a:lnTo>
                      <a:pt x="1031" y="1575"/>
                    </a:lnTo>
                    <a:lnTo>
                      <a:pt x="951" y="1603"/>
                    </a:lnTo>
                    <a:lnTo>
                      <a:pt x="867" y="1623"/>
                    </a:lnTo>
                    <a:lnTo>
                      <a:pt x="777" y="1635"/>
                    </a:lnTo>
                    <a:lnTo>
                      <a:pt x="684" y="1641"/>
                    </a:lnTo>
                    <a:lnTo>
                      <a:pt x="594" y="1637"/>
                    </a:lnTo>
                    <a:lnTo>
                      <a:pt x="508" y="1625"/>
                    </a:lnTo>
                    <a:lnTo>
                      <a:pt x="426" y="1607"/>
                    </a:lnTo>
                    <a:lnTo>
                      <a:pt x="351" y="1581"/>
                    </a:lnTo>
                    <a:lnTo>
                      <a:pt x="279" y="1549"/>
                    </a:lnTo>
                    <a:lnTo>
                      <a:pt x="215" y="1513"/>
                    </a:lnTo>
                    <a:lnTo>
                      <a:pt x="157" y="1471"/>
                    </a:lnTo>
                    <a:lnTo>
                      <a:pt x="109" y="1424"/>
                    </a:lnTo>
                    <a:lnTo>
                      <a:pt x="67" y="1374"/>
                    </a:lnTo>
                    <a:lnTo>
                      <a:pt x="35" y="1318"/>
                    </a:lnTo>
                    <a:lnTo>
                      <a:pt x="13" y="1258"/>
                    </a:lnTo>
                    <a:lnTo>
                      <a:pt x="2" y="1198"/>
                    </a:lnTo>
                    <a:lnTo>
                      <a:pt x="2" y="1160"/>
                    </a:lnTo>
                    <a:lnTo>
                      <a:pt x="13" y="1127"/>
                    </a:lnTo>
                    <a:lnTo>
                      <a:pt x="31" y="1097"/>
                    </a:lnTo>
                    <a:lnTo>
                      <a:pt x="57" y="1073"/>
                    </a:lnTo>
                    <a:lnTo>
                      <a:pt x="87" y="1057"/>
                    </a:lnTo>
                    <a:lnTo>
                      <a:pt x="123" y="1047"/>
                    </a:lnTo>
                    <a:lnTo>
                      <a:pt x="161" y="1049"/>
                    </a:lnTo>
                    <a:lnTo>
                      <a:pt x="195" y="1061"/>
                    </a:lnTo>
                    <a:lnTo>
                      <a:pt x="225" y="1079"/>
                    </a:lnTo>
                    <a:lnTo>
                      <a:pt x="249" y="1103"/>
                    </a:lnTo>
                    <a:lnTo>
                      <a:pt x="265" y="1135"/>
                    </a:lnTo>
                    <a:lnTo>
                      <a:pt x="273" y="1170"/>
                    </a:lnTo>
                    <a:lnTo>
                      <a:pt x="283" y="1200"/>
                    </a:lnTo>
                    <a:lnTo>
                      <a:pt x="303" y="1232"/>
                    </a:lnTo>
                    <a:lnTo>
                      <a:pt x="333" y="1262"/>
                    </a:lnTo>
                    <a:lnTo>
                      <a:pt x="372" y="1290"/>
                    </a:lnTo>
                    <a:lnTo>
                      <a:pt x="420" y="1316"/>
                    </a:lnTo>
                    <a:lnTo>
                      <a:pt x="476" y="1336"/>
                    </a:lnTo>
                    <a:lnTo>
                      <a:pt x="540" y="1352"/>
                    </a:lnTo>
                    <a:lnTo>
                      <a:pt x="608" y="1364"/>
                    </a:lnTo>
                    <a:lnTo>
                      <a:pt x="684" y="1366"/>
                    </a:lnTo>
                    <a:lnTo>
                      <a:pt x="757" y="1364"/>
                    </a:lnTo>
                    <a:lnTo>
                      <a:pt x="827" y="1352"/>
                    </a:lnTo>
                    <a:lnTo>
                      <a:pt x="893" y="1334"/>
                    </a:lnTo>
                    <a:lnTo>
                      <a:pt x="949" y="1312"/>
                    </a:lnTo>
                    <a:lnTo>
                      <a:pt x="999" y="1286"/>
                    </a:lnTo>
                    <a:lnTo>
                      <a:pt x="1039" y="1256"/>
                    </a:lnTo>
                    <a:lnTo>
                      <a:pt x="1069" y="1226"/>
                    </a:lnTo>
                    <a:lnTo>
                      <a:pt x="1087" y="1194"/>
                    </a:lnTo>
                    <a:lnTo>
                      <a:pt x="1093" y="1162"/>
                    </a:lnTo>
                    <a:lnTo>
                      <a:pt x="1093" y="1145"/>
                    </a:lnTo>
                    <a:lnTo>
                      <a:pt x="1085" y="1125"/>
                    </a:lnTo>
                    <a:lnTo>
                      <a:pt x="1075" y="1105"/>
                    </a:lnTo>
                    <a:lnTo>
                      <a:pt x="1057" y="1087"/>
                    </a:lnTo>
                    <a:lnTo>
                      <a:pt x="1033" y="1067"/>
                    </a:lnTo>
                    <a:lnTo>
                      <a:pt x="999" y="1047"/>
                    </a:lnTo>
                    <a:lnTo>
                      <a:pt x="959" y="1027"/>
                    </a:lnTo>
                    <a:lnTo>
                      <a:pt x="907" y="1009"/>
                    </a:lnTo>
                    <a:lnTo>
                      <a:pt x="847" y="991"/>
                    </a:lnTo>
                    <a:lnTo>
                      <a:pt x="775" y="975"/>
                    </a:lnTo>
                    <a:lnTo>
                      <a:pt x="690" y="959"/>
                    </a:lnTo>
                    <a:lnTo>
                      <a:pt x="688" y="959"/>
                    </a:lnTo>
                    <a:lnTo>
                      <a:pt x="684" y="959"/>
                    </a:lnTo>
                    <a:lnTo>
                      <a:pt x="678" y="957"/>
                    </a:lnTo>
                    <a:lnTo>
                      <a:pt x="672" y="957"/>
                    </a:lnTo>
                    <a:lnTo>
                      <a:pt x="668" y="955"/>
                    </a:lnTo>
                    <a:lnTo>
                      <a:pt x="662" y="955"/>
                    </a:lnTo>
                    <a:lnTo>
                      <a:pt x="662" y="955"/>
                    </a:lnTo>
                    <a:lnTo>
                      <a:pt x="628" y="949"/>
                    </a:lnTo>
                    <a:lnTo>
                      <a:pt x="590" y="943"/>
                    </a:lnTo>
                    <a:lnTo>
                      <a:pt x="548" y="935"/>
                    </a:lnTo>
                    <a:lnTo>
                      <a:pt x="504" y="927"/>
                    </a:lnTo>
                    <a:lnTo>
                      <a:pt x="456" y="915"/>
                    </a:lnTo>
                    <a:lnTo>
                      <a:pt x="408" y="903"/>
                    </a:lnTo>
                    <a:lnTo>
                      <a:pt x="361" y="887"/>
                    </a:lnTo>
                    <a:lnTo>
                      <a:pt x="311" y="869"/>
                    </a:lnTo>
                    <a:lnTo>
                      <a:pt x="263" y="847"/>
                    </a:lnTo>
                    <a:lnTo>
                      <a:pt x="215" y="822"/>
                    </a:lnTo>
                    <a:lnTo>
                      <a:pt x="171" y="794"/>
                    </a:lnTo>
                    <a:lnTo>
                      <a:pt x="131" y="762"/>
                    </a:lnTo>
                    <a:lnTo>
                      <a:pt x="95" y="728"/>
                    </a:lnTo>
                    <a:lnTo>
                      <a:pt x="63" y="686"/>
                    </a:lnTo>
                    <a:lnTo>
                      <a:pt x="37" y="642"/>
                    </a:lnTo>
                    <a:lnTo>
                      <a:pt x="17" y="592"/>
                    </a:lnTo>
                    <a:lnTo>
                      <a:pt x="4" y="539"/>
                    </a:lnTo>
                    <a:lnTo>
                      <a:pt x="0" y="479"/>
                    </a:lnTo>
                    <a:lnTo>
                      <a:pt x="5" y="413"/>
                    </a:lnTo>
                    <a:lnTo>
                      <a:pt x="23" y="351"/>
                    </a:lnTo>
                    <a:lnTo>
                      <a:pt x="53" y="291"/>
                    </a:lnTo>
                    <a:lnTo>
                      <a:pt x="91" y="236"/>
                    </a:lnTo>
                    <a:lnTo>
                      <a:pt x="141" y="186"/>
                    </a:lnTo>
                    <a:lnTo>
                      <a:pt x="199" y="140"/>
                    </a:lnTo>
                    <a:lnTo>
                      <a:pt x="263" y="100"/>
                    </a:lnTo>
                    <a:lnTo>
                      <a:pt x="337" y="66"/>
                    </a:lnTo>
                    <a:lnTo>
                      <a:pt x="414" y="38"/>
                    </a:lnTo>
                    <a:lnTo>
                      <a:pt x="500" y="18"/>
                    </a:lnTo>
                    <a:lnTo>
                      <a:pt x="590" y="4"/>
                    </a:lnTo>
                    <a:lnTo>
                      <a:pt x="68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5" name="Freeform 205">
                <a:extLst>
                  <a:ext uri="{FF2B5EF4-FFF2-40B4-BE49-F238E27FC236}">
                    <a16:creationId xmlns:a16="http://schemas.microsoft.com/office/drawing/2014/main" id="{6D35AEC8-1E22-4DD5-A5D1-432C0F657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8738" y="2314575"/>
                <a:ext cx="1301750" cy="217488"/>
              </a:xfrm>
              <a:custGeom>
                <a:avLst/>
                <a:gdLst>
                  <a:gd name="T0" fmla="*/ 137 w 1639"/>
                  <a:gd name="T1" fmla="*/ 0 h 273"/>
                  <a:gd name="T2" fmla="*/ 1503 w 1639"/>
                  <a:gd name="T3" fmla="*/ 0 h 273"/>
                  <a:gd name="T4" fmla="*/ 1539 w 1639"/>
                  <a:gd name="T5" fmla="*/ 4 h 273"/>
                  <a:gd name="T6" fmla="*/ 1571 w 1639"/>
                  <a:gd name="T7" fmla="*/ 18 h 273"/>
                  <a:gd name="T8" fmla="*/ 1599 w 1639"/>
                  <a:gd name="T9" fmla="*/ 40 h 273"/>
                  <a:gd name="T10" fmla="*/ 1621 w 1639"/>
                  <a:gd name="T11" fmla="*/ 66 h 273"/>
                  <a:gd name="T12" fmla="*/ 1635 w 1639"/>
                  <a:gd name="T13" fmla="*/ 100 h 273"/>
                  <a:gd name="T14" fmla="*/ 1639 w 1639"/>
                  <a:gd name="T15" fmla="*/ 135 h 273"/>
                  <a:gd name="T16" fmla="*/ 1635 w 1639"/>
                  <a:gd name="T17" fmla="*/ 171 h 273"/>
                  <a:gd name="T18" fmla="*/ 1621 w 1639"/>
                  <a:gd name="T19" fmla="*/ 205 h 273"/>
                  <a:gd name="T20" fmla="*/ 1599 w 1639"/>
                  <a:gd name="T21" fmla="*/ 231 h 273"/>
                  <a:gd name="T22" fmla="*/ 1571 w 1639"/>
                  <a:gd name="T23" fmla="*/ 253 h 273"/>
                  <a:gd name="T24" fmla="*/ 1539 w 1639"/>
                  <a:gd name="T25" fmla="*/ 267 h 273"/>
                  <a:gd name="T26" fmla="*/ 1503 w 1639"/>
                  <a:gd name="T27" fmla="*/ 273 h 273"/>
                  <a:gd name="T28" fmla="*/ 137 w 1639"/>
                  <a:gd name="T29" fmla="*/ 273 h 273"/>
                  <a:gd name="T30" fmla="*/ 99 w 1639"/>
                  <a:gd name="T31" fmla="*/ 267 h 273"/>
                  <a:gd name="T32" fmla="*/ 67 w 1639"/>
                  <a:gd name="T33" fmla="*/ 253 h 273"/>
                  <a:gd name="T34" fmla="*/ 39 w 1639"/>
                  <a:gd name="T35" fmla="*/ 231 h 273"/>
                  <a:gd name="T36" fmla="*/ 17 w 1639"/>
                  <a:gd name="T37" fmla="*/ 205 h 273"/>
                  <a:gd name="T38" fmla="*/ 5 w 1639"/>
                  <a:gd name="T39" fmla="*/ 171 h 273"/>
                  <a:gd name="T40" fmla="*/ 0 w 1639"/>
                  <a:gd name="T41" fmla="*/ 135 h 273"/>
                  <a:gd name="T42" fmla="*/ 5 w 1639"/>
                  <a:gd name="T43" fmla="*/ 100 h 273"/>
                  <a:gd name="T44" fmla="*/ 17 w 1639"/>
                  <a:gd name="T45" fmla="*/ 66 h 273"/>
                  <a:gd name="T46" fmla="*/ 39 w 1639"/>
                  <a:gd name="T47" fmla="*/ 40 h 273"/>
                  <a:gd name="T48" fmla="*/ 67 w 1639"/>
                  <a:gd name="T49" fmla="*/ 18 h 273"/>
                  <a:gd name="T50" fmla="*/ 99 w 1639"/>
                  <a:gd name="T51" fmla="*/ 4 h 273"/>
                  <a:gd name="T52" fmla="*/ 137 w 1639"/>
                  <a:gd name="T53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639" h="273">
                    <a:moveTo>
                      <a:pt x="137" y="0"/>
                    </a:moveTo>
                    <a:lnTo>
                      <a:pt x="1503" y="0"/>
                    </a:lnTo>
                    <a:lnTo>
                      <a:pt x="1539" y="4"/>
                    </a:lnTo>
                    <a:lnTo>
                      <a:pt x="1571" y="18"/>
                    </a:lnTo>
                    <a:lnTo>
                      <a:pt x="1599" y="40"/>
                    </a:lnTo>
                    <a:lnTo>
                      <a:pt x="1621" y="66"/>
                    </a:lnTo>
                    <a:lnTo>
                      <a:pt x="1635" y="100"/>
                    </a:lnTo>
                    <a:lnTo>
                      <a:pt x="1639" y="135"/>
                    </a:lnTo>
                    <a:lnTo>
                      <a:pt x="1635" y="171"/>
                    </a:lnTo>
                    <a:lnTo>
                      <a:pt x="1621" y="205"/>
                    </a:lnTo>
                    <a:lnTo>
                      <a:pt x="1599" y="231"/>
                    </a:lnTo>
                    <a:lnTo>
                      <a:pt x="1571" y="253"/>
                    </a:lnTo>
                    <a:lnTo>
                      <a:pt x="1539" y="267"/>
                    </a:lnTo>
                    <a:lnTo>
                      <a:pt x="1503" y="273"/>
                    </a:lnTo>
                    <a:lnTo>
                      <a:pt x="137" y="273"/>
                    </a:lnTo>
                    <a:lnTo>
                      <a:pt x="99" y="267"/>
                    </a:lnTo>
                    <a:lnTo>
                      <a:pt x="67" y="253"/>
                    </a:lnTo>
                    <a:lnTo>
                      <a:pt x="39" y="231"/>
                    </a:lnTo>
                    <a:lnTo>
                      <a:pt x="17" y="205"/>
                    </a:lnTo>
                    <a:lnTo>
                      <a:pt x="5" y="171"/>
                    </a:lnTo>
                    <a:lnTo>
                      <a:pt x="0" y="135"/>
                    </a:lnTo>
                    <a:lnTo>
                      <a:pt x="5" y="100"/>
                    </a:lnTo>
                    <a:lnTo>
                      <a:pt x="17" y="66"/>
                    </a:lnTo>
                    <a:lnTo>
                      <a:pt x="39" y="40"/>
                    </a:lnTo>
                    <a:lnTo>
                      <a:pt x="67" y="18"/>
                    </a:lnTo>
                    <a:lnTo>
                      <a:pt x="99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6" name="Freeform 206">
                <a:extLst>
                  <a:ext uri="{FF2B5EF4-FFF2-40B4-BE49-F238E27FC236}">
                    <a16:creationId xmlns:a16="http://schemas.microsoft.com/office/drawing/2014/main" id="{8E352724-B281-4471-8EB7-4E242A6F8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8738" y="3182938"/>
                <a:ext cx="2603500" cy="215900"/>
              </a:xfrm>
              <a:custGeom>
                <a:avLst/>
                <a:gdLst>
                  <a:gd name="T0" fmla="*/ 137 w 3279"/>
                  <a:gd name="T1" fmla="*/ 0 h 273"/>
                  <a:gd name="T2" fmla="*/ 3143 w 3279"/>
                  <a:gd name="T3" fmla="*/ 0 h 273"/>
                  <a:gd name="T4" fmla="*/ 3179 w 3279"/>
                  <a:gd name="T5" fmla="*/ 4 h 273"/>
                  <a:gd name="T6" fmla="*/ 3213 w 3279"/>
                  <a:gd name="T7" fmla="*/ 18 h 273"/>
                  <a:gd name="T8" fmla="*/ 3239 w 3279"/>
                  <a:gd name="T9" fmla="*/ 40 h 273"/>
                  <a:gd name="T10" fmla="*/ 3261 w 3279"/>
                  <a:gd name="T11" fmla="*/ 68 h 273"/>
                  <a:gd name="T12" fmla="*/ 3275 w 3279"/>
                  <a:gd name="T13" fmla="*/ 100 h 273"/>
                  <a:gd name="T14" fmla="*/ 3279 w 3279"/>
                  <a:gd name="T15" fmla="*/ 136 h 273"/>
                  <a:gd name="T16" fmla="*/ 3275 w 3279"/>
                  <a:gd name="T17" fmla="*/ 172 h 273"/>
                  <a:gd name="T18" fmla="*/ 3261 w 3279"/>
                  <a:gd name="T19" fmla="*/ 206 h 273"/>
                  <a:gd name="T20" fmla="*/ 3239 w 3279"/>
                  <a:gd name="T21" fmla="*/ 233 h 273"/>
                  <a:gd name="T22" fmla="*/ 3213 w 3279"/>
                  <a:gd name="T23" fmla="*/ 253 h 273"/>
                  <a:gd name="T24" fmla="*/ 3179 w 3279"/>
                  <a:gd name="T25" fmla="*/ 267 h 273"/>
                  <a:gd name="T26" fmla="*/ 3143 w 3279"/>
                  <a:gd name="T27" fmla="*/ 273 h 273"/>
                  <a:gd name="T28" fmla="*/ 137 w 3279"/>
                  <a:gd name="T29" fmla="*/ 273 h 273"/>
                  <a:gd name="T30" fmla="*/ 99 w 3279"/>
                  <a:gd name="T31" fmla="*/ 267 h 273"/>
                  <a:gd name="T32" fmla="*/ 67 w 3279"/>
                  <a:gd name="T33" fmla="*/ 253 h 273"/>
                  <a:gd name="T34" fmla="*/ 39 w 3279"/>
                  <a:gd name="T35" fmla="*/ 233 h 273"/>
                  <a:gd name="T36" fmla="*/ 17 w 3279"/>
                  <a:gd name="T37" fmla="*/ 206 h 273"/>
                  <a:gd name="T38" fmla="*/ 5 w 3279"/>
                  <a:gd name="T39" fmla="*/ 172 h 273"/>
                  <a:gd name="T40" fmla="*/ 0 w 3279"/>
                  <a:gd name="T41" fmla="*/ 136 h 273"/>
                  <a:gd name="T42" fmla="*/ 5 w 3279"/>
                  <a:gd name="T43" fmla="*/ 100 h 273"/>
                  <a:gd name="T44" fmla="*/ 17 w 3279"/>
                  <a:gd name="T45" fmla="*/ 68 h 273"/>
                  <a:gd name="T46" fmla="*/ 39 w 3279"/>
                  <a:gd name="T47" fmla="*/ 40 h 273"/>
                  <a:gd name="T48" fmla="*/ 67 w 3279"/>
                  <a:gd name="T49" fmla="*/ 18 h 273"/>
                  <a:gd name="T50" fmla="*/ 99 w 3279"/>
                  <a:gd name="T51" fmla="*/ 4 h 273"/>
                  <a:gd name="T52" fmla="*/ 137 w 3279"/>
                  <a:gd name="T53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79" h="273">
                    <a:moveTo>
                      <a:pt x="137" y="0"/>
                    </a:moveTo>
                    <a:lnTo>
                      <a:pt x="3143" y="0"/>
                    </a:lnTo>
                    <a:lnTo>
                      <a:pt x="3179" y="4"/>
                    </a:lnTo>
                    <a:lnTo>
                      <a:pt x="3213" y="18"/>
                    </a:lnTo>
                    <a:lnTo>
                      <a:pt x="3239" y="40"/>
                    </a:lnTo>
                    <a:lnTo>
                      <a:pt x="3261" y="68"/>
                    </a:lnTo>
                    <a:lnTo>
                      <a:pt x="3275" y="100"/>
                    </a:lnTo>
                    <a:lnTo>
                      <a:pt x="3279" y="136"/>
                    </a:lnTo>
                    <a:lnTo>
                      <a:pt x="3275" y="172"/>
                    </a:lnTo>
                    <a:lnTo>
                      <a:pt x="3261" y="206"/>
                    </a:lnTo>
                    <a:lnTo>
                      <a:pt x="3239" y="233"/>
                    </a:lnTo>
                    <a:lnTo>
                      <a:pt x="3213" y="253"/>
                    </a:lnTo>
                    <a:lnTo>
                      <a:pt x="3179" y="267"/>
                    </a:lnTo>
                    <a:lnTo>
                      <a:pt x="3143" y="273"/>
                    </a:lnTo>
                    <a:lnTo>
                      <a:pt x="137" y="273"/>
                    </a:lnTo>
                    <a:lnTo>
                      <a:pt x="99" y="267"/>
                    </a:lnTo>
                    <a:lnTo>
                      <a:pt x="67" y="253"/>
                    </a:lnTo>
                    <a:lnTo>
                      <a:pt x="39" y="233"/>
                    </a:lnTo>
                    <a:lnTo>
                      <a:pt x="17" y="206"/>
                    </a:lnTo>
                    <a:lnTo>
                      <a:pt x="5" y="172"/>
                    </a:lnTo>
                    <a:lnTo>
                      <a:pt x="0" y="136"/>
                    </a:lnTo>
                    <a:lnTo>
                      <a:pt x="5" y="100"/>
                    </a:lnTo>
                    <a:lnTo>
                      <a:pt x="17" y="68"/>
                    </a:lnTo>
                    <a:lnTo>
                      <a:pt x="39" y="40"/>
                    </a:lnTo>
                    <a:lnTo>
                      <a:pt x="67" y="18"/>
                    </a:lnTo>
                    <a:lnTo>
                      <a:pt x="99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7" name="Freeform 207">
                <a:extLst>
                  <a:ext uri="{FF2B5EF4-FFF2-40B4-BE49-F238E27FC236}">
                    <a16:creationId xmlns:a16="http://schemas.microsoft.com/office/drawing/2014/main" id="{03506F55-E7B1-4312-974B-778CF0339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8738" y="4049713"/>
                <a:ext cx="1084263" cy="215900"/>
              </a:xfrm>
              <a:custGeom>
                <a:avLst/>
                <a:gdLst>
                  <a:gd name="T0" fmla="*/ 137 w 1366"/>
                  <a:gd name="T1" fmla="*/ 0 h 273"/>
                  <a:gd name="T2" fmla="*/ 1230 w 1366"/>
                  <a:gd name="T3" fmla="*/ 0 h 273"/>
                  <a:gd name="T4" fmla="*/ 1266 w 1366"/>
                  <a:gd name="T5" fmla="*/ 4 h 273"/>
                  <a:gd name="T6" fmla="*/ 1298 w 1366"/>
                  <a:gd name="T7" fmla="*/ 17 h 273"/>
                  <a:gd name="T8" fmla="*/ 1326 w 1366"/>
                  <a:gd name="T9" fmla="*/ 39 h 273"/>
                  <a:gd name="T10" fmla="*/ 1348 w 1366"/>
                  <a:gd name="T11" fmla="*/ 67 h 273"/>
                  <a:gd name="T12" fmla="*/ 1362 w 1366"/>
                  <a:gd name="T13" fmla="*/ 99 h 273"/>
                  <a:gd name="T14" fmla="*/ 1366 w 1366"/>
                  <a:gd name="T15" fmla="*/ 135 h 273"/>
                  <a:gd name="T16" fmla="*/ 1362 w 1366"/>
                  <a:gd name="T17" fmla="*/ 173 h 273"/>
                  <a:gd name="T18" fmla="*/ 1348 w 1366"/>
                  <a:gd name="T19" fmla="*/ 205 h 273"/>
                  <a:gd name="T20" fmla="*/ 1326 w 1366"/>
                  <a:gd name="T21" fmla="*/ 233 h 273"/>
                  <a:gd name="T22" fmla="*/ 1298 w 1366"/>
                  <a:gd name="T23" fmla="*/ 253 h 273"/>
                  <a:gd name="T24" fmla="*/ 1266 w 1366"/>
                  <a:gd name="T25" fmla="*/ 267 h 273"/>
                  <a:gd name="T26" fmla="*/ 1230 w 1366"/>
                  <a:gd name="T27" fmla="*/ 273 h 273"/>
                  <a:gd name="T28" fmla="*/ 137 w 1366"/>
                  <a:gd name="T29" fmla="*/ 273 h 273"/>
                  <a:gd name="T30" fmla="*/ 99 w 1366"/>
                  <a:gd name="T31" fmla="*/ 267 h 273"/>
                  <a:gd name="T32" fmla="*/ 67 w 1366"/>
                  <a:gd name="T33" fmla="*/ 253 h 273"/>
                  <a:gd name="T34" fmla="*/ 39 w 1366"/>
                  <a:gd name="T35" fmla="*/ 233 h 273"/>
                  <a:gd name="T36" fmla="*/ 17 w 1366"/>
                  <a:gd name="T37" fmla="*/ 205 h 273"/>
                  <a:gd name="T38" fmla="*/ 5 w 1366"/>
                  <a:gd name="T39" fmla="*/ 173 h 273"/>
                  <a:gd name="T40" fmla="*/ 0 w 1366"/>
                  <a:gd name="T41" fmla="*/ 135 h 273"/>
                  <a:gd name="T42" fmla="*/ 5 w 1366"/>
                  <a:gd name="T43" fmla="*/ 99 h 273"/>
                  <a:gd name="T44" fmla="*/ 17 w 1366"/>
                  <a:gd name="T45" fmla="*/ 67 h 273"/>
                  <a:gd name="T46" fmla="*/ 39 w 1366"/>
                  <a:gd name="T47" fmla="*/ 39 h 273"/>
                  <a:gd name="T48" fmla="*/ 67 w 1366"/>
                  <a:gd name="T49" fmla="*/ 17 h 273"/>
                  <a:gd name="T50" fmla="*/ 99 w 1366"/>
                  <a:gd name="T51" fmla="*/ 4 h 273"/>
                  <a:gd name="T52" fmla="*/ 137 w 1366"/>
                  <a:gd name="T53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66" h="273">
                    <a:moveTo>
                      <a:pt x="137" y="0"/>
                    </a:moveTo>
                    <a:lnTo>
                      <a:pt x="1230" y="0"/>
                    </a:lnTo>
                    <a:lnTo>
                      <a:pt x="1266" y="4"/>
                    </a:lnTo>
                    <a:lnTo>
                      <a:pt x="1298" y="17"/>
                    </a:lnTo>
                    <a:lnTo>
                      <a:pt x="1326" y="39"/>
                    </a:lnTo>
                    <a:lnTo>
                      <a:pt x="1348" y="67"/>
                    </a:lnTo>
                    <a:lnTo>
                      <a:pt x="1362" y="99"/>
                    </a:lnTo>
                    <a:lnTo>
                      <a:pt x="1366" y="135"/>
                    </a:lnTo>
                    <a:lnTo>
                      <a:pt x="1362" y="173"/>
                    </a:lnTo>
                    <a:lnTo>
                      <a:pt x="1348" y="205"/>
                    </a:lnTo>
                    <a:lnTo>
                      <a:pt x="1326" y="233"/>
                    </a:lnTo>
                    <a:lnTo>
                      <a:pt x="1298" y="253"/>
                    </a:lnTo>
                    <a:lnTo>
                      <a:pt x="1266" y="267"/>
                    </a:lnTo>
                    <a:lnTo>
                      <a:pt x="1230" y="273"/>
                    </a:lnTo>
                    <a:lnTo>
                      <a:pt x="137" y="273"/>
                    </a:lnTo>
                    <a:lnTo>
                      <a:pt x="99" y="267"/>
                    </a:lnTo>
                    <a:lnTo>
                      <a:pt x="67" y="253"/>
                    </a:lnTo>
                    <a:lnTo>
                      <a:pt x="39" y="233"/>
                    </a:lnTo>
                    <a:lnTo>
                      <a:pt x="17" y="205"/>
                    </a:lnTo>
                    <a:lnTo>
                      <a:pt x="5" y="173"/>
                    </a:lnTo>
                    <a:lnTo>
                      <a:pt x="0" y="135"/>
                    </a:lnTo>
                    <a:lnTo>
                      <a:pt x="5" y="99"/>
                    </a:lnTo>
                    <a:lnTo>
                      <a:pt x="17" y="67"/>
                    </a:lnTo>
                    <a:lnTo>
                      <a:pt x="39" y="39"/>
                    </a:lnTo>
                    <a:lnTo>
                      <a:pt x="67" y="17"/>
                    </a:lnTo>
                    <a:lnTo>
                      <a:pt x="99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8" name="Freeform 208">
                <a:extLst>
                  <a:ext uri="{FF2B5EF4-FFF2-40B4-BE49-F238E27FC236}">
                    <a16:creationId xmlns:a16="http://schemas.microsoft.com/office/drawing/2014/main" id="{940AD995-4F67-47C8-BFE7-DF04E2534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8851" y="796925"/>
                <a:ext cx="215900" cy="1735138"/>
              </a:xfrm>
              <a:custGeom>
                <a:avLst/>
                <a:gdLst>
                  <a:gd name="T0" fmla="*/ 138 w 273"/>
                  <a:gd name="T1" fmla="*/ 0 h 2187"/>
                  <a:gd name="T2" fmla="*/ 174 w 273"/>
                  <a:gd name="T3" fmla="*/ 6 h 2187"/>
                  <a:gd name="T4" fmla="*/ 205 w 273"/>
                  <a:gd name="T5" fmla="*/ 20 h 2187"/>
                  <a:gd name="T6" fmla="*/ 233 w 273"/>
                  <a:gd name="T7" fmla="*/ 40 h 2187"/>
                  <a:gd name="T8" fmla="*/ 255 w 273"/>
                  <a:gd name="T9" fmla="*/ 68 h 2187"/>
                  <a:gd name="T10" fmla="*/ 269 w 273"/>
                  <a:gd name="T11" fmla="*/ 102 h 2187"/>
                  <a:gd name="T12" fmla="*/ 273 w 273"/>
                  <a:gd name="T13" fmla="*/ 138 h 2187"/>
                  <a:gd name="T14" fmla="*/ 273 w 273"/>
                  <a:gd name="T15" fmla="*/ 2049 h 2187"/>
                  <a:gd name="T16" fmla="*/ 269 w 273"/>
                  <a:gd name="T17" fmla="*/ 2085 h 2187"/>
                  <a:gd name="T18" fmla="*/ 255 w 273"/>
                  <a:gd name="T19" fmla="*/ 2119 h 2187"/>
                  <a:gd name="T20" fmla="*/ 233 w 273"/>
                  <a:gd name="T21" fmla="*/ 2145 h 2187"/>
                  <a:gd name="T22" fmla="*/ 205 w 273"/>
                  <a:gd name="T23" fmla="*/ 2167 h 2187"/>
                  <a:gd name="T24" fmla="*/ 174 w 273"/>
                  <a:gd name="T25" fmla="*/ 2181 h 2187"/>
                  <a:gd name="T26" fmla="*/ 138 w 273"/>
                  <a:gd name="T27" fmla="*/ 2187 h 2187"/>
                  <a:gd name="T28" fmla="*/ 102 w 273"/>
                  <a:gd name="T29" fmla="*/ 2181 h 2187"/>
                  <a:gd name="T30" fmla="*/ 68 w 273"/>
                  <a:gd name="T31" fmla="*/ 2167 h 2187"/>
                  <a:gd name="T32" fmla="*/ 40 w 273"/>
                  <a:gd name="T33" fmla="*/ 2145 h 2187"/>
                  <a:gd name="T34" fmla="*/ 20 w 273"/>
                  <a:gd name="T35" fmla="*/ 2119 h 2187"/>
                  <a:gd name="T36" fmla="*/ 6 w 273"/>
                  <a:gd name="T37" fmla="*/ 2085 h 2187"/>
                  <a:gd name="T38" fmla="*/ 0 w 273"/>
                  <a:gd name="T39" fmla="*/ 2049 h 2187"/>
                  <a:gd name="T40" fmla="*/ 0 w 273"/>
                  <a:gd name="T41" fmla="*/ 138 h 2187"/>
                  <a:gd name="T42" fmla="*/ 6 w 273"/>
                  <a:gd name="T43" fmla="*/ 102 h 2187"/>
                  <a:gd name="T44" fmla="*/ 20 w 273"/>
                  <a:gd name="T45" fmla="*/ 68 h 2187"/>
                  <a:gd name="T46" fmla="*/ 40 w 273"/>
                  <a:gd name="T47" fmla="*/ 40 h 2187"/>
                  <a:gd name="T48" fmla="*/ 68 w 273"/>
                  <a:gd name="T49" fmla="*/ 20 h 2187"/>
                  <a:gd name="T50" fmla="*/ 102 w 273"/>
                  <a:gd name="T51" fmla="*/ 6 h 2187"/>
                  <a:gd name="T52" fmla="*/ 138 w 273"/>
                  <a:gd name="T53" fmla="*/ 0 h 2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" h="2187">
                    <a:moveTo>
                      <a:pt x="138" y="0"/>
                    </a:moveTo>
                    <a:lnTo>
                      <a:pt x="174" y="6"/>
                    </a:lnTo>
                    <a:lnTo>
                      <a:pt x="205" y="20"/>
                    </a:lnTo>
                    <a:lnTo>
                      <a:pt x="233" y="40"/>
                    </a:lnTo>
                    <a:lnTo>
                      <a:pt x="255" y="68"/>
                    </a:lnTo>
                    <a:lnTo>
                      <a:pt x="269" y="102"/>
                    </a:lnTo>
                    <a:lnTo>
                      <a:pt x="273" y="138"/>
                    </a:lnTo>
                    <a:lnTo>
                      <a:pt x="273" y="2049"/>
                    </a:lnTo>
                    <a:lnTo>
                      <a:pt x="269" y="2085"/>
                    </a:lnTo>
                    <a:lnTo>
                      <a:pt x="255" y="2119"/>
                    </a:lnTo>
                    <a:lnTo>
                      <a:pt x="233" y="2145"/>
                    </a:lnTo>
                    <a:lnTo>
                      <a:pt x="205" y="2167"/>
                    </a:lnTo>
                    <a:lnTo>
                      <a:pt x="174" y="2181"/>
                    </a:lnTo>
                    <a:lnTo>
                      <a:pt x="138" y="2187"/>
                    </a:lnTo>
                    <a:lnTo>
                      <a:pt x="102" y="2181"/>
                    </a:lnTo>
                    <a:lnTo>
                      <a:pt x="68" y="2167"/>
                    </a:lnTo>
                    <a:lnTo>
                      <a:pt x="40" y="2145"/>
                    </a:lnTo>
                    <a:lnTo>
                      <a:pt x="20" y="2119"/>
                    </a:lnTo>
                    <a:lnTo>
                      <a:pt x="6" y="2085"/>
                    </a:lnTo>
                    <a:lnTo>
                      <a:pt x="0" y="2049"/>
                    </a:lnTo>
                    <a:lnTo>
                      <a:pt x="0" y="138"/>
                    </a:lnTo>
                    <a:lnTo>
                      <a:pt x="6" y="102"/>
                    </a:lnTo>
                    <a:lnTo>
                      <a:pt x="20" y="68"/>
                    </a:lnTo>
                    <a:lnTo>
                      <a:pt x="40" y="40"/>
                    </a:lnTo>
                    <a:lnTo>
                      <a:pt x="68" y="20"/>
                    </a:lnTo>
                    <a:lnTo>
                      <a:pt x="102" y="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59C6C194-D452-4B00-8CFC-3BBB9A211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507" y="1787291"/>
            <a:ext cx="2466009" cy="482575"/>
          </a:xfrm>
          <a:prstGeom prst="rect">
            <a:avLst/>
          </a:prstGeom>
        </p:spPr>
      </p:pic>
      <p:pic>
        <p:nvPicPr>
          <p:cNvPr id="90" name="Graphic 89" descr="Earth globe Africa and Europe">
            <a:extLst>
              <a:ext uri="{FF2B5EF4-FFF2-40B4-BE49-F238E27FC236}">
                <a16:creationId xmlns:a16="http://schemas.microsoft.com/office/drawing/2014/main" id="{2A959E07-ED9C-4B46-B58C-6CF83646B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33609" y="4016061"/>
            <a:ext cx="571529" cy="571529"/>
          </a:xfrm>
          <a:prstGeom prst="rect">
            <a:avLst/>
          </a:prstGeom>
        </p:spPr>
      </p:pic>
      <p:pic>
        <p:nvPicPr>
          <p:cNvPr id="103" name="Graphic 102" descr="Handshake">
            <a:extLst>
              <a:ext uri="{FF2B5EF4-FFF2-40B4-BE49-F238E27FC236}">
                <a16:creationId xmlns:a16="http://schemas.microsoft.com/office/drawing/2014/main" id="{8B880DD2-E4EE-4BDD-930F-1CC032080E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60295" y="1223661"/>
            <a:ext cx="609600" cy="6096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A5F96E0-2022-1A41-9FC0-A73FA0A50510}"/>
              </a:ext>
            </a:extLst>
          </p:cNvPr>
          <p:cNvSpPr/>
          <p:nvPr/>
        </p:nvSpPr>
        <p:spPr>
          <a:xfrm>
            <a:off x="136672" y="3937365"/>
            <a:ext cx="3591064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>
                <a:ln>
                  <a:noFill/>
                </a:ln>
                <a:solidFill>
                  <a:srgbClr val="3081AC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Segoe UI Light" panose="020B0502040204020203" pitchFamily="34" charset="0"/>
              </a:rPr>
              <a:t>Diversified &amp; Specialized 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8043A3-56D4-224B-B617-661003E19EB7}"/>
              </a:ext>
            </a:extLst>
          </p:cNvPr>
          <p:cNvGrpSpPr/>
          <p:nvPr/>
        </p:nvGrpSpPr>
        <p:grpSpPr>
          <a:xfrm>
            <a:off x="1920312" y="3276123"/>
            <a:ext cx="609600" cy="609600"/>
            <a:chOff x="9661236" y="4443381"/>
            <a:chExt cx="609600" cy="6096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315D17F-C0DD-164D-A355-C8DA009CB4A6}"/>
                </a:ext>
              </a:extLst>
            </p:cNvPr>
            <p:cNvSpPr/>
            <p:nvPr/>
          </p:nvSpPr>
          <p:spPr>
            <a:xfrm>
              <a:off x="9661236" y="4443381"/>
              <a:ext cx="609600" cy="609600"/>
            </a:xfrm>
            <a:prstGeom prst="ellipse">
              <a:avLst/>
            </a:prstGeom>
            <a:solidFill>
              <a:srgbClr val="3081A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323125D-6A2B-D84A-9E7C-C5ADEEB8198E}"/>
                </a:ext>
              </a:extLst>
            </p:cNvPr>
            <p:cNvGrpSpPr/>
            <p:nvPr/>
          </p:nvGrpSpPr>
          <p:grpSpPr>
            <a:xfrm>
              <a:off x="9828829" y="4611058"/>
              <a:ext cx="274414" cy="274246"/>
              <a:chOff x="7245351" y="146050"/>
              <a:chExt cx="5207000" cy="5203825"/>
            </a:xfrm>
            <a:solidFill>
              <a:sysClr val="window" lastClr="FFFFFF"/>
            </a:solidFill>
          </p:grpSpPr>
          <p:sp>
            <p:nvSpPr>
              <p:cNvPr id="50" name="Freeform 200">
                <a:extLst>
                  <a:ext uri="{FF2B5EF4-FFF2-40B4-BE49-F238E27FC236}">
                    <a16:creationId xmlns:a16="http://schemas.microsoft.com/office/drawing/2014/main" id="{F83E35AB-C08E-3B44-B78C-A138D41352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64751" y="2965450"/>
                <a:ext cx="2387600" cy="2384425"/>
              </a:xfrm>
              <a:custGeom>
                <a:avLst/>
                <a:gdLst>
                  <a:gd name="T0" fmla="*/ 2324 w 3008"/>
                  <a:gd name="T1" fmla="*/ 329 h 3004"/>
                  <a:gd name="T2" fmla="*/ 274 w 3008"/>
                  <a:gd name="T3" fmla="*/ 2378 h 3004"/>
                  <a:gd name="T4" fmla="*/ 274 w 3008"/>
                  <a:gd name="T5" fmla="*/ 2731 h 3004"/>
                  <a:gd name="T6" fmla="*/ 629 w 3008"/>
                  <a:gd name="T7" fmla="*/ 2731 h 3004"/>
                  <a:gd name="T8" fmla="*/ 2677 w 3008"/>
                  <a:gd name="T9" fmla="*/ 682 h 3004"/>
                  <a:gd name="T10" fmla="*/ 2324 w 3008"/>
                  <a:gd name="T11" fmla="*/ 329 h 3004"/>
                  <a:gd name="T12" fmla="*/ 2324 w 3008"/>
                  <a:gd name="T13" fmla="*/ 0 h 3004"/>
                  <a:gd name="T14" fmla="*/ 2360 w 3008"/>
                  <a:gd name="T15" fmla="*/ 4 h 3004"/>
                  <a:gd name="T16" fmla="*/ 2392 w 3008"/>
                  <a:gd name="T17" fmla="*/ 16 h 3004"/>
                  <a:gd name="T18" fmla="*/ 2422 w 3008"/>
                  <a:gd name="T19" fmla="*/ 40 h 3004"/>
                  <a:gd name="T20" fmla="*/ 2968 w 3008"/>
                  <a:gd name="T21" fmla="*/ 586 h 3004"/>
                  <a:gd name="T22" fmla="*/ 2990 w 3008"/>
                  <a:gd name="T23" fmla="*/ 614 h 3004"/>
                  <a:gd name="T24" fmla="*/ 3002 w 3008"/>
                  <a:gd name="T25" fmla="*/ 648 h 3004"/>
                  <a:gd name="T26" fmla="*/ 3008 w 3008"/>
                  <a:gd name="T27" fmla="*/ 682 h 3004"/>
                  <a:gd name="T28" fmla="*/ 3002 w 3008"/>
                  <a:gd name="T29" fmla="*/ 718 h 3004"/>
                  <a:gd name="T30" fmla="*/ 2990 w 3008"/>
                  <a:gd name="T31" fmla="*/ 750 h 3004"/>
                  <a:gd name="T32" fmla="*/ 2968 w 3008"/>
                  <a:gd name="T33" fmla="*/ 779 h 3004"/>
                  <a:gd name="T34" fmla="*/ 780 w 3008"/>
                  <a:gd name="T35" fmla="*/ 2964 h 3004"/>
                  <a:gd name="T36" fmla="*/ 752 w 3008"/>
                  <a:gd name="T37" fmla="*/ 2986 h 3004"/>
                  <a:gd name="T38" fmla="*/ 720 w 3008"/>
                  <a:gd name="T39" fmla="*/ 3000 h 3004"/>
                  <a:gd name="T40" fmla="*/ 684 w 3008"/>
                  <a:gd name="T41" fmla="*/ 3004 h 3004"/>
                  <a:gd name="T42" fmla="*/ 138 w 3008"/>
                  <a:gd name="T43" fmla="*/ 3004 h 3004"/>
                  <a:gd name="T44" fmla="*/ 102 w 3008"/>
                  <a:gd name="T45" fmla="*/ 3000 h 3004"/>
                  <a:gd name="T46" fmla="*/ 68 w 3008"/>
                  <a:gd name="T47" fmla="*/ 2986 h 3004"/>
                  <a:gd name="T48" fmla="*/ 42 w 3008"/>
                  <a:gd name="T49" fmla="*/ 2964 h 3004"/>
                  <a:gd name="T50" fmla="*/ 20 w 3008"/>
                  <a:gd name="T51" fmla="*/ 2936 h 3004"/>
                  <a:gd name="T52" fmla="*/ 6 w 3008"/>
                  <a:gd name="T53" fmla="*/ 2904 h 3004"/>
                  <a:gd name="T54" fmla="*/ 0 w 3008"/>
                  <a:gd name="T55" fmla="*/ 2867 h 3004"/>
                  <a:gd name="T56" fmla="*/ 0 w 3008"/>
                  <a:gd name="T57" fmla="*/ 2320 h 3004"/>
                  <a:gd name="T58" fmla="*/ 6 w 3008"/>
                  <a:gd name="T59" fmla="*/ 2286 h 3004"/>
                  <a:gd name="T60" fmla="*/ 20 w 3008"/>
                  <a:gd name="T61" fmla="*/ 2253 h 3004"/>
                  <a:gd name="T62" fmla="*/ 40 w 3008"/>
                  <a:gd name="T63" fmla="*/ 2225 h 3004"/>
                  <a:gd name="T64" fmla="*/ 2228 w 3008"/>
                  <a:gd name="T65" fmla="*/ 40 h 3004"/>
                  <a:gd name="T66" fmla="*/ 2256 w 3008"/>
                  <a:gd name="T67" fmla="*/ 16 h 3004"/>
                  <a:gd name="T68" fmla="*/ 2290 w 3008"/>
                  <a:gd name="T69" fmla="*/ 4 h 3004"/>
                  <a:gd name="T70" fmla="*/ 2324 w 3008"/>
                  <a:gd name="T71" fmla="*/ 0 h 3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08" h="3004">
                    <a:moveTo>
                      <a:pt x="2324" y="329"/>
                    </a:moveTo>
                    <a:lnTo>
                      <a:pt x="274" y="2378"/>
                    </a:lnTo>
                    <a:lnTo>
                      <a:pt x="274" y="2731"/>
                    </a:lnTo>
                    <a:lnTo>
                      <a:pt x="629" y="2731"/>
                    </a:lnTo>
                    <a:lnTo>
                      <a:pt x="2677" y="682"/>
                    </a:lnTo>
                    <a:lnTo>
                      <a:pt x="2324" y="329"/>
                    </a:lnTo>
                    <a:close/>
                    <a:moveTo>
                      <a:pt x="2324" y="0"/>
                    </a:moveTo>
                    <a:lnTo>
                      <a:pt x="2360" y="4"/>
                    </a:lnTo>
                    <a:lnTo>
                      <a:pt x="2392" y="16"/>
                    </a:lnTo>
                    <a:lnTo>
                      <a:pt x="2422" y="40"/>
                    </a:lnTo>
                    <a:lnTo>
                      <a:pt x="2968" y="586"/>
                    </a:lnTo>
                    <a:lnTo>
                      <a:pt x="2990" y="614"/>
                    </a:lnTo>
                    <a:lnTo>
                      <a:pt x="3002" y="648"/>
                    </a:lnTo>
                    <a:lnTo>
                      <a:pt x="3008" y="682"/>
                    </a:lnTo>
                    <a:lnTo>
                      <a:pt x="3002" y="718"/>
                    </a:lnTo>
                    <a:lnTo>
                      <a:pt x="2990" y="750"/>
                    </a:lnTo>
                    <a:lnTo>
                      <a:pt x="2968" y="779"/>
                    </a:lnTo>
                    <a:lnTo>
                      <a:pt x="780" y="2964"/>
                    </a:lnTo>
                    <a:lnTo>
                      <a:pt x="752" y="2986"/>
                    </a:lnTo>
                    <a:lnTo>
                      <a:pt x="720" y="3000"/>
                    </a:lnTo>
                    <a:lnTo>
                      <a:pt x="684" y="3004"/>
                    </a:lnTo>
                    <a:lnTo>
                      <a:pt x="138" y="3004"/>
                    </a:lnTo>
                    <a:lnTo>
                      <a:pt x="102" y="3000"/>
                    </a:lnTo>
                    <a:lnTo>
                      <a:pt x="68" y="2986"/>
                    </a:lnTo>
                    <a:lnTo>
                      <a:pt x="42" y="2964"/>
                    </a:lnTo>
                    <a:lnTo>
                      <a:pt x="20" y="2936"/>
                    </a:lnTo>
                    <a:lnTo>
                      <a:pt x="6" y="2904"/>
                    </a:lnTo>
                    <a:lnTo>
                      <a:pt x="0" y="2867"/>
                    </a:lnTo>
                    <a:lnTo>
                      <a:pt x="0" y="2320"/>
                    </a:lnTo>
                    <a:lnTo>
                      <a:pt x="6" y="2286"/>
                    </a:lnTo>
                    <a:lnTo>
                      <a:pt x="20" y="2253"/>
                    </a:lnTo>
                    <a:lnTo>
                      <a:pt x="40" y="2225"/>
                    </a:lnTo>
                    <a:lnTo>
                      <a:pt x="2228" y="40"/>
                    </a:lnTo>
                    <a:lnTo>
                      <a:pt x="2256" y="16"/>
                    </a:lnTo>
                    <a:lnTo>
                      <a:pt x="2290" y="4"/>
                    </a:lnTo>
                    <a:lnTo>
                      <a:pt x="23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Freeform 201">
                <a:extLst>
                  <a:ext uri="{FF2B5EF4-FFF2-40B4-BE49-F238E27FC236}">
                    <a16:creationId xmlns:a16="http://schemas.microsoft.com/office/drawing/2014/main" id="{D4079E2F-70B1-424F-A734-64DE48857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68088" y="3398838"/>
                <a:ext cx="650875" cy="650875"/>
              </a:xfrm>
              <a:custGeom>
                <a:avLst/>
                <a:gdLst>
                  <a:gd name="T0" fmla="*/ 135 w 820"/>
                  <a:gd name="T1" fmla="*/ 0 h 820"/>
                  <a:gd name="T2" fmla="*/ 169 w 820"/>
                  <a:gd name="T3" fmla="*/ 4 h 820"/>
                  <a:gd name="T4" fmla="*/ 203 w 820"/>
                  <a:gd name="T5" fmla="*/ 18 h 820"/>
                  <a:gd name="T6" fmla="*/ 231 w 820"/>
                  <a:gd name="T7" fmla="*/ 40 h 820"/>
                  <a:gd name="T8" fmla="*/ 780 w 820"/>
                  <a:gd name="T9" fmla="*/ 586 h 820"/>
                  <a:gd name="T10" fmla="*/ 802 w 820"/>
                  <a:gd name="T11" fmla="*/ 614 h 820"/>
                  <a:gd name="T12" fmla="*/ 814 w 820"/>
                  <a:gd name="T13" fmla="*/ 648 h 820"/>
                  <a:gd name="T14" fmla="*/ 820 w 820"/>
                  <a:gd name="T15" fmla="*/ 682 h 820"/>
                  <a:gd name="T16" fmla="*/ 814 w 820"/>
                  <a:gd name="T17" fmla="*/ 718 h 820"/>
                  <a:gd name="T18" fmla="*/ 802 w 820"/>
                  <a:gd name="T19" fmla="*/ 750 h 820"/>
                  <a:gd name="T20" fmla="*/ 780 w 820"/>
                  <a:gd name="T21" fmla="*/ 780 h 820"/>
                  <a:gd name="T22" fmla="*/ 750 w 820"/>
                  <a:gd name="T23" fmla="*/ 802 h 820"/>
                  <a:gd name="T24" fmla="*/ 718 w 820"/>
                  <a:gd name="T25" fmla="*/ 816 h 820"/>
                  <a:gd name="T26" fmla="*/ 682 w 820"/>
                  <a:gd name="T27" fmla="*/ 820 h 820"/>
                  <a:gd name="T28" fmla="*/ 648 w 820"/>
                  <a:gd name="T29" fmla="*/ 816 h 820"/>
                  <a:gd name="T30" fmla="*/ 614 w 820"/>
                  <a:gd name="T31" fmla="*/ 802 h 820"/>
                  <a:gd name="T32" fmla="*/ 586 w 820"/>
                  <a:gd name="T33" fmla="*/ 780 h 820"/>
                  <a:gd name="T34" fmla="*/ 40 w 820"/>
                  <a:gd name="T35" fmla="*/ 233 h 820"/>
                  <a:gd name="T36" fmla="*/ 16 w 820"/>
                  <a:gd name="T37" fmla="*/ 204 h 820"/>
                  <a:gd name="T38" fmla="*/ 4 w 820"/>
                  <a:gd name="T39" fmla="*/ 172 h 820"/>
                  <a:gd name="T40" fmla="*/ 0 w 820"/>
                  <a:gd name="T41" fmla="*/ 136 h 820"/>
                  <a:gd name="T42" fmla="*/ 4 w 820"/>
                  <a:gd name="T43" fmla="*/ 102 h 820"/>
                  <a:gd name="T44" fmla="*/ 16 w 820"/>
                  <a:gd name="T45" fmla="*/ 68 h 820"/>
                  <a:gd name="T46" fmla="*/ 40 w 820"/>
                  <a:gd name="T47" fmla="*/ 40 h 820"/>
                  <a:gd name="T48" fmla="*/ 68 w 820"/>
                  <a:gd name="T49" fmla="*/ 18 h 820"/>
                  <a:gd name="T50" fmla="*/ 101 w 820"/>
                  <a:gd name="T51" fmla="*/ 4 h 820"/>
                  <a:gd name="T52" fmla="*/ 135 w 820"/>
                  <a:gd name="T53" fmla="*/ 0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0" h="820">
                    <a:moveTo>
                      <a:pt x="135" y="0"/>
                    </a:moveTo>
                    <a:lnTo>
                      <a:pt x="169" y="4"/>
                    </a:lnTo>
                    <a:lnTo>
                      <a:pt x="203" y="18"/>
                    </a:lnTo>
                    <a:lnTo>
                      <a:pt x="231" y="40"/>
                    </a:lnTo>
                    <a:lnTo>
                      <a:pt x="780" y="586"/>
                    </a:lnTo>
                    <a:lnTo>
                      <a:pt x="802" y="614"/>
                    </a:lnTo>
                    <a:lnTo>
                      <a:pt x="814" y="648"/>
                    </a:lnTo>
                    <a:lnTo>
                      <a:pt x="820" y="682"/>
                    </a:lnTo>
                    <a:lnTo>
                      <a:pt x="814" y="718"/>
                    </a:lnTo>
                    <a:lnTo>
                      <a:pt x="802" y="750"/>
                    </a:lnTo>
                    <a:lnTo>
                      <a:pt x="780" y="780"/>
                    </a:lnTo>
                    <a:lnTo>
                      <a:pt x="750" y="802"/>
                    </a:lnTo>
                    <a:lnTo>
                      <a:pt x="718" y="816"/>
                    </a:lnTo>
                    <a:lnTo>
                      <a:pt x="682" y="820"/>
                    </a:lnTo>
                    <a:lnTo>
                      <a:pt x="648" y="816"/>
                    </a:lnTo>
                    <a:lnTo>
                      <a:pt x="614" y="802"/>
                    </a:lnTo>
                    <a:lnTo>
                      <a:pt x="586" y="780"/>
                    </a:lnTo>
                    <a:lnTo>
                      <a:pt x="40" y="233"/>
                    </a:lnTo>
                    <a:lnTo>
                      <a:pt x="16" y="204"/>
                    </a:lnTo>
                    <a:lnTo>
                      <a:pt x="4" y="172"/>
                    </a:lnTo>
                    <a:lnTo>
                      <a:pt x="0" y="136"/>
                    </a:lnTo>
                    <a:lnTo>
                      <a:pt x="4" y="102"/>
                    </a:lnTo>
                    <a:lnTo>
                      <a:pt x="16" y="68"/>
                    </a:lnTo>
                    <a:lnTo>
                      <a:pt x="40" y="40"/>
                    </a:lnTo>
                    <a:lnTo>
                      <a:pt x="68" y="18"/>
                    </a:lnTo>
                    <a:lnTo>
                      <a:pt x="101" y="4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202">
                <a:extLst>
                  <a:ext uri="{FF2B5EF4-FFF2-40B4-BE49-F238E27FC236}">
                    <a16:creationId xmlns:a16="http://schemas.microsoft.com/office/drawing/2014/main" id="{2E886BBB-6C7F-BF41-BA18-8FA11B2BC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5351" y="146050"/>
                <a:ext cx="3905250" cy="4770438"/>
              </a:xfrm>
              <a:custGeom>
                <a:avLst/>
                <a:gdLst>
                  <a:gd name="T0" fmla="*/ 1777 w 4921"/>
                  <a:gd name="T1" fmla="*/ 0 h 6010"/>
                  <a:gd name="T2" fmla="*/ 4783 w 4921"/>
                  <a:gd name="T3" fmla="*/ 0 h 6010"/>
                  <a:gd name="T4" fmla="*/ 4819 w 4921"/>
                  <a:gd name="T5" fmla="*/ 6 h 6010"/>
                  <a:gd name="T6" fmla="*/ 4853 w 4921"/>
                  <a:gd name="T7" fmla="*/ 20 h 6010"/>
                  <a:gd name="T8" fmla="*/ 4879 w 4921"/>
                  <a:gd name="T9" fmla="*/ 40 h 6010"/>
                  <a:gd name="T10" fmla="*/ 4901 w 4921"/>
                  <a:gd name="T11" fmla="*/ 68 h 6010"/>
                  <a:gd name="T12" fmla="*/ 4915 w 4921"/>
                  <a:gd name="T13" fmla="*/ 102 h 6010"/>
                  <a:gd name="T14" fmla="*/ 4921 w 4921"/>
                  <a:gd name="T15" fmla="*/ 138 h 6010"/>
                  <a:gd name="T16" fmla="*/ 4921 w 4921"/>
                  <a:gd name="T17" fmla="*/ 3961 h 6010"/>
                  <a:gd name="T18" fmla="*/ 4915 w 4921"/>
                  <a:gd name="T19" fmla="*/ 3997 h 6010"/>
                  <a:gd name="T20" fmla="*/ 4901 w 4921"/>
                  <a:gd name="T21" fmla="*/ 4031 h 6010"/>
                  <a:gd name="T22" fmla="*/ 4881 w 4921"/>
                  <a:gd name="T23" fmla="*/ 4058 h 6010"/>
                  <a:gd name="T24" fmla="*/ 4853 w 4921"/>
                  <a:gd name="T25" fmla="*/ 4078 h 6010"/>
                  <a:gd name="T26" fmla="*/ 4819 w 4921"/>
                  <a:gd name="T27" fmla="*/ 4092 h 6010"/>
                  <a:gd name="T28" fmla="*/ 4783 w 4921"/>
                  <a:gd name="T29" fmla="*/ 4098 h 6010"/>
                  <a:gd name="T30" fmla="*/ 4747 w 4921"/>
                  <a:gd name="T31" fmla="*/ 4092 h 6010"/>
                  <a:gd name="T32" fmla="*/ 4715 w 4921"/>
                  <a:gd name="T33" fmla="*/ 4078 h 6010"/>
                  <a:gd name="T34" fmla="*/ 4687 w 4921"/>
                  <a:gd name="T35" fmla="*/ 4058 h 6010"/>
                  <a:gd name="T36" fmla="*/ 4665 w 4921"/>
                  <a:gd name="T37" fmla="*/ 4031 h 6010"/>
                  <a:gd name="T38" fmla="*/ 4651 w 4921"/>
                  <a:gd name="T39" fmla="*/ 3997 h 6010"/>
                  <a:gd name="T40" fmla="*/ 4647 w 4921"/>
                  <a:gd name="T41" fmla="*/ 3961 h 6010"/>
                  <a:gd name="T42" fmla="*/ 4647 w 4921"/>
                  <a:gd name="T43" fmla="*/ 273 h 6010"/>
                  <a:gd name="T44" fmla="*/ 1833 w 4921"/>
                  <a:gd name="T45" fmla="*/ 273 h 6010"/>
                  <a:gd name="T46" fmla="*/ 273 w 4921"/>
                  <a:gd name="T47" fmla="*/ 1832 h 6010"/>
                  <a:gd name="T48" fmla="*/ 273 w 4921"/>
                  <a:gd name="T49" fmla="*/ 5737 h 6010"/>
                  <a:gd name="T50" fmla="*/ 3006 w 4921"/>
                  <a:gd name="T51" fmla="*/ 5737 h 6010"/>
                  <a:gd name="T52" fmla="*/ 3044 w 4921"/>
                  <a:gd name="T53" fmla="*/ 5741 h 6010"/>
                  <a:gd name="T54" fmla="*/ 3076 w 4921"/>
                  <a:gd name="T55" fmla="*/ 5755 h 6010"/>
                  <a:gd name="T56" fmla="*/ 3103 w 4921"/>
                  <a:gd name="T57" fmla="*/ 5777 h 6010"/>
                  <a:gd name="T58" fmla="*/ 3125 w 4921"/>
                  <a:gd name="T59" fmla="*/ 5805 h 6010"/>
                  <a:gd name="T60" fmla="*/ 3137 w 4921"/>
                  <a:gd name="T61" fmla="*/ 5836 h 6010"/>
                  <a:gd name="T62" fmla="*/ 3143 w 4921"/>
                  <a:gd name="T63" fmla="*/ 5872 h 6010"/>
                  <a:gd name="T64" fmla="*/ 3137 w 4921"/>
                  <a:gd name="T65" fmla="*/ 5910 h 6010"/>
                  <a:gd name="T66" fmla="*/ 3125 w 4921"/>
                  <a:gd name="T67" fmla="*/ 5942 h 6010"/>
                  <a:gd name="T68" fmla="*/ 3103 w 4921"/>
                  <a:gd name="T69" fmla="*/ 5970 h 6010"/>
                  <a:gd name="T70" fmla="*/ 3076 w 4921"/>
                  <a:gd name="T71" fmla="*/ 5992 h 6010"/>
                  <a:gd name="T72" fmla="*/ 3044 w 4921"/>
                  <a:gd name="T73" fmla="*/ 6004 h 6010"/>
                  <a:gd name="T74" fmla="*/ 3006 w 4921"/>
                  <a:gd name="T75" fmla="*/ 6010 h 6010"/>
                  <a:gd name="T76" fmla="*/ 138 w 4921"/>
                  <a:gd name="T77" fmla="*/ 6010 h 6010"/>
                  <a:gd name="T78" fmla="*/ 100 w 4921"/>
                  <a:gd name="T79" fmla="*/ 6004 h 6010"/>
                  <a:gd name="T80" fmla="*/ 68 w 4921"/>
                  <a:gd name="T81" fmla="*/ 5992 h 6010"/>
                  <a:gd name="T82" fmla="*/ 40 w 4921"/>
                  <a:gd name="T83" fmla="*/ 5970 h 6010"/>
                  <a:gd name="T84" fmla="*/ 18 w 4921"/>
                  <a:gd name="T85" fmla="*/ 5942 h 6010"/>
                  <a:gd name="T86" fmla="*/ 4 w 4921"/>
                  <a:gd name="T87" fmla="*/ 5910 h 6010"/>
                  <a:gd name="T88" fmla="*/ 0 w 4921"/>
                  <a:gd name="T89" fmla="*/ 5872 h 6010"/>
                  <a:gd name="T90" fmla="*/ 0 w 4921"/>
                  <a:gd name="T91" fmla="*/ 1776 h 6010"/>
                  <a:gd name="T92" fmla="*/ 4 w 4921"/>
                  <a:gd name="T93" fmla="*/ 1740 h 6010"/>
                  <a:gd name="T94" fmla="*/ 18 w 4921"/>
                  <a:gd name="T95" fmla="*/ 1708 h 6010"/>
                  <a:gd name="T96" fmla="*/ 40 w 4921"/>
                  <a:gd name="T97" fmla="*/ 1678 h 6010"/>
                  <a:gd name="T98" fmla="*/ 1679 w 4921"/>
                  <a:gd name="T99" fmla="*/ 40 h 6010"/>
                  <a:gd name="T100" fmla="*/ 1707 w 4921"/>
                  <a:gd name="T101" fmla="*/ 18 h 6010"/>
                  <a:gd name="T102" fmla="*/ 1741 w 4921"/>
                  <a:gd name="T103" fmla="*/ 6 h 6010"/>
                  <a:gd name="T104" fmla="*/ 1777 w 4921"/>
                  <a:gd name="T105" fmla="*/ 0 h 6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921" h="6010">
                    <a:moveTo>
                      <a:pt x="1777" y="0"/>
                    </a:moveTo>
                    <a:lnTo>
                      <a:pt x="4783" y="0"/>
                    </a:lnTo>
                    <a:lnTo>
                      <a:pt x="4819" y="6"/>
                    </a:lnTo>
                    <a:lnTo>
                      <a:pt x="4853" y="20"/>
                    </a:lnTo>
                    <a:lnTo>
                      <a:pt x="4879" y="40"/>
                    </a:lnTo>
                    <a:lnTo>
                      <a:pt x="4901" y="68"/>
                    </a:lnTo>
                    <a:lnTo>
                      <a:pt x="4915" y="102"/>
                    </a:lnTo>
                    <a:lnTo>
                      <a:pt x="4921" y="138"/>
                    </a:lnTo>
                    <a:lnTo>
                      <a:pt x="4921" y="3961"/>
                    </a:lnTo>
                    <a:lnTo>
                      <a:pt x="4915" y="3997"/>
                    </a:lnTo>
                    <a:lnTo>
                      <a:pt x="4901" y="4031"/>
                    </a:lnTo>
                    <a:lnTo>
                      <a:pt x="4881" y="4058"/>
                    </a:lnTo>
                    <a:lnTo>
                      <a:pt x="4853" y="4078"/>
                    </a:lnTo>
                    <a:lnTo>
                      <a:pt x="4819" y="4092"/>
                    </a:lnTo>
                    <a:lnTo>
                      <a:pt x="4783" y="4098"/>
                    </a:lnTo>
                    <a:lnTo>
                      <a:pt x="4747" y="4092"/>
                    </a:lnTo>
                    <a:lnTo>
                      <a:pt x="4715" y="4078"/>
                    </a:lnTo>
                    <a:lnTo>
                      <a:pt x="4687" y="4058"/>
                    </a:lnTo>
                    <a:lnTo>
                      <a:pt x="4665" y="4031"/>
                    </a:lnTo>
                    <a:lnTo>
                      <a:pt x="4651" y="3997"/>
                    </a:lnTo>
                    <a:lnTo>
                      <a:pt x="4647" y="3961"/>
                    </a:lnTo>
                    <a:lnTo>
                      <a:pt x="4647" y="273"/>
                    </a:lnTo>
                    <a:lnTo>
                      <a:pt x="1833" y="273"/>
                    </a:lnTo>
                    <a:lnTo>
                      <a:pt x="273" y="1832"/>
                    </a:lnTo>
                    <a:lnTo>
                      <a:pt x="273" y="5737"/>
                    </a:lnTo>
                    <a:lnTo>
                      <a:pt x="3006" y="5737"/>
                    </a:lnTo>
                    <a:lnTo>
                      <a:pt x="3044" y="5741"/>
                    </a:lnTo>
                    <a:lnTo>
                      <a:pt x="3076" y="5755"/>
                    </a:lnTo>
                    <a:lnTo>
                      <a:pt x="3103" y="5777"/>
                    </a:lnTo>
                    <a:lnTo>
                      <a:pt x="3125" y="5805"/>
                    </a:lnTo>
                    <a:lnTo>
                      <a:pt x="3137" y="5836"/>
                    </a:lnTo>
                    <a:lnTo>
                      <a:pt x="3143" y="5872"/>
                    </a:lnTo>
                    <a:lnTo>
                      <a:pt x="3137" y="5910"/>
                    </a:lnTo>
                    <a:lnTo>
                      <a:pt x="3125" y="5942"/>
                    </a:lnTo>
                    <a:lnTo>
                      <a:pt x="3103" y="5970"/>
                    </a:lnTo>
                    <a:lnTo>
                      <a:pt x="3076" y="5992"/>
                    </a:lnTo>
                    <a:lnTo>
                      <a:pt x="3044" y="6004"/>
                    </a:lnTo>
                    <a:lnTo>
                      <a:pt x="3006" y="6010"/>
                    </a:lnTo>
                    <a:lnTo>
                      <a:pt x="138" y="6010"/>
                    </a:lnTo>
                    <a:lnTo>
                      <a:pt x="100" y="6004"/>
                    </a:lnTo>
                    <a:lnTo>
                      <a:pt x="68" y="5992"/>
                    </a:lnTo>
                    <a:lnTo>
                      <a:pt x="40" y="5970"/>
                    </a:lnTo>
                    <a:lnTo>
                      <a:pt x="18" y="5942"/>
                    </a:lnTo>
                    <a:lnTo>
                      <a:pt x="4" y="5910"/>
                    </a:lnTo>
                    <a:lnTo>
                      <a:pt x="0" y="5872"/>
                    </a:lnTo>
                    <a:lnTo>
                      <a:pt x="0" y="1776"/>
                    </a:lnTo>
                    <a:lnTo>
                      <a:pt x="4" y="1740"/>
                    </a:lnTo>
                    <a:lnTo>
                      <a:pt x="18" y="1708"/>
                    </a:lnTo>
                    <a:lnTo>
                      <a:pt x="40" y="1678"/>
                    </a:lnTo>
                    <a:lnTo>
                      <a:pt x="1679" y="40"/>
                    </a:lnTo>
                    <a:lnTo>
                      <a:pt x="1707" y="18"/>
                    </a:lnTo>
                    <a:lnTo>
                      <a:pt x="1741" y="6"/>
                    </a:lnTo>
                    <a:lnTo>
                      <a:pt x="17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203">
                <a:extLst>
                  <a:ext uri="{FF2B5EF4-FFF2-40B4-BE49-F238E27FC236}">
                    <a16:creationId xmlns:a16="http://schemas.microsoft.com/office/drawing/2014/main" id="{833E73AD-3F02-3843-BBAE-BCD332681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5351" y="146050"/>
                <a:ext cx="1517650" cy="1517650"/>
              </a:xfrm>
              <a:custGeom>
                <a:avLst/>
                <a:gdLst>
                  <a:gd name="T0" fmla="*/ 1777 w 1913"/>
                  <a:gd name="T1" fmla="*/ 0 h 1912"/>
                  <a:gd name="T2" fmla="*/ 1813 w 1913"/>
                  <a:gd name="T3" fmla="*/ 6 h 1912"/>
                  <a:gd name="T4" fmla="*/ 1845 w 1913"/>
                  <a:gd name="T5" fmla="*/ 20 h 1912"/>
                  <a:gd name="T6" fmla="*/ 1873 w 1913"/>
                  <a:gd name="T7" fmla="*/ 40 h 1912"/>
                  <a:gd name="T8" fmla="*/ 1895 w 1913"/>
                  <a:gd name="T9" fmla="*/ 68 h 1912"/>
                  <a:gd name="T10" fmla="*/ 1909 w 1913"/>
                  <a:gd name="T11" fmla="*/ 102 h 1912"/>
                  <a:gd name="T12" fmla="*/ 1913 w 1913"/>
                  <a:gd name="T13" fmla="*/ 138 h 1912"/>
                  <a:gd name="T14" fmla="*/ 1913 w 1913"/>
                  <a:gd name="T15" fmla="*/ 1776 h 1912"/>
                  <a:gd name="T16" fmla="*/ 1909 w 1913"/>
                  <a:gd name="T17" fmla="*/ 1812 h 1912"/>
                  <a:gd name="T18" fmla="*/ 1895 w 1913"/>
                  <a:gd name="T19" fmla="*/ 1844 h 1912"/>
                  <a:gd name="T20" fmla="*/ 1873 w 1913"/>
                  <a:gd name="T21" fmla="*/ 1872 h 1912"/>
                  <a:gd name="T22" fmla="*/ 1845 w 1913"/>
                  <a:gd name="T23" fmla="*/ 1894 h 1912"/>
                  <a:gd name="T24" fmla="*/ 1813 w 1913"/>
                  <a:gd name="T25" fmla="*/ 1908 h 1912"/>
                  <a:gd name="T26" fmla="*/ 1777 w 1913"/>
                  <a:gd name="T27" fmla="*/ 1912 h 1912"/>
                  <a:gd name="T28" fmla="*/ 138 w 1913"/>
                  <a:gd name="T29" fmla="*/ 1912 h 1912"/>
                  <a:gd name="T30" fmla="*/ 100 w 1913"/>
                  <a:gd name="T31" fmla="*/ 1908 h 1912"/>
                  <a:gd name="T32" fmla="*/ 68 w 1913"/>
                  <a:gd name="T33" fmla="*/ 1894 h 1912"/>
                  <a:gd name="T34" fmla="*/ 40 w 1913"/>
                  <a:gd name="T35" fmla="*/ 1872 h 1912"/>
                  <a:gd name="T36" fmla="*/ 18 w 1913"/>
                  <a:gd name="T37" fmla="*/ 1844 h 1912"/>
                  <a:gd name="T38" fmla="*/ 4 w 1913"/>
                  <a:gd name="T39" fmla="*/ 1812 h 1912"/>
                  <a:gd name="T40" fmla="*/ 0 w 1913"/>
                  <a:gd name="T41" fmla="*/ 1776 h 1912"/>
                  <a:gd name="T42" fmla="*/ 4 w 1913"/>
                  <a:gd name="T43" fmla="*/ 1740 h 1912"/>
                  <a:gd name="T44" fmla="*/ 18 w 1913"/>
                  <a:gd name="T45" fmla="*/ 1706 h 1912"/>
                  <a:gd name="T46" fmla="*/ 40 w 1913"/>
                  <a:gd name="T47" fmla="*/ 1678 h 1912"/>
                  <a:gd name="T48" fmla="*/ 68 w 1913"/>
                  <a:gd name="T49" fmla="*/ 1658 h 1912"/>
                  <a:gd name="T50" fmla="*/ 100 w 1913"/>
                  <a:gd name="T51" fmla="*/ 1644 h 1912"/>
                  <a:gd name="T52" fmla="*/ 138 w 1913"/>
                  <a:gd name="T53" fmla="*/ 1639 h 1912"/>
                  <a:gd name="T54" fmla="*/ 1640 w 1913"/>
                  <a:gd name="T55" fmla="*/ 1639 h 1912"/>
                  <a:gd name="T56" fmla="*/ 1640 w 1913"/>
                  <a:gd name="T57" fmla="*/ 138 h 1912"/>
                  <a:gd name="T58" fmla="*/ 1645 w 1913"/>
                  <a:gd name="T59" fmla="*/ 102 h 1912"/>
                  <a:gd name="T60" fmla="*/ 1659 w 1913"/>
                  <a:gd name="T61" fmla="*/ 68 h 1912"/>
                  <a:gd name="T62" fmla="*/ 1679 w 1913"/>
                  <a:gd name="T63" fmla="*/ 40 h 1912"/>
                  <a:gd name="T64" fmla="*/ 1707 w 1913"/>
                  <a:gd name="T65" fmla="*/ 20 h 1912"/>
                  <a:gd name="T66" fmla="*/ 1741 w 1913"/>
                  <a:gd name="T67" fmla="*/ 6 h 1912"/>
                  <a:gd name="T68" fmla="*/ 1777 w 1913"/>
                  <a:gd name="T69" fmla="*/ 0 h 1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913" h="1912">
                    <a:moveTo>
                      <a:pt x="1777" y="0"/>
                    </a:moveTo>
                    <a:lnTo>
                      <a:pt x="1813" y="6"/>
                    </a:lnTo>
                    <a:lnTo>
                      <a:pt x="1845" y="20"/>
                    </a:lnTo>
                    <a:lnTo>
                      <a:pt x="1873" y="40"/>
                    </a:lnTo>
                    <a:lnTo>
                      <a:pt x="1895" y="68"/>
                    </a:lnTo>
                    <a:lnTo>
                      <a:pt x="1909" y="102"/>
                    </a:lnTo>
                    <a:lnTo>
                      <a:pt x="1913" y="138"/>
                    </a:lnTo>
                    <a:lnTo>
                      <a:pt x="1913" y="1776"/>
                    </a:lnTo>
                    <a:lnTo>
                      <a:pt x="1909" y="1812"/>
                    </a:lnTo>
                    <a:lnTo>
                      <a:pt x="1895" y="1844"/>
                    </a:lnTo>
                    <a:lnTo>
                      <a:pt x="1873" y="1872"/>
                    </a:lnTo>
                    <a:lnTo>
                      <a:pt x="1845" y="1894"/>
                    </a:lnTo>
                    <a:lnTo>
                      <a:pt x="1813" y="1908"/>
                    </a:lnTo>
                    <a:lnTo>
                      <a:pt x="1777" y="1912"/>
                    </a:lnTo>
                    <a:lnTo>
                      <a:pt x="138" y="1912"/>
                    </a:lnTo>
                    <a:lnTo>
                      <a:pt x="100" y="1908"/>
                    </a:lnTo>
                    <a:lnTo>
                      <a:pt x="68" y="1894"/>
                    </a:lnTo>
                    <a:lnTo>
                      <a:pt x="40" y="1872"/>
                    </a:lnTo>
                    <a:lnTo>
                      <a:pt x="18" y="1844"/>
                    </a:lnTo>
                    <a:lnTo>
                      <a:pt x="4" y="1812"/>
                    </a:lnTo>
                    <a:lnTo>
                      <a:pt x="0" y="1776"/>
                    </a:lnTo>
                    <a:lnTo>
                      <a:pt x="4" y="1740"/>
                    </a:lnTo>
                    <a:lnTo>
                      <a:pt x="18" y="1706"/>
                    </a:lnTo>
                    <a:lnTo>
                      <a:pt x="40" y="1678"/>
                    </a:lnTo>
                    <a:lnTo>
                      <a:pt x="68" y="1658"/>
                    </a:lnTo>
                    <a:lnTo>
                      <a:pt x="100" y="1644"/>
                    </a:lnTo>
                    <a:lnTo>
                      <a:pt x="138" y="1639"/>
                    </a:lnTo>
                    <a:lnTo>
                      <a:pt x="1640" y="1639"/>
                    </a:lnTo>
                    <a:lnTo>
                      <a:pt x="1640" y="138"/>
                    </a:lnTo>
                    <a:lnTo>
                      <a:pt x="1645" y="102"/>
                    </a:lnTo>
                    <a:lnTo>
                      <a:pt x="1659" y="68"/>
                    </a:lnTo>
                    <a:lnTo>
                      <a:pt x="1679" y="40"/>
                    </a:lnTo>
                    <a:lnTo>
                      <a:pt x="1707" y="20"/>
                    </a:lnTo>
                    <a:lnTo>
                      <a:pt x="1741" y="6"/>
                    </a:lnTo>
                    <a:lnTo>
                      <a:pt x="17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204">
                <a:extLst>
                  <a:ext uri="{FF2B5EF4-FFF2-40B4-BE49-F238E27FC236}">
                    <a16:creationId xmlns:a16="http://schemas.microsoft.com/office/drawing/2014/main" id="{4D92CE3B-20E4-984A-B171-9574ACCC6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876" y="1012825"/>
                <a:ext cx="1084263" cy="1301750"/>
              </a:xfrm>
              <a:custGeom>
                <a:avLst/>
                <a:gdLst>
                  <a:gd name="T0" fmla="*/ 859 w 1366"/>
                  <a:gd name="T1" fmla="*/ 16 h 1641"/>
                  <a:gd name="T2" fmla="*/ 1087 w 1366"/>
                  <a:gd name="T3" fmla="*/ 90 h 1641"/>
                  <a:gd name="T4" fmla="*/ 1258 w 1366"/>
                  <a:gd name="T5" fmla="*/ 216 h 1641"/>
                  <a:gd name="T6" fmla="*/ 1354 w 1366"/>
                  <a:gd name="T7" fmla="*/ 381 h 1641"/>
                  <a:gd name="T8" fmla="*/ 1354 w 1366"/>
                  <a:gd name="T9" fmla="*/ 515 h 1641"/>
                  <a:gd name="T10" fmla="*/ 1280 w 1366"/>
                  <a:gd name="T11" fmla="*/ 584 h 1641"/>
                  <a:gd name="T12" fmla="*/ 1172 w 1366"/>
                  <a:gd name="T13" fmla="*/ 580 h 1641"/>
                  <a:gd name="T14" fmla="*/ 1102 w 1366"/>
                  <a:gd name="T15" fmla="*/ 507 h 1641"/>
                  <a:gd name="T16" fmla="*/ 1065 w 1366"/>
                  <a:gd name="T17" fmla="*/ 409 h 1641"/>
                  <a:gd name="T18" fmla="*/ 947 w 1366"/>
                  <a:gd name="T19" fmla="*/ 325 h 1641"/>
                  <a:gd name="T20" fmla="*/ 757 w 1366"/>
                  <a:gd name="T21" fmla="*/ 277 h 1641"/>
                  <a:gd name="T22" fmla="*/ 538 w 1366"/>
                  <a:gd name="T23" fmla="*/ 289 h 1641"/>
                  <a:gd name="T24" fmla="*/ 369 w 1366"/>
                  <a:gd name="T25" fmla="*/ 355 h 1641"/>
                  <a:gd name="T26" fmla="*/ 281 w 1366"/>
                  <a:gd name="T27" fmla="*/ 447 h 1641"/>
                  <a:gd name="T28" fmla="*/ 281 w 1366"/>
                  <a:gd name="T29" fmla="*/ 517 h 1641"/>
                  <a:gd name="T30" fmla="*/ 335 w 1366"/>
                  <a:gd name="T31" fmla="*/ 574 h 1641"/>
                  <a:gd name="T32" fmla="*/ 458 w 1366"/>
                  <a:gd name="T33" fmla="*/ 632 h 1641"/>
                  <a:gd name="T34" fmla="*/ 678 w 1366"/>
                  <a:gd name="T35" fmla="*/ 682 h 1641"/>
                  <a:gd name="T36" fmla="*/ 690 w 1366"/>
                  <a:gd name="T37" fmla="*/ 684 h 1641"/>
                  <a:gd name="T38" fmla="*/ 706 w 1366"/>
                  <a:gd name="T39" fmla="*/ 686 h 1641"/>
                  <a:gd name="T40" fmla="*/ 777 w 1366"/>
                  <a:gd name="T41" fmla="*/ 698 h 1641"/>
                  <a:gd name="T42" fmla="*/ 911 w 1366"/>
                  <a:gd name="T43" fmla="*/ 726 h 1641"/>
                  <a:gd name="T44" fmla="*/ 1057 w 1366"/>
                  <a:gd name="T45" fmla="*/ 772 h 1641"/>
                  <a:gd name="T46" fmla="*/ 1196 w 1366"/>
                  <a:gd name="T47" fmla="*/ 846 h 1641"/>
                  <a:gd name="T48" fmla="*/ 1304 w 1366"/>
                  <a:gd name="T49" fmla="*/ 953 h 1641"/>
                  <a:gd name="T50" fmla="*/ 1362 w 1366"/>
                  <a:gd name="T51" fmla="*/ 1103 h 1641"/>
                  <a:gd name="T52" fmla="*/ 1342 w 1366"/>
                  <a:gd name="T53" fmla="*/ 1290 h 1641"/>
                  <a:gd name="T54" fmla="*/ 1226 w 1366"/>
                  <a:gd name="T55" fmla="*/ 1455 h 1641"/>
                  <a:gd name="T56" fmla="*/ 1031 w 1366"/>
                  <a:gd name="T57" fmla="*/ 1575 h 1641"/>
                  <a:gd name="T58" fmla="*/ 777 w 1366"/>
                  <a:gd name="T59" fmla="*/ 1635 h 1641"/>
                  <a:gd name="T60" fmla="*/ 508 w 1366"/>
                  <a:gd name="T61" fmla="*/ 1625 h 1641"/>
                  <a:gd name="T62" fmla="*/ 279 w 1366"/>
                  <a:gd name="T63" fmla="*/ 1549 h 1641"/>
                  <a:gd name="T64" fmla="*/ 109 w 1366"/>
                  <a:gd name="T65" fmla="*/ 1424 h 1641"/>
                  <a:gd name="T66" fmla="*/ 13 w 1366"/>
                  <a:gd name="T67" fmla="*/ 1258 h 1641"/>
                  <a:gd name="T68" fmla="*/ 13 w 1366"/>
                  <a:gd name="T69" fmla="*/ 1127 h 1641"/>
                  <a:gd name="T70" fmla="*/ 87 w 1366"/>
                  <a:gd name="T71" fmla="*/ 1057 h 1641"/>
                  <a:gd name="T72" fmla="*/ 195 w 1366"/>
                  <a:gd name="T73" fmla="*/ 1061 h 1641"/>
                  <a:gd name="T74" fmla="*/ 265 w 1366"/>
                  <a:gd name="T75" fmla="*/ 1135 h 1641"/>
                  <a:gd name="T76" fmla="*/ 303 w 1366"/>
                  <a:gd name="T77" fmla="*/ 1232 h 1641"/>
                  <a:gd name="T78" fmla="*/ 420 w 1366"/>
                  <a:gd name="T79" fmla="*/ 1316 h 1641"/>
                  <a:gd name="T80" fmla="*/ 608 w 1366"/>
                  <a:gd name="T81" fmla="*/ 1364 h 1641"/>
                  <a:gd name="T82" fmla="*/ 827 w 1366"/>
                  <a:gd name="T83" fmla="*/ 1352 h 1641"/>
                  <a:gd name="T84" fmla="*/ 999 w 1366"/>
                  <a:gd name="T85" fmla="*/ 1286 h 1641"/>
                  <a:gd name="T86" fmla="*/ 1087 w 1366"/>
                  <a:gd name="T87" fmla="*/ 1194 h 1641"/>
                  <a:gd name="T88" fmla="*/ 1085 w 1366"/>
                  <a:gd name="T89" fmla="*/ 1125 h 1641"/>
                  <a:gd name="T90" fmla="*/ 1033 w 1366"/>
                  <a:gd name="T91" fmla="*/ 1067 h 1641"/>
                  <a:gd name="T92" fmla="*/ 907 w 1366"/>
                  <a:gd name="T93" fmla="*/ 1009 h 1641"/>
                  <a:gd name="T94" fmla="*/ 690 w 1366"/>
                  <a:gd name="T95" fmla="*/ 959 h 1641"/>
                  <a:gd name="T96" fmla="*/ 678 w 1366"/>
                  <a:gd name="T97" fmla="*/ 957 h 1641"/>
                  <a:gd name="T98" fmla="*/ 662 w 1366"/>
                  <a:gd name="T99" fmla="*/ 955 h 1641"/>
                  <a:gd name="T100" fmla="*/ 590 w 1366"/>
                  <a:gd name="T101" fmla="*/ 943 h 1641"/>
                  <a:gd name="T102" fmla="*/ 456 w 1366"/>
                  <a:gd name="T103" fmla="*/ 915 h 1641"/>
                  <a:gd name="T104" fmla="*/ 311 w 1366"/>
                  <a:gd name="T105" fmla="*/ 869 h 1641"/>
                  <a:gd name="T106" fmla="*/ 171 w 1366"/>
                  <a:gd name="T107" fmla="*/ 794 h 1641"/>
                  <a:gd name="T108" fmla="*/ 63 w 1366"/>
                  <a:gd name="T109" fmla="*/ 686 h 1641"/>
                  <a:gd name="T110" fmla="*/ 4 w 1366"/>
                  <a:gd name="T111" fmla="*/ 539 h 1641"/>
                  <a:gd name="T112" fmla="*/ 23 w 1366"/>
                  <a:gd name="T113" fmla="*/ 351 h 1641"/>
                  <a:gd name="T114" fmla="*/ 141 w 1366"/>
                  <a:gd name="T115" fmla="*/ 186 h 1641"/>
                  <a:gd name="T116" fmla="*/ 337 w 1366"/>
                  <a:gd name="T117" fmla="*/ 66 h 1641"/>
                  <a:gd name="T118" fmla="*/ 590 w 1366"/>
                  <a:gd name="T119" fmla="*/ 4 h 1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66" h="1641">
                    <a:moveTo>
                      <a:pt x="684" y="0"/>
                    </a:moveTo>
                    <a:lnTo>
                      <a:pt x="773" y="4"/>
                    </a:lnTo>
                    <a:lnTo>
                      <a:pt x="859" y="16"/>
                    </a:lnTo>
                    <a:lnTo>
                      <a:pt x="941" y="34"/>
                    </a:lnTo>
                    <a:lnTo>
                      <a:pt x="1017" y="60"/>
                    </a:lnTo>
                    <a:lnTo>
                      <a:pt x="1087" y="90"/>
                    </a:lnTo>
                    <a:lnTo>
                      <a:pt x="1152" y="128"/>
                    </a:lnTo>
                    <a:lnTo>
                      <a:pt x="1208" y="170"/>
                    </a:lnTo>
                    <a:lnTo>
                      <a:pt x="1258" y="216"/>
                    </a:lnTo>
                    <a:lnTo>
                      <a:pt x="1300" y="267"/>
                    </a:lnTo>
                    <a:lnTo>
                      <a:pt x="1332" y="323"/>
                    </a:lnTo>
                    <a:lnTo>
                      <a:pt x="1354" y="381"/>
                    </a:lnTo>
                    <a:lnTo>
                      <a:pt x="1366" y="443"/>
                    </a:lnTo>
                    <a:lnTo>
                      <a:pt x="1364" y="481"/>
                    </a:lnTo>
                    <a:lnTo>
                      <a:pt x="1354" y="515"/>
                    </a:lnTo>
                    <a:lnTo>
                      <a:pt x="1336" y="545"/>
                    </a:lnTo>
                    <a:lnTo>
                      <a:pt x="1310" y="568"/>
                    </a:lnTo>
                    <a:lnTo>
                      <a:pt x="1280" y="584"/>
                    </a:lnTo>
                    <a:lnTo>
                      <a:pt x="1244" y="592"/>
                    </a:lnTo>
                    <a:lnTo>
                      <a:pt x="1206" y="592"/>
                    </a:lnTo>
                    <a:lnTo>
                      <a:pt x="1172" y="580"/>
                    </a:lnTo>
                    <a:lnTo>
                      <a:pt x="1144" y="562"/>
                    </a:lnTo>
                    <a:lnTo>
                      <a:pt x="1120" y="539"/>
                    </a:lnTo>
                    <a:lnTo>
                      <a:pt x="1102" y="507"/>
                    </a:lnTo>
                    <a:lnTo>
                      <a:pt x="1095" y="471"/>
                    </a:lnTo>
                    <a:lnTo>
                      <a:pt x="1085" y="439"/>
                    </a:lnTo>
                    <a:lnTo>
                      <a:pt x="1065" y="409"/>
                    </a:lnTo>
                    <a:lnTo>
                      <a:pt x="1035" y="379"/>
                    </a:lnTo>
                    <a:lnTo>
                      <a:pt x="995" y="351"/>
                    </a:lnTo>
                    <a:lnTo>
                      <a:pt x="947" y="325"/>
                    </a:lnTo>
                    <a:lnTo>
                      <a:pt x="891" y="305"/>
                    </a:lnTo>
                    <a:lnTo>
                      <a:pt x="827" y="287"/>
                    </a:lnTo>
                    <a:lnTo>
                      <a:pt x="757" y="277"/>
                    </a:lnTo>
                    <a:lnTo>
                      <a:pt x="684" y="273"/>
                    </a:lnTo>
                    <a:lnTo>
                      <a:pt x="608" y="277"/>
                    </a:lnTo>
                    <a:lnTo>
                      <a:pt x="538" y="289"/>
                    </a:lnTo>
                    <a:lnTo>
                      <a:pt x="474" y="305"/>
                    </a:lnTo>
                    <a:lnTo>
                      <a:pt x="418" y="329"/>
                    </a:lnTo>
                    <a:lnTo>
                      <a:pt x="369" y="355"/>
                    </a:lnTo>
                    <a:lnTo>
                      <a:pt x="329" y="383"/>
                    </a:lnTo>
                    <a:lnTo>
                      <a:pt x="299" y="415"/>
                    </a:lnTo>
                    <a:lnTo>
                      <a:pt x="281" y="447"/>
                    </a:lnTo>
                    <a:lnTo>
                      <a:pt x="273" y="479"/>
                    </a:lnTo>
                    <a:lnTo>
                      <a:pt x="275" y="497"/>
                    </a:lnTo>
                    <a:lnTo>
                      <a:pt x="281" y="517"/>
                    </a:lnTo>
                    <a:lnTo>
                      <a:pt x="293" y="535"/>
                    </a:lnTo>
                    <a:lnTo>
                      <a:pt x="311" y="554"/>
                    </a:lnTo>
                    <a:lnTo>
                      <a:pt x="335" y="574"/>
                    </a:lnTo>
                    <a:lnTo>
                      <a:pt x="367" y="594"/>
                    </a:lnTo>
                    <a:lnTo>
                      <a:pt x="408" y="614"/>
                    </a:lnTo>
                    <a:lnTo>
                      <a:pt x="458" y="632"/>
                    </a:lnTo>
                    <a:lnTo>
                      <a:pt x="520" y="650"/>
                    </a:lnTo>
                    <a:lnTo>
                      <a:pt x="594" y="666"/>
                    </a:lnTo>
                    <a:lnTo>
                      <a:pt x="678" y="682"/>
                    </a:lnTo>
                    <a:lnTo>
                      <a:pt x="680" y="682"/>
                    </a:lnTo>
                    <a:lnTo>
                      <a:pt x="684" y="682"/>
                    </a:lnTo>
                    <a:lnTo>
                      <a:pt x="690" y="684"/>
                    </a:lnTo>
                    <a:lnTo>
                      <a:pt x="696" y="684"/>
                    </a:lnTo>
                    <a:lnTo>
                      <a:pt x="702" y="686"/>
                    </a:lnTo>
                    <a:lnTo>
                      <a:pt x="706" y="686"/>
                    </a:lnTo>
                    <a:lnTo>
                      <a:pt x="708" y="686"/>
                    </a:lnTo>
                    <a:lnTo>
                      <a:pt x="739" y="692"/>
                    </a:lnTo>
                    <a:lnTo>
                      <a:pt x="777" y="698"/>
                    </a:lnTo>
                    <a:lnTo>
                      <a:pt x="819" y="704"/>
                    </a:lnTo>
                    <a:lnTo>
                      <a:pt x="863" y="714"/>
                    </a:lnTo>
                    <a:lnTo>
                      <a:pt x="911" y="726"/>
                    </a:lnTo>
                    <a:lnTo>
                      <a:pt x="959" y="738"/>
                    </a:lnTo>
                    <a:lnTo>
                      <a:pt x="1009" y="754"/>
                    </a:lnTo>
                    <a:lnTo>
                      <a:pt x="1057" y="772"/>
                    </a:lnTo>
                    <a:lnTo>
                      <a:pt x="1104" y="794"/>
                    </a:lnTo>
                    <a:lnTo>
                      <a:pt x="1150" y="818"/>
                    </a:lnTo>
                    <a:lnTo>
                      <a:pt x="1196" y="846"/>
                    </a:lnTo>
                    <a:lnTo>
                      <a:pt x="1236" y="877"/>
                    </a:lnTo>
                    <a:lnTo>
                      <a:pt x="1272" y="913"/>
                    </a:lnTo>
                    <a:lnTo>
                      <a:pt x="1304" y="953"/>
                    </a:lnTo>
                    <a:lnTo>
                      <a:pt x="1330" y="999"/>
                    </a:lnTo>
                    <a:lnTo>
                      <a:pt x="1350" y="1047"/>
                    </a:lnTo>
                    <a:lnTo>
                      <a:pt x="1362" y="1103"/>
                    </a:lnTo>
                    <a:lnTo>
                      <a:pt x="1366" y="1162"/>
                    </a:lnTo>
                    <a:lnTo>
                      <a:pt x="1360" y="1228"/>
                    </a:lnTo>
                    <a:lnTo>
                      <a:pt x="1342" y="1290"/>
                    </a:lnTo>
                    <a:lnTo>
                      <a:pt x="1314" y="1350"/>
                    </a:lnTo>
                    <a:lnTo>
                      <a:pt x="1274" y="1406"/>
                    </a:lnTo>
                    <a:lnTo>
                      <a:pt x="1226" y="1455"/>
                    </a:lnTo>
                    <a:lnTo>
                      <a:pt x="1168" y="1501"/>
                    </a:lnTo>
                    <a:lnTo>
                      <a:pt x="1102" y="1541"/>
                    </a:lnTo>
                    <a:lnTo>
                      <a:pt x="1031" y="1575"/>
                    </a:lnTo>
                    <a:lnTo>
                      <a:pt x="951" y="1603"/>
                    </a:lnTo>
                    <a:lnTo>
                      <a:pt x="867" y="1623"/>
                    </a:lnTo>
                    <a:lnTo>
                      <a:pt x="777" y="1635"/>
                    </a:lnTo>
                    <a:lnTo>
                      <a:pt x="684" y="1641"/>
                    </a:lnTo>
                    <a:lnTo>
                      <a:pt x="594" y="1637"/>
                    </a:lnTo>
                    <a:lnTo>
                      <a:pt x="508" y="1625"/>
                    </a:lnTo>
                    <a:lnTo>
                      <a:pt x="426" y="1607"/>
                    </a:lnTo>
                    <a:lnTo>
                      <a:pt x="351" y="1581"/>
                    </a:lnTo>
                    <a:lnTo>
                      <a:pt x="279" y="1549"/>
                    </a:lnTo>
                    <a:lnTo>
                      <a:pt x="215" y="1513"/>
                    </a:lnTo>
                    <a:lnTo>
                      <a:pt x="157" y="1471"/>
                    </a:lnTo>
                    <a:lnTo>
                      <a:pt x="109" y="1424"/>
                    </a:lnTo>
                    <a:lnTo>
                      <a:pt x="67" y="1374"/>
                    </a:lnTo>
                    <a:lnTo>
                      <a:pt x="35" y="1318"/>
                    </a:lnTo>
                    <a:lnTo>
                      <a:pt x="13" y="1258"/>
                    </a:lnTo>
                    <a:lnTo>
                      <a:pt x="2" y="1198"/>
                    </a:lnTo>
                    <a:lnTo>
                      <a:pt x="2" y="1160"/>
                    </a:lnTo>
                    <a:lnTo>
                      <a:pt x="13" y="1127"/>
                    </a:lnTo>
                    <a:lnTo>
                      <a:pt x="31" y="1097"/>
                    </a:lnTo>
                    <a:lnTo>
                      <a:pt x="57" y="1073"/>
                    </a:lnTo>
                    <a:lnTo>
                      <a:pt x="87" y="1057"/>
                    </a:lnTo>
                    <a:lnTo>
                      <a:pt x="123" y="1047"/>
                    </a:lnTo>
                    <a:lnTo>
                      <a:pt x="161" y="1049"/>
                    </a:lnTo>
                    <a:lnTo>
                      <a:pt x="195" y="1061"/>
                    </a:lnTo>
                    <a:lnTo>
                      <a:pt x="225" y="1079"/>
                    </a:lnTo>
                    <a:lnTo>
                      <a:pt x="249" y="1103"/>
                    </a:lnTo>
                    <a:lnTo>
                      <a:pt x="265" y="1135"/>
                    </a:lnTo>
                    <a:lnTo>
                      <a:pt x="273" y="1170"/>
                    </a:lnTo>
                    <a:lnTo>
                      <a:pt x="283" y="1200"/>
                    </a:lnTo>
                    <a:lnTo>
                      <a:pt x="303" y="1232"/>
                    </a:lnTo>
                    <a:lnTo>
                      <a:pt x="333" y="1262"/>
                    </a:lnTo>
                    <a:lnTo>
                      <a:pt x="372" y="1290"/>
                    </a:lnTo>
                    <a:lnTo>
                      <a:pt x="420" y="1316"/>
                    </a:lnTo>
                    <a:lnTo>
                      <a:pt x="476" y="1336"/>
                    </a:lnTo>
                    <a:lnTo>
                      <a:pt x="540" y="1352"/>
                    </a:lnTo>
                    <a:lnTo>
                      <a:pt x="608" y="1364"/>
                    </a:lnTo>
                    <a:lnTo>
                      <a:pt x="684" y="1366"/>
                    </a:lnTo>
                    <a:lnTo>
                      <a:pt x="757" y="1364"/>
                    </a:lnTo>
                    <a:lnTo>
                      <a:pt x="827" y="1352"/>
                    </a:lnTo>
                    <a:lnTo>
                      <a:pt x="893" y="1334"/>
                    </a:lnTo>
                    <a:lnTo>
                      <a:pt x="949" y="1312"/>
                    </a:lnTo>
                    <a:lnTo>
                      <a:pt x="999" y="1286"/>
                    </a:lnTo>
                    <a:lnTo>
                      <a:pt x="1039" y="1256"/>
                    </a:lnTo>
                    <a:lnTo>
                      <a:pt x="1069" y="1226"/>
                    </a:lnTo>
                    <a:lnTo>
                      <a:pt x="1087" y="1194"/>
                    </a:lnTo>
                    <a:lnTo>
                      <a:pt x="1093" y="1162"/>
                    </a:lnTo>
                    <a:lnTo>
                      <a:pt x="1093" y="1145"/>
                    </a:lnTo>
                    <a:lnTo>
                      <a:pt x="1085" y="1125"/>
                    </a:lnTo>
                    <a:lnTo>
                      <a:pt x="1075" y="1105"/>
                    </a:lnTo>
                    <a:lnTo>
                      <a:pt x="1057" y="1087"/>
                    </a:lnTo>
                    <a:lnTo>
                      <a:pt x="1033" y="1067"/>
                    </a:lnTo>
                    <a:lnTo>
                      <a:pt x="999" y="1047"/>
                    </a:lnTo>
                    <a:lnTo>
                      <a:pt x="959" y="1027"/>
                    </a:lnTo>
                    <a:lnTo>
                      <a:pt x="907" y="1009"/>
                    </a:lnTo>
                    <a:lnTo>
                      <a:pt x="847" y="991"/>
                    </a:lnTo>
                    <a:lnTo>
                      <a:pt x="775" y="975"/>
                    </a:lnTo>
                    <a:lnTo>
                      <a:pt x="690" y="959"/>
                    </a:lnTo>
                    <a:lnTo>
                      <a:pt x="688" y="959"/>
                    </a:lnTo>
                    <a:lnTo>
                      <a:pt x="684" y="959"/>
                    </a:lnTo>
                    <a:lnTo>
                      <a:pt x="678" y="957"/>
                    </a:lnTo>
                    <a:lnTo>
                      <a:pt x="672" y="957"/>
                    </a:lnTo>
                    <a:lnTo>
                      <a:pt x="668" y="955"/>
                    </a:lnTo>
                    <a:lnTo>
                      <a:pt x="662" y="955"/>
                    </a:lnTo>
                    <a:lnTo>
                      <a:pt x="662" y="955"/>
                    </a:lnTo>
                    <a:lnTo>
                      <a:pt x="628" y="949"/>
                    </a:lnTo>
                    <a:lnTo>
                      <a:pt x="590" y="943"/>
                    </a:lnTo>
                    <a:lnTo>
                      <a:pt x="548" y="935"/>
                    </a:lnTo>
                    <a:lnTo>
                      <a:pt x="504" y="927"/>
                    </a:lnTo>
                    <a:lnTo>
                      <a:pt x="456" y="915"/>
                    </a:lnTo>
                    <a:lnTo>
                      <a:pt x="408" y="903"/>
                    </a:lnTo>
                    <a:lnTo>
                      <a:pt x="361" y="887"/>
                    </a:lnTo>
                    <a:lnTo>
                      <a:pt x="311" y="869"/>
                    </a:lnTo>
                    <a:lnTo>
                      <a:pt x="263" y="847"/>
                    </a:lnTo>
                    <a:lnTo>
                      <a:pt x="215" y="822"/>
                    </a:lnTo>
                    <a:lnTo>
                      <a:pt x="171" y="794"/>
                    </a:lnTo>
                    <a:lnTo>
                      <a:pt x="131" y="762"/>
                    </a:lnTo>
                    <a:lnTo>
                      <a:pt x="95" y="728"/>
                    </a:lnTo>
                    <a:lnTo>
                      <a:pt x="63" y="686"/>
                    </a:lnTo>
                    <a:lnTo>
                      <a:pt x="37" y="642"/>
                    </a:lnTo>
                    <a:lnTo>
                      <a:pt x="17" y="592"/>
                    </a:lnTo>
                    <a:lnTo>
                      <a:pt x="4" y="539"/>
                    </a:lnTo>
                    <a:lnTo>
                      <a:pt x="0" y="479"/>
                    </a:lnTo>
                    <a:lnTo>
                      <a:pt x="5" y="413"/>
                    </a:lnTo>
                    <a:lnTo>
                      <a:pt x="23" y="351"/>
                    </a:lnTo>
                    <a:lnTo>
                      <a:pt x="53" y="291"/>
                    </a:lnTo>
                    <a:lnTo>
                      <a:pt x="91" y="236"/>
                    </a:lnTo>
                    <a:lnTo>
                      <a:pt x="141" y="186"/>
                    </a:lnTo>
                    <a:lnTo>
                      <a:pt x="199" y="140"/>
                    </a:lnTo>
                    <a:lnTo>
                      <a:pt x="263" y="100"/>
                    </a:lnTo>
                    <a:lnTo>
                      <a:pt x="337" y="66"/>
                    </a:lnTo>
                    <a:lnTo>
                      <a:pt x="414" y="38"/>
                    </a:lnTo>
                    <a:lnTo>
                      <a:pt x="500" y="18"/>
                    </a:lnTo>
                    <a:lnTo>
                      <a:pt x="590" y="4"/>
                    </a:lnTo>
                    <a:lnTo>
                      <a:pt x="68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205">
                <a:extLst>
                  <a:ext uri="{FF2B5EF4-FFF2-40B4-BE49-F238E27FC236}">
                    <a16:creationId xmlns:a16="http://schemas.microsoft.com/office/drawing/2014/main" id="{73244FC4-2030-764A-B9A8-15DD9EA7D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8738" y="2314575"/>
                <a:ext cx="1301750" cy="217488"/>
              </a:xfrm>
              <a:custGeom>
                <a:avLst/>
                <a:gdLst>
                  <a:gd name="T0" fmla="*/ 137 w 1639"/>
                  <a:gd name="T1" fmla="*/ 0 h 273"/>
                  <a:gd name="T2" fmla="*/ 1503 w 1639"/>
                  <a:gd name="T3" fmla="*/ 0 h 273"/>
                  <a:gd name="T4" fmla="*/ 1539 w 1639"/>
                  <a:gd name="T5" fmla="*/ 4 h 273"/>
                  <a:gd name="T6" fmla="*/ 1571 w 1639"/>
                  <a:gd name="T7" fmla="*/ 18 h 273"/>
                  <a:gd name="T8" fmla="*/ 1599 w 1639"/>
                  <a:gd name="T9" fmla="*/ 40 h 273"/>
                  <a:gd name="T10" fmla="*/ 1621 w 1639"/>
                  <a:gd name="T11" fmla="*/ 66 h 273"/>
                  <a:gd name="T12" fmla="*/ 1635 w 1639"/>
                  <a:gd name="T13" fmla="*/ 100 h 273"/>
                  <a:gd name="T14" fmla="*/ 1639 w 1639"/>
                  <a:gd name="T15" fmla="*/ 135 h 273"/>
                  <a:gd name="T16" fmla="*/ 1635 w 1639"/>
                  <a:gd name="T17" fmla="*/ 171 h 273"/>
                  <a:gd name="T18" fmla="*/ 1621 w 1639"/>
                  <a:gd name="T19" fmla="*/ 205 h 273"/>
                  <a:gd name="T20" fmla="*/ 1599 w 1639"/>
                  <a:gd name="T21" fmla="*/ 231 h 273"/>
                  <a:gd name="T22" fmla="*/ 1571 w 1639"/>
                  <a:gd name="T23" fmla="*/ 253 h 273"/>
                  <a:gd name="T24" fmla="*/ 1539 w 1639"/>
                  <a:gd name="T25" fmla="*/ 267 h 273"/>
                  <a:gd name="T26" fmla="*/ 1503 w 1639"/>
                  <a:gd name="T27" fmla="*/ 273 h 273"/>
                  <a:gd name="T28" fmla="*/ 137 w 1639"/>
                  <a:gd name="T29" fmla="*/ 273 h 273"/>
                  <a:gd name="T30" fmla="*/ 99 w 1639"/>
                  <a:gd name="T31" fmla="*/ 267 h 273"/>
                  <a:gd name="T32" fmla="*/ 67 w 1639"/>
                  <a:gd name="T33" fmla="*/ 253 h 273"/>
                  <a:gd name="T34" fmla="*/ 39 w 1639"/>
                  <a:gd name="T35" fmla="*/ 231 h 273"/>
                  <a:gd name="T36" fmla="*/ 17 w 1639"/>
                  <a:gd name="T37" fmla="*/ 205 h 273"/>
                  <a:gd name="T38" fmla="*/ 5 w 1639"/>
                  <a:gd name="T39" fmla="*/ 171 h 273"/>
                  <a:gd name="T40" fmla="*/ 0 w 1639"/>
                  <a:gd name="T41" fmla="*/ 135 h 273"/>
                  <a:gd name="T42" fmla="*/ 5 w 1639"/>
                  <a:gd name="T43" fmla="*/ 100 h 273"/>
                  <a:gd name="T44" fmla="*/ 17 w 1639"/>
                  <a:gd name="T45" fmla="*/ 66 h 273"/>
                  <a:gd name="T46" fmla="*/ 39 w 1639"/>
                  <a:gd name="T47" fmla="*/ 40 h 273"/>
                  <a:gd name="T48" fmla="*/ 67 w 1639"/>
                  <a:gd name="T49" fmla="*/ 18 h 273"/>
                  <a:gd name="T50" fmla="*/ 99 w 1639"/>
                  <a:gd name="T51" fmla="*/ 4 h 273"/>
                  <a:gd name="T52" fmla="*/ 137 w 1639"/>
                  <a:gd name="T53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639" h="273">
                    <a:moveTo>
                      <a:pt x="137" y="0"/>
                    </a:moveTo>
                    <a:lnTo>
                      <a:pt x="1503" y="0"/>
                    </a:lnTo>
                    <a:lnTo>
                      <a:pt x="1539" y="4"/>
                    </a:lnTo>
                    <a:lnTo>
                      <a:pt x="1571" y="18"/>
                    </a:lnTo>
                    <a:lnTo>
                      <a:pt x="1599" y="40"/>
                    </a:lnTo>
                    <a:lnTo>
                      <a:pt x="1621" y="66"/>
                    </a:lnTo>
                    <a:lnTo>
                      <a:pt x="1635" y="100"/>
                    </a:lnTo>
                    <a:lnTo>
                      <a:pt x="1639" y="135"/>
                    </a:lnTo>
                    <a:lnTo>
                      <a:pt x="1635" y="171"/>
                    </a:lnTo>
                    <a:lnTo>
                      <a:pt x="1621" y="205"/>
                    </a:lnTo>
                    <a:lnTo>
                      <a:pt x="1599" y="231"/>
                    </a:lnTo>
                    <a:lnTo>
                      <a:pt x="1571" y="253"/>
                    </a:lnTo>
                    <a:lnTo>
                      <a:pt x="1539" y="267"/>
                    </a:lnTo>
                    <a:lnTo>
                      <a:pt x="1503" y="273"/>
                    </a:lnTo>
                    <a:lnTo>
                      <a:pt x="137" y="273"/>
                    </a:lnTo>
                    <a:lnTo>
                      <a:pt x="99" y="267"/>
                    </a:lnTo>
                    <a:lnTo>
                      <a:pt x="67" y="253"/>
                    </a:lnTo>
                    <a:lnTo>
                      <a:pt x="39" y="231"/>
                    </a:lnTo>
                    <a:lnTo>
                      <a:pt x="17" y="205"/>
                    </a:lnTo>
                    <a:lnTo>
                      <a:pt x="5" y="171"/>
                    </a:lnTo>
                    <a:lnTo>
                      <a:pt x="0" y="135"/>
                    </a:lnTo>
                    <a:lnTo>
                      <a:pt x="5" y="100"/>
                    </a:lnTo>
                    <a:lnTo>
                      <a:pt x="17" y="66"/>
                    </a:lnTo>
                    <a:lnTo>
                      <a:pt x="39" y="40"/>
                    </a:lnTo>
                    <a:lnTo>
                      <a:pt x="67" y="18"/>
                    </a:lnTo>
                    <a:lnTo>
                      <a:pt x="99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6" name="Freeform 206">
                <a:extLst>
                  <a:ext uri="{FF2B5EF4-FFF2-40B4-BE49-F238E27FC236}">
                    <a16:creationId xmlns:a16="http://schemas.microsoft.com/office/drawing/2014/main" id="{7A991B12-18DF-EC4E-8294-730B276A8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8738" y="3182938"/>
                <a:ext cx="2603500" cy="215900"/>
              </a:xfrm>
              <a:custGeom>
                <a:avLst/>
                <a:gdLst>
                  <a:gd name="T0" fmla="*/ 137 w 3279"/>
                  <a:gd name="T1" fmla="*/ 0 h 273"/>
                  <a:gd name="T2" fmla="*/ 3143 w 3279"/>
                  <a:gd name="T3" fmla="*/ 0 h 273"/>
                  <a:gd name="T4" fmla="*/ 3179 w 3279"/>
                  <a:gd name="T5" fmla="*/ 4 h 273"/>
                  <a:gd name="T6" fmla="*/ 3213 w 3279"/>
                  <a:gd name="T7" fmla="*/ 18 h 273"/>
                  <a:gd name="T8" fmla="*/ 3239 w 3279"/>
                  <a:gd name="T9" fmla="*/ 40 h 273"/>
                  <a:gd name="T10" fmla="*/ 3261 w 3279"/>
                  <a:gd name="T11" fmla="*/ 68 h 273"/>
                  <a:gd name="T12" fmla="*/ 3275 w 3279"/>
                  <a:gd name="T13" fmla="*/ 100 h 273"/>
                  <a:gd name="T14" fmla="*/ 3279 w 3279"/>
                  <a:gd name="T15" fmla="*/ 136 h 273"/>
                  <a:gd name="T16" fmla="*/ 3275 w 3279"/>
                  <a:gd name="T17" fmla="*/ 172 h 273"/>
                  <a:gd name="T18" fmla="*/ 3261 w 3279"/>
                  <a:gd name="T19" fmla="*/ 206 h 273"/>
                  <a:gd name="T20" fmla="*/ 3239 w 3279"/>
                  <a:gd name="T21" fmla="*/ 233 h 273"/>
                  <a:gd name="T22" fmla="*/ 3213 w 3279"/>
                  <a:gd name="T23" fmla="*/ 253 h 273"/>
                  <a:gd name="T24" fmla="*/ 3179 w 3279"/>
                  <a:gd name="T25" fmla="*/ 267 h 273"/>
                  <a:gd name="T26" fmla="*/ 3143 w 3279"/>
                  <a:gd name="T27" fmla="*/ 273 h 273"/>
                  <a:gd name="T28" fmla="*/ 137 w 3279"/>
                  <a:gd name="T29" fmla="*/ 273 h 273"/>
                  <a:gd name="T30" fmla="*/ 99 w 3279"/>
                  <a:gd name="T31" fmla="*/ 267 h 273"/>
                  <a:gd name="T32" fmla="*/ 67 w 3279"/>
                  <a:gd name="T33" fmla="*/ 253 h 273"/>
                  <a:gd name="T34" fmla="*/ 39 w 3279"/>
                  <a:gd name="T35" fmla="*/ 233 h 273"/>
                  <a:gd name="T36" fmla="*/ 17 w 3279"/>
                  <a:gd name="T37" fmla="*/ 206 h 273"/>
                  <a:gd name="T38" fmla="*/ 5 w 3279"/>
                  <a:gd name="T39" fmla="*/ 172 h 273"/>
                  <a:gd name="T40" fmla="*/ 0 w 3279"/>
                  <a:gd name="T41" fmla="*/ 136 h 273"/>
                  <a:gd name="T42" fmla="*/ 5 w 3279"/>
                  <a:gd name="T43" fmla="*/ 100 h 273"/>
                  <a:gd name="T44" fmla="*/ 17 w 3279"/>
                  <a:gd name="T45" fmla="*/ 68 h 273"/>
                  <a:gd name="T46" fmla="*/ 39 w 3279"/>
                  <a:gd name="T47" fmla="*/ 40 h 273"/>
                  <a:gd name="T48" fmla="*/ 67 w 3279"/>
                  <a:gd name="T49" fmla="*/ 18 h 273"/>
                  <a:gd name="T50" fmla="*/ 99 w 3279"/>
                  <a:gd name="T51" fmla="*/ 4 h 273"/>
                  <a:gd name="T52" fmla="*/ 137 w 3279"/>
                  <a:gd name="T53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79" h="273">
                    <a:moveTo>
                      <a:pt x="137" y="0"/>
                    </a:moveTo>
                    <a:lnTo>
                      <a:pt x="3143" y="0"/>
                    </a:lnTo>
                    <a:lnTo>
                      <a:pt x="3179" y="4"/>
                    </a:lnTo>
                    <a:lnTo>
                      <a:pt x="3213" y="18"/>
                    </a:lnTo>
                    <a:lnTo>
                      <a:pt x="3239" y="40"/>
                    </a:lnTo>
                    <a:lnTo>
                      <a:pt x="3261" y="68"/>
                    </a:lnTo>
                    <a:lnTo>
                      <a:pt x="3275" y="100"/>
                    </a:lnTo>
                    <a:lnTo>
                      <a:pt x="3279" y="136"/>
                    </a:lnTo>
                    <a:lnTo>
                      <a:pt x="3275" y="172"/>
                    </a:lnTo>
                    <a:lnTo>
                      <a:pt x="3261" y="206"/>
                    </a:lnTo>
                    <a:lnTo>
                      <a:pt x="3239" y="233"/>
                    </a:lnTo>
                    <a:lnTo>
                      <a:pt x="3213" y="253"/>
                    </a:lnTo>
                    <a:lnTo>
                      <a:pt x="3179" y="267"/>
                    </a:lnTo>
                    <a:lnTo>
                      <a:pt x="3143" y="273"/>
                    </a:lnTo>
                    <a:lnTo>
                      <a:pt x="137" y="273"/>
                    </a:lnTo>
                    <a:lnTo>
                      <a:pt x="99" y="267"/>
                    </a:lnTo>
                    <a:lnTo>
                      <a:pt x="67" y="253"/>
                    </a:lnTo>
                    <a:lnTo>
                      <a:pt x="39" y="233"/>
                    </a:lnTo>
                    <a:lnTo>
                      <a:pt x="17" y="206"/>
                    </a:lnTo>
                    <a:lnTo>
                      <a:pt x="5" y="172"/>
                    </a:lnTo>
                    <a:lnTo>
                      <a:pt x="0" y="136"/>
                    </a:lnTo>
                    <a:lnTo>
                      <a:pt x="5" y="100"/>
                    </a:lnTo>
                    <a:lnTo>
                      <a:pt x="17" y="68"/>
                    </a:lnTo>
                    <a:lnTo>
                      <a:pt x="39" y="40"/>
                    </a:lnTo>
                    <a:lnTo>
                      <a:pt x="67" y="18"/>
                    </a:lnTo>
                    <a:lnTo>
                      <a:pt x="99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207">
                <a:extLst>
                  <a:ext uri="{FF2B5EF4-FFF2-40B4-BE49-F238E27FC236}">
                    <a16:creationId xmlns:a16="http://schemas.microsoft.com/office/drawing/2014/main" id="{07F0B344-CD0B-A346-9A25-562650ED0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8738" y="4049713"/>
                <a:ext cx="1084263" cy="215900"/>
              </a:xfrm>
              <a:custGeom>
                <a:avLst/>
                <a:gdLst>
                  <a:gd name="T0" fmla="*/ 137 w 1366"/>
                  <a:gd name="T1" fmla="*/ 0 h 273"/>
                  <a:gd name="T2" fmla="*/ 1230 w 1366"/>
                  <a:gd name="T3" fmla="*/ 0 h 273"/>
                  <a:gd name="T4" fmla="*/ 1266 w 1366"/>
                  <a:gd name="T5" fmla="*/ 4 h 273"/>
                  <a:gd name="T6" fmla="*/ 1298 w 1366"/>
                  <a:gd name="T7" fmla="*/ 17 h 273"/>
                  <a:gd name="T8" fmla="*/ 1326 w 1366"/>
                  <a:gd name="T9" fmla="*/ 39 h 273"/>
                  <a:gd name="T10" fmla="*/ 1348 w 1366"/>
                  <a:gd name="T11" fmla="*/ 67 h 273"/>
                  <a:gd name="T12" fmla="*/ 1362 w 1366"/>
                  <a:gd name="T13" fmla="*/ 99 h 273"/>
                  <a:gd name="T14" fmla="*/ 1366 w 1366"/>
                  <a:gd name="T15" fmla="*/ 135 h 273"/>
                  <a:gd name="T16" fmla="*/ 1362 w 1366"/>
                  <a:gd name="T17" fmla="*/ 173 h 273"/>
                  <a:gd name="T18" fmla="*/ 1348 w 1366"/>
                  <a:gd name="T19" fmla="*/ 205 h 273"/>
                  <a:gd name="T20" fmla="*/ 1326 w 1366"/>
                  <a:gd name="T21" fmla="*/ 233 h 273"/>
                  <a:gd name="T22" fmla="*/ 1298 w 1366"/>
                  <a:gd name="T23" fmla="*/ 253 h 273"/>
                  <a:gd name="T24" fmla="*/ 1266 w 1366"/>
                  <a:gd name="T25" fmla="*/ 267 h 273"/>
                  <a:gd name="T26" fmla="*/ 1230 w 1366"/>
                  <a:gd name="T27" fmla="*/ 273 h 273"/>
                  <a:gd name="T28" fmla="*/ 137 w 1366"/>
                  <a:gd name="T29" fmla="*/ 273 h 273"/>
                  <a:gd name="T30" fmla="*/ 99 w 1366"/>
                  <a:gd name="T31" fmla="*/ 267 h 273"/>
                  <a:gd name="T32" fmla="*/ 67 w 1366"/>
                  <a:gd name="T33" fmla="*/ 253 h 273"/>
                  <a:gd name="T34" fmla="*/ 39 w 1366"/>
                  <a:gd name="T35" fmla="*/ 233 h 273"/>
                  <a:gd name="T36" fmla="*/ 17 w 1366"/>
                  <a:gd name="T37" fmla="*/ 205 h 273"/>
                  <a:gd name="T38" fmla="*/ 5 w 1366"/>
                  <a:gd name="T39" fmla="*/ 173 h 273"/>
                  <a:gd name="T40" fmla="*/ 0 w 1366"/>
                  <a:gd name="T41" fmla="*/ 135 h 273"/>
                  <a:gd name="T42" fmla="*/ 5 w 1366"/>
                  <a:gd name="T43" fmla="*/ 99 h 273"/>
                  <a:gd name="T44" fmla="*/ 17 w 1366"/>
                  <a:gd name="T45" fmla="*/ 67 h 273"/>
                  <a:gd name="T46" fmla="*/ 39 w 1366"/>
                  <a:gd name="T47" fmla="*/ 39 h 273"/>
                  <a:gd name="T48" fmla="*/ 67 w 1366"/>
                  <a:gd name="T49" fmla="*/ 17 h 273"/>
                  <a:gd name="T50" fmla="*/ 99 w 1366"/>
                  <a:gd name="T51" fmla="*/ 4 h 273"/>
                  <a:gd name="T52" fmla="*/ 137 w 1366"/>
                  <a:gd name="T53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66" h="273">
                    <a:moveTo>
                      <a:pt x="137" y="0"/>
                    </a:moveTo>
                    <a:lnTo>
                      <a:pt x="1230" y="0"/>
                    </a:lnTo>
                    <a:lnTo>
                      <a:pt x="1266" y="4"/>
                    </a:lnTo>
                    <a:lnTo>
                      <a:pt x="1298" y="17"/>
                    </a:lnTo>
                    <a:lnTo>
                      <a:pt x="1326" y="39"/>
                    </a:lnTo>
                    <a:lnTo>
                      <a:pt x="1348" y="67"/>
                    </a:lnTo>
                    <a:lnTo>
                      <a:pt x="1362" y="99"/>
                    </a:lnTo>
                    <a:lnTo>
                      <a:pt x="1366" y="135"/>
                    </a:lnTo>
                    <a:lnTo>
                      <a:pt x="1362" y="173"/>
                    </a:lnTo>
                    <a:lnTo>
                      <a:pt x="1348" y="205"/>
                    </a:lnTo>
                    <a:lnTo>
                      <a:pt x="1326" y="233"/>
                    </a:lnTo>
                    <a:lnTo>
                      <a:pt x="1298" y="253"/>
                    </a:lnTo>
                    <a:lnTo>
                      <a:pt x="1266" y="267"/>
                    </a:lnTo>
                    <a:lnTo>
                      <a:pt x="1230" y="273"/>
                    </a:lnTo>
                    <a:lnTo>
                      <a:pt x="137" y="273"/>
                    </a:lnTo>
                    <a:lnTo>
                      <a:pt x="99" y="267"/>
                    </a:lnTo>
                    <a:lnTo>
                      <a:pt x="67" y="253"/>
                    </a:lnTo>
                    <a:lnTo>
                      <a:pt x="39" y="233"/>
                    </a:lnTo>
                    <a:lnTo>
                      <a:pt x="17" y="205"/>
                    </a:lnTo>
                    <a:lnTo>
                      <a:pt x="5" y="173"/>
                    </a:lnTo>
                    <a:lnTo>
                      <a:pt x="0" y="135"/>
                    </a:lnTo>
                    <a:lnTo>
                      <a:pt x="5" y="99"/>
                    </a:lnTo>
                    <a:lnTo>
                      <a:pt x="17" y="67"/>
                    </a:lnTo>
                    <a:lnTo>
                      <a:pt x="39" y="39"/>
                    </a:lnTo>
                    <a:lnTo>
                      <a:pt x="67" y="17"/>
                    </a:lnTo>
                    <a:lnTo>
                      <a:pt x="99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208">
                <a:extLst>
                  <a:ext uri="{FF2B5EF4-FFF2-40B4-BE49-F238E27FC236}">
                    <a16:creationId xmlns:a16="http://schemas.microsoft.com/office/drawing/2014/main" id="{8FBDBFA7-F60D-4E48-975F-E2BF266BA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8851" y="796925"/>
                <a:ext cx="215900" cy="1735138"/>
              </a:xfrm>
              <a:custGeom>
                <a:avLst/>
                <a:gdLst>
                  <a:gd name="T0" fmla="*/ 138 w 273"/>
                  <a:gd name="T1" fmla="*/ 0 h 2187"/>
                  <a:gd name="T2" fmla="*/ 174 w 273"/>
                  <a:gd name="T3" fmla="*/ 6 h 2187"/>
                  <a:gd name="T4" fmla="*/ 205 w 273"/>
                  <a:gd name="T5" fmla="*/ 20 h 2187"/>
                  <a:gd name="T6" fmla="*/ 233 w 273"/>
                  <a:gd name="T7" fmla="*/ 40 h 2187"/>
                  <a:gd name="T8" fmla="*/ 255 w 273"/>
                  <a:gd name="T9" fmla="*/ 68 h 2187"/>
                  <a:gd name="T10" fmla="*/ 269 w 273"/>
                  <a:gd name="T11" fmla="*/ 102 h 2187"/>
                  <a:gd name="T12" fmla="*/ 273 w 273"/>
                  <a:gd name="T13" fmla="*/ 138 h 2187"/>
                  <a:gd name="T14" fmla="*/ 273 w 273"/>
                  <a:gd name="T15" fmla="*/ 2049 h 2187"/>
                  <a:gd name="T16" fmla="*/ 269 w 273"/>
                  <a:gd name="T17" fmla="*/ 2085 h 2187"/>
                  <a:gd name="T18" fmla="*/ 255 w 273"/>
                  <a:gd name="T19" fmla="*/ 2119 h 2187"/>
                  <a:gd name="T20" fmla="*/ 233 w 273"/>
                  <a:gd name="T21" fmla="*/ 2145 h 2187"/>
                  <a:gd name="T22" fmla="*/ 205 w 273"/>
                  <a:gd name="T23" fmla="*/ 2167 h 2187"/>
                  <a:gd name="T24" fmla="*/ 174 w 273"/>
                  <a:gd name="T25" fmla="*/ 2181 h 2187"/>
                  <a:gd name="T26" fmla="*/ 138 w 273"/>
                  <a:gd name="T27" fmla="*/ 2187 h 2187"/>
                  <a:gd name="T28" fmla="*/ 102 w 273"/>
                  <a:gd name="T29" fmla="*/ 2181 h 2187"/>
                  <a:gd name="T30" fmla="*/ 68 w 273"/>
                  <a:gd name="T31" fmla="*/ 2167 h 2187"/>
                  <a:gd name="T32" fmla="*/ 40 w 273"/>
                  <a:gd name="T33" fmla="*/ 2145 h 2187"/>
                  <a:gd name="T34" fmla="*/ 20 w 273"/>
                  <a:gd name="T35" fmla="*/ 2119 h 2187"/>
                  <a:gd name="T36" fmla="*/ 6 w 273"/>
                  <a:gd name="T37" fmla="*/ 2085 h 2187"/>
                  <a:gd name="T38" fmla="*/ 0 w 273"/>
                  <a:gd name="T39" fmla="*/ 2049 h 2187"/>
                  <a:gd name="T40" fmla="*/ 0 w 273"/>
                  <a:gd name="T41" fmla="*/ 138 h 2187"/>
                  <a:gd name="T42" fmla="*/ 6 w 273"/>
                  <a:gd name="T43" fmla="*/ 102 h 2187"/>
                  <a:gd name="T44" fmla="*/ 20 w 273"/>
                  <a:gd name="T45" fmla="*/ 68 h 2187"/>
                  <a:gd name="T46" fmla="*/ 40 w 273"/>
                  <a:gd name="T47" fmla="*/ 40 h 2187"/>
                  <a:gd name="T48" fmla="*/ 68 w 273"/>
                  <a:gd name="T49" fmla="*/ 20 h 2187"/>
                  <a:gd name="T50" fmla="*/ 102 w 273"/>
                  <a:gd name="T51" fmla="*/ 6 h 2187"/>
                  <a:gd name="T52" fmla="*/ 138 w 273"/>
                  <a:gd name="T53" fmla="*/ 0 h 2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" h="2187">
                    <a:moveTo>
                      <a:pt x="138" y="0"/>
                    </a:moveTo>
                    <a:lnTo>
                      <a:pt x="174" y="6"/>
                    </a:lnTo>
                    <a:lnTo>
                      <a:pt x="205" y="20"/>
                    </a:lnTo>
                    <a:lnTo>
                      <a:pt x="233" y="40"/>
                    </a:lnTo>
                    <a:lnTo>
                      <a:pt x="255" y="68"/>
                    </a:lnTo>
                    <a:lnTo>
                      <a:pt x="269" y="102"/>
                    </a:lnTo>
                    <a:lnTo>
                      <a:pt x="273" y="138"/>
                    </a:lnTo>
                    <a:lnTo>
                      <a:pt x="273" y="2049"/>
                    </a:lnTo>
                    <a:lnTo>
                      <a:pt x="269" y="2085"/>
                    </a:lnTo>
                    <a:lnTo>
                      <a:pt x="255" y="2119"/>
                    </a:lnTo>
                    <a:lnTo>
                      <a:pt x="233" y="2145"/>
                    </a:lnTo>
                    <a:lnTo>
                      <a:pt x="205" y="2167"/>
                    </a:lnTo>
                    <a:lnTo>
                      <a:pt x="174" y="2181"/>
                    </a:lnTo>
                    <a:lnTo>
                      <a:pt x="138" y="2187"/>
                    </a:lnTo>
                    <a:lnTo>
                      <a:pt x="102" y="2181"/>
                    </a:lnTo>
                    <a:lnTo>
                      <a:pt x="68" y="2167"/>
                    </a:lnTo>
                    <a:lnTo>
                      <a:pt x="40" y="2145"/>
                    </a:lnTo>
                    <a:lnTo>
                      <a:pt x="20" y="2119"/>
                    </a:lnTo>
                    <a:lnTo>
                      <a:pt x="6" y="2085"/>
                    </a:lnTo>
                    <a:lnTo>
                      <a:pt x="0" y="2049"/>
                    </a:lnTo>
                    <a:lnTo>
                      <a:pt x="0" y="138"/>
                    </a:lnTo>
                    <a:lnTo>
                      <a:pt x="6" y="102"/>
                    </a:lnTo>
                    <a:lnTo>
                      <a:pt x="20" y="68"/>
                    </a:lnTo>
                    <a:lnTo>
                      <a:pt x="40" y="40"/>
                    </a:lnTo>
                    <a:lnTo>
                      <a:pt x="68" y="20"/>
                    </a:lnTo>
                    <a:lnTo>
                      <a:pt x="102" y="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6660CB8-31B8-C94B-9C5F-E1346FF68B45}"/>
              </a:ext>
            </a:extLst>
          </p:cNvPr>
          <p:cNvSpPr txBox="1"/>
          <p:nvPr/>
        </p:nvSpPr>
        <p:spPr>
          <a:xfrm>
            <a:off x="3214878" y="5684229"/>
            <a:ext cx="29136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 / Canada / India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9" name="Line 36">
            <a:extLst>
              <a:ext uri="{FF2B5EF4-FFF2-40B4-BE49-F238E27FC236}">
                <a16:creationId xmlns:a16="http://schemas.microsoft.com/office/drawing/2014/main" id="{E61CC3D5-4477-3D40-AE49-967DE268E1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3611" y="2649232"/>
            <a:ext cx="2050151" cy="1012118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E35A35">
                    <a:lumMod val="5000"/>
                    <a:lumOff val="95000"/>
                    <a:alpha val="0"/>
                  </a:srgbClr>
                </a:gs>
                <a:gs pos="70000">
                  <a:srgbClr val="ECB448"/>
                </a:gs>
              </a:gsLst>
              <a:lin ang="10800000" scaled="1"/>
              <a:tileRect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E92A29F-6FD7-974F-85C9-C8B78B4844F8}"/>
              </a:ext>
            </a:extLst>
          </p:cNvPr>
          <p:cNvSpPr/>
          <p:nvPr/>
        </p:nvSpPr>
        <p:spPr>
          <a:xfrm>
            <a:off x="6429150" y="4706974"/>
            <a:ext cx="2582732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Segoe UI Light" panose="020B0502040204020203" pitchFamily="34" charset="0"/>
              </a:rPr>
              <a:t>Partners/Alliances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CDFC027-A705-884C-8C50-E43BD59EA083}"/>
              </a:ext>
            </a:extLst>
          </p:cNvPr>
          <p:cNvSpPr/>
          <p:nvPr/>
        </p:nvSpPr>
        <p:spPr>
          <a:xfrm>
            <a:off x="7323630" y="4031004"/>
            <a:ext cx="609600" cy="609600"/>
          </a:xfrm>
          <a:prstGeom prst="ellipse">
            <a:avLst/>
          </a:prstGeom>
          <a:solidFill>
            <a:srgbClr val="5FB7A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3" name="Line 34">
            <a:extLst>
              <a:ext uri="{FF2B5EF4-FFF2-40B4-BE49-F238E27FC236}">
                <a16:creationId xmlns:a16="http://schemas.microsoft.com/office/drawing/2014/main" id="{F68DBBE0-BFE0-C542-8D1C-E1A7B1260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3915" y="3434097"/>
            <a:ext cx="806820" cy="657168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E35A35">
                    <a:lumMod val="5000"/>
                    <a:lumOff val="95000"/>
                    <a:alpha val="0"/>
                  </a:srgbClr>
                </a:gs>
                <a:gs pos="40000">
                  <a:srgbClr val="5FB7A2"/>
                </a:gs>
              </a:gsLst>
              <a:lin ang="10800000" scaled="1"/>
              <a:tileRect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AF37EE-4265-3D48-9700-6E6684FD9D29}"/>
              </a:ext>
            </a:extLst>
          </p:cNvPr>
          <p:cNvSpPr txBox="1"/>
          <p:nvPr/>
        </p:nvSpPr>
        <p:spPr>
          <a:xfrm>
            <a:off x="2767729" y="927999"/>
            <a:ext cx="6836311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help Move your Digital Transformation Vision to Reality</a:t>
            </a:r>
          </a:p>
        </p:txBody>
      </p:sp>
      <p:pic>
        <p:nvPicPr>
          <p:cNvPr id="75" name="Picture 7" descr="D:\Kavitha Data\work 2\elements\design elements\icons\businessman22.png">
            <a:extLst>
              <a:ext uri="{FF2B5EF4-FFF2-40B4-BE49-F238E27FC236}">
                <a16:creationId xmlns:a16="http://schemas.microsoft.com/office/drawing/2014/main" id="{DF994050-6463-0645-A6F1-AB76FB347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452077" y="4157908"/>
            <a:ext cx="378130" cy="3781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6" name="Picture 75" descr="A picture containing icon&#10;&#10;Description automatically generated">
            <a:extLst>
              <a:ext uri="{FF2B5EF4-FFF2-40B4-BE49-F238E27FC236}">
                <a16:creationId xmlns:a16="http://schemas.microsoft.com/office/drawing/2014/main" id="{897A3952-A53E-994F-BFCC-BD67995877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633" y="5248657"/>
            <a:ext cx="701433" cy="191328"/>
          </a:xfrm>
          <a:prstGeom prst="rect">
            <a:avLst/>
          </a:prstGeom>
        </p:spPr>
      </p:pic>
      <p:pic>
        <p:nvPicPr>
          <p:cNvPr id="91" name="Picture 90" descr="Logo, company name&#10;&#10;Description automatically generated">
            <a:extLst>
              <a:ext uri="{FF2B5EF4-FFF2-40B4-BE49-F238E27FC236}">
                <a16:creationId xmlns:a16="http://schemas.microsoft.com/office/drawing/2014/main" id="{A1B1AD43-DCBD-5A4F-AE48-9F219070A5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944" y="5104948"/>
            <a:ext cx="904915" cy="478746"/>
          </a:xfrm>
          <a:prstGeom prst="rect">
            <a:avLst/>
          </a:prstGeom>
        </p:spPr>
      </p:pic>
      <p:pic>
        <p:nvPicPr>
          <p:cNvPr id="93" name="Picture 9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7E4CE3D-1DDE-DF4F-9AEC-1CA06D8978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61" y="5725467"/>
            <a:ext cx="458906" cy="26588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C043CA54-EE73-2743-B964-2AD6B90ED44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831" y="5675846"/>
            <a:ext cx="883460" cy="2553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D6ED9-8A02-A646-846C-FE961E2BC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7944" y="6345949"/>
            <a:ext cx="251927" cy="18466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0251D-342A-CD0A-A1F0-19CCFB1D5F33}"/>
              </a:ext>
            </a:extLst>
          </p:cNvPr>
          <p:cNvSpPr/>
          <p:nvPr/>
        </p:nvSpPr>
        <p:spPr>
          <a:xfrm>
            <a:off x="-103918" y="1768427"/>
            <a:ext cx="4391958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>
                <a:ln>
                  <a:noFill/>
                </a:ln>
                <a:solidFill>
                  <a:srgbClr val="E35A35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Segoe UI Light" panose="020B0502040204020203" pitchFamily="34" charset="0"/>
              </a:rPr>
              <a:t>Special Start-up Ecosystem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0B44EC-189B-B39E-BABC-FB88A45C3829}"/>
              </a:ext>
            </a:extLst>
          </p:cNvPr>
          <p:cNvGrpSpPr/>
          <p:nvPr/>
        </p:nvGrpSpPr>
        <p:grpSpPr>
          <a:xfrm>
            <a:off x="963762" y="1177691"/>
            <a:ext cx="609600" cy="609600"/>
            <a:chOff x="1343221" y="857254"/>
            <a:chExt cx="609600" cy="6096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426AED7-6CEB-4A3F-B898-768C1765BFED}"/>
                </a:ext>
              </a:extLst>
            </p:cNvPr>
            <p:cNvSpPr/>
            <p:nvPr/>
          </p:nvSpPr>
          <p:spPr>
            <a:xfrm>
              <a:off x="1343221" y="857254"/>
              <a:ext cx="609600" cy="609600"/>
            </a:xfrm>
            <a:prstGeom prst="ellipse">
              <a:avLst/>
            </a:prstGeom>
            <a:solidFill>
              <a:srgbClr val="E35A3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Graphic 8" descr="Social network">
              <a:extLst>
                <a:ext uri="{FF2B5EF4-FFF2-40B4-BE49-F238E27FC236}">
                  <a16:creationId xmlns:a16="http://schemas.microsoft.com/office/drawing/2014/main" id="{43AB6083-149F-52DE-1991-D85C02FF4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37633" y="919523"/>
              <a:ext cx="446914" cy="446914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3E80590-12C1-1497-B688-0C2650D0DBB9}"/>
              </a:ext>
            </a:extLst>
          </p:cNvPr>
          <p:cNvSpPr/>
          <p:nvPr/>
        </p:nvSpPr>
        <p:spPr>
          <a:xfrm>
            <a:off x="575398" y="2116895"/>
            <a:ext cx="3179073" cy="6442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Connecting Companies to Start-up products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Assist identify your right product (Data, IoT)</a:t>
            </a:r>
          </a:p>
          <a:p>
            <a:pPr marL="171450" marR="0" lvl="0" indent="-171450" algn="l" defTabSz="12189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Unique approach &amp; Successful engagements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D41799-B86C-47E4-829E-D55F8E331789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9" t="7284" r="22440"/>
          <a:stretch/>
        </p:blipFill>
        <p:spPr>
          <a:xfrm>
            <a:off x="6686622" y="5558891"/>
            <a:ext cx="499226" cy="478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CEAB40-044D-22A5-39EF-3645770FB97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1890" y="2830226"/>
            <a:ext cx="1018234" cy="229677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0C6E2E3-8918-C4CF-CE89-D027E9BBA6A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59184" y="2822655"/>
            <a:ext cx="1069596" cy="161788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653FA93B-330C-78C4-B5B8-86C76D2DF79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7197" y="2811860"/>
            <a:ext cx="1230241" cy="24506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C993A86-8BD5-EA42-1B68-ACC814D6CE3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5480" y="3184549"/>
            <a:ext cx="1311340" cy="278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2CC475-65DC-E81D-7F16-CFFEC13162EF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6" t="10905" r="24768" b="14133"/>
          <a:stretch/>
        </p:blipFill>
        <p:spPr>
          <a:xfrm>
            <a:off x="8168153" y="5104948"/>
            <a:ext cx="660598" cy="52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5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93B86-29D5-A770-7D4B-B31EFBD8F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006" y="1642031"/>
            <a:ext cx="6297994" cy="37863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89C25F-53B5-2748-9F3C-2FC79A4C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Digital Transformation Services Portfolio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2C5BFD-EAF4-0F4C-A2A6-94F70DB3478A}"/>
              </a:ext>
            </a:extLst>
          </p:cNvPr>
          <p:cNvSpPr/>
          <p:nvPr/>
        </p:nvSpPr>
        <p:spPr>
          <a:xfrm>
            <a:off x="1694591" y="4523958"/>
            <a:ext cx="6657138" cy="1224495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Management / Data Platforms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2441D6-B900-944F-8887-2E70DB6295EE}"/>
              </a:ext>
            </a:extLst>
          </p:cNvPr>
          <p:cNvSpPr/>
          <p:nvPr/>
        </p:nvSpPr>
        <p:spPr>
          <a:xfrm>
            <a:off x="3024153" y="3539380"/>
            <a:ext cx="1294682" cy="90947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Sciences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E87F6E6-F6C3-7B42-B38B-0A287D380544}"/>
              </a:ext>
            </a:extLst>
          </p:cNvPr>
          <p:cNvGraphicFramePr>
            <a:graphicFrameLocks/>
          </p:cNvGraphicFramePr>
          <p:nvPr/>
        </p:nvGraphicFramePr>
        <p:xfrm>
          <a:off x="1879589" y="4715925"/>
          <a:ext cx="6268117" cy="1073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6A9FE95-7D49-E64A-BF25-C19EDAE42956}"/>
              </a:ext>
            </a:extLst>
          </p:cNvPr>
          <p:cNvSpPr/>
          <p:nvPr/>
        </p:nvSpPr>
        <p:spPr>
          <a:xfrm>
            <a:off x="5713804" y="3556319"/>
            <a:ext cx="1294682" cy="89927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Cloud Solutions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53E7121-3A19-8641-B29E-16216583A383}"/>
              </a:ext>
            </a:extLst>
          </p:cNvPr>
          <p:cNvSpPr/>
          <p:nvPr/>
        </p:nvSpPr>
        <p:spPr>
          <a:xfrm>
            <a:off x="1682716" y="3547840"/>
            <a:ext cx="1294682" cy="90500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IoT/IIoT Solutions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796F6E9-0028-F74D-91D7-6E5100E2628B}"/>
              </a:ext>
            </a:extLst>
          </p:cNvPr>
          <p:cNvSpPr/>
          <p:nvPr/>
        </p:nvSpPr>
        <p:spPr>
          <a:xfrm>
            <a:off x="7045172" y="3556319"/>
            <a:ext cx="1294682" cy="89927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Engineering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B320523-24F7-6942-A9D8-EFFFB43EA816}"/>
              </a:ext>
            </a:extLst>
          </p:cNvPr>
          <p:cNvSpPr/>
          <p:nvPr/>
        </p:nvSpPr>
        <p:spPr>
          <a:xfrm>
            <a:off x="4376403" y="3556463"/>
            <a:ext cx="1294682" cy="89919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Solutions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A18CC1B-A056-6D41-BFE2-D29AA8556B3A}"/>
              </a:ext>
            </a:extLst>
          </p:cNvPr>
          <p:cNvSpPr/>
          <p:nvPr/>
        </p:nvSpPr>
        <p:spPr>
          <a:xfrm>
            <a:off x="1753686" y="2424916"/>
            <a:ext cx="1596863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Banking &amp; FinTech Solutions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7CFBB5B-624F-6A43-96F0-976CD6776BA7}"/>
              </a:ext>
            </a:extLst>
          </p:cNvPr>
          <p:cNvSpPr/>
          <p:nvPr/>
        </p:nvSpPr>
        <p:spPr>
          <a:xfrm>
            <a:off x="2662062" y="3045943"/>
            <a:ext cx="1294682" cy="440357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 Ops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F447E9-1380-5A4F-A62D-52F08B6965B0}"/>
              </a:ext>
            </a:extLst>
          </p:cNvPr>
          <p:cNvSpPr/>
          <p:nvPr/>
        </p:nvSpPr>
        <p:spPr>
          <a:xfrm>
            <a:off x="4220035" y="3030871"/>
            <a:ext cx="1294682" cy="440357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ML Ops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70CCAF9-D22C-2F4C-8B62-FF2EA0853748}"/>
              </a:ext>
            </a:extLst>
          </p:cNvPr>
          <p:cNvSpPr/>
          <p:nvPr/>
        </p:nvSpPr>
        <p:spPr>
          <a:xfrm>
            <a:off x="5827224" y="3030871"/>
            <a:ext cx="1294682" cy="440357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 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C5CFA-2B62-ED42-B6C5-79B495BB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D455D3-FCD3-8447-8509-429B47A26170}"/>
              </a:ext>
            </a:extLst>
          </p:cNvPr>
          <p:cNvSpPr txBox="1"/>
          <p:nvPr/>
        </p:nvSpPr>
        <p:spPr>
          <a:xfrm>
            <a:off x="956139" y="1090243"/>
            <a:ext cx="6836311" cy="40011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help Move your Digital Transformation Vision to Reality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31476B-4AF1-33F3-AFB9-9B032A5EBF10}"/>
              </a:ext>
            </a:extLst>
          </p:cNvPr>
          <p:cNvSpPr/>
          <p:nvPr/>
        </p:nvSpPr>
        <p:spPr>
          <a:xfrm>
            <a:off x="3411714" y="2420974"/>
            <a:ext cx="1596863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Manufacturing Solutions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839A4C-2387-486F-C9B3-2A0ECFC78922}"/>
              </a:ext>
            </a:extLst>
          </p:cNvPr>
          <p:cNvSpPr/>
          <p:nvPr/>
        </p:nvSpPr>
        <p:spPr>
          <a:xfrm>
            <a:off x="5066409" y="2404036"/>
            <a:ext cx="1596863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 Solutions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FF40E3-1880-81AB-B8C1-2B84FE38612E}"/>
              </a:ext>
            </a:extLst>
          </p:cNvPr>
          <p:cNvSpPr/>
          <p:nvPr/>
        </p:nvSpPr>
        <p:spPr>
          <a:xfrm>
            <a:off x="6724437" y="2400094"/>
            <a:ext cx="1596863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Solutions</a:t>
            </a:r>
          </a:p>
        </p:txBody>
      </p:sp>
      <p:pic>
        <p:nvPicPr>
          <p:cNvPr id="23" name="Picture 22" descr="A picture containing icon&#10;&#10;Description automatically generated">
            <a:extLst>
              <a:ext uri="{FF2B5EF4-FFF2-40B4-BE49-F238E27FC236}">
                <a16:creationId xmlns:a16="http://schemas.microsoft.com/office/drawing/2014/main" id="{34C2B040-7601-0FBF-1273-4924315031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708" y="1790227"/>
            <a:ext cx="1369830" cy="373645"/>
          </a:xfrm>
          <a:prstGeom prst="rect">
            <a:avLst/>
          </a:prstGeom>
        </p:spPr>
      </p:pic>
      <p:pic>
        <p:nvPicPr>
          <p:cNvPr id="34" name="Picture 33" descr="Logo, company name&#10;&#10;Description automatically generated">
            <a:extLst>
              <a:ext uri="{FF2B5EF4-FFF2-40B4-BE49-F238E27FC236}">
                <a16:creationId xmlns:a16="http://schemas.microsoft.com/office/drawing/2014/main" id="{75366D2A-F26A-47D9-2429-7CFFFD3481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476" y="1660721"/>
            <a:ext cx="1195832" cy="632656"/>
          </a:xfrm>
          <a:prstGeom prst="rect">
            <a:avLst/>
          </a:prstGeom>
        </p:spPr>
      </p:pic>
      <p:pic>
        <p:nvPicPr>
          <p:cNvPr id="35" name="Picture 3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25AFF50-92D6-3E65-B0DA-9D8E23964F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427" y="1775219"/>
            <a:ext cx="696707" cy="4036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56BFE41-6CC6-8CF6-31B6-CEF3662C890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749" y="1819837"/>
            <a:ext cx="1087741" cy="3144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6523875-2899-1208-37B3-C10D0B1BBC8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9" t="7284" r="22440"/>
          <a:stretch/>
        </p:blipFill>
        <p:spPr>
          <a:xfrm>
            <a:off x="4346071" y="1642031"/>
            <a:ext cx="698700" cy="670037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84D47E-02A8-982D-47F8-491310EBAE37}"/>
              </a:ext>
            </a:extLst>
          </p:cNvPr>
          <p:cNvSpPr/>
          <p:nvPr/>
        </p:nvSpPr>
        <p:spPr>
          <a:xfrm>
            <a:off x="473801" y="2065026"/>
            <a:ext cx="1036573" cy="5241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Advisory and Consulting Services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EFA0A2-0114-D7DA-BC41-8F0A33645373}"/>
              </a:ext>
            </a:extLst>
          </p:cNvPr>
          <p:cNvSpPr/>
          <p:nvPr/>
        </p:nvSpPr>
        <p:spPr>
          <a:xfrm>
            <a:off x="473802" y="2675358"/>
            <a:ext cx="1036573" cy="5241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Development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0F99D4-3467-452D-4FD2-3BF500B06BC2}"/>
              </a:ext>
            </a:extLst>
          </p:cNvPr>
          <p:cNvSpPr/>
          <p:nvPr/>
        </p:nvSpPr>
        <p:spPr>
          <a:xfrm>
            <a:off x="473802" y="3896022"/>
            <a:ext cx="1036573" cy="5241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Migration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059D02-F5D1-8C3D-7BC1-6887EEDDF08C}"/>
              </a:ext>
            </a:extLst>
          </p:cNvPr>
          <p:cNvSpPr/>
          <p:nvPr/>
        </p:nvSpPr>
        <p:spPr>
          <a:xfrm>
            <a:off x="473802" y="3285690"/>
            <a:ext cx="1036573" cy="5241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079CB1-2130-8875-F10D-A7DA3E27BFE6}"/>
              </a:ext>
            </a:extLst>
          </p:cNvPr>
          <p:cNvSpPr/>
          <p:nvPr/>
        </p:nvSpPr>
        <p:spPr>
          <a:xfrm>
            <a:off x="465668" y="4506354"/>
            <a:ext cx="1036573" cy="5241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 and Managed Services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F571E9-C1CB-E0DF-74F8-97B44C688324}"/>
              </a:ext>
            </a:extLst>
          </p:cNvPr>
          <p:cNvSpPr/>
          <p:nvPr/>
        </p:nvSpPr>
        <p:spPr>
          <a:xfrm>
            <a:off x="465667" y="5116688"/>
            <a:ext cx="1036573" cy="5241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Testing &amp; QA</a:t>
            </a:r>
          </a:p>
        </p:txBody>
      </p:sp>
    </p:spTree>
    <p:extLst>
      <p:ext uri="{BB962C8B-B14F-4D97-AF65-F5344CB8AC3E}">
        <p14:creationId xmlns:p14="http://schemas.microsoft.com/office/powerpoint/2010/main" val="8770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E6E3-4275-F4FA-C073-70743648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Traversing the Path of Retrieval Augmented Generation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3D4A7-8753-3164-B46E-3FC1A49AC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EDAFCF8-37A5-CD16-D04F-956B7D76CD7A}"/>
              </a:ext>
            </a:extLst>
          </p:cNvPr>
          <p:cNvSpPr txBox="1"/>
          <p:nvPr/>
        </p:nvSpPr>
        <p:spPr>
          <a:xfrm>
            <a:off x="1449636" y="827158"/>
            <a:ext cx="8877265" cy="369332"/>
          </a:xfrm>
          <a:prstGeom prst="rect">
            <a:avLst/>
          </a:prstGeom>
          <a:solidFill>
            <a:srgbClr val="F18A3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 framework enhances responses by retrieving data from external knowledge sources.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3D2FA8C-75C8-5857-9000-AF5E3797A6B7}"/>
              </a:ext>
            </a:extLst>
          </p:cNvPr>
          <p:cNvGrpSpPr/>
          <p:nvPr/>
        </p:nvGrpSpPr>
        <p:grpSpPr>
          <a:xfrm>
            <a:off x="1370353" y="1713969"/>
            <a:ext cx="1463936" cy="1213397"/>
            <a:chOff x="1570689" y="1568451"/>
            <a:chExt cx="1463936" cy="1213397"/>
          </a:xfrm>
        </p:grpSpPr>
        <p:pic>
          <p:nvPicPr>
            <p:cNvPr id="117" name="Graphic 116" descr="Single gear with solid fill">
              <a:extLst>
                <a:ext uri="{FF2B5EF4-FFF2-40B4-BE49-F238E27FC236}">
                  <a16:creationId xmlns:a16="http://schemas.microsoft.com/office/drawing/2014/main" id="{A468EA94-873E-F7E5-069B-9E5391AA7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88770" y="1993544"/>
              <a:ext cx="788304" cy="788304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1996661-E29E-D3ED-0EBB-6BB3ABFDD430}"/>
                </a:ext>
              </a:extLst>
            </p:cNvPr>
            <p:cNvSpPr txBox="1"/>
            <p:nvPr/>
          </p:nvSpPr>
          <p:spPr>
            <a:xfrm>
              <a:off x="1570689" y="1568451"/>
              <a:ext cx="1463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API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Requested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12C4A21-B249-4515-9C48-A82D0CED8B5F}"/>
              </a:ext>
            </a:extLst>
          </p:cNvPr>
          <p:cNvGrpSpPr/>
          <p:nvPr/>
        </p:nvGrpSpPr>
        <p:grpSpPr>
          <a:xfrm>
            <a:off x="174098" y="1340263"/>
            <a:ext cx="1396967" cy="1189416"/>
            <a:chOff x="364115" y="1355996"/>
            <a:chExt cx="1396967" cy="118941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FBF0FB9-687B-146A-17FF-653A080D14B7}"/>
                </a:ext>
              </a:extLst>
            </p:cNvPr>
            <p:cNvSpPr txBox="1"/>
            <p:nvPr/>
          </p:nvSpPr>
          <p:spPr>
            <a:xfrm>
              <a:off x="364115" y="1355996"/>
              <a:ext cx="13969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Prompt </a:t>
              </a:r>
            </a:p>
          </p:txBody>
        </p:sp>
        <p:pic>
          <p:nvPicPr>
            <p:cNvPr id="81" name="Graphic 80" descr="Single gear with solid fill">
              <a:extLst>
                <a:ext uri="{FF2B5EF4-FFF2-40B4-BE49-F238E27FC236}">
                  <a16:creationId xmlns:a16="http://schemas.microsoft.com/office/drawing/2014/main" id="{386C70F7-1097-4A2A-60F9-61A12B4A6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2247" y="1757108"/>
              <a:ext cx="788304" cy="788304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38F716F-E9F2-C681-6F6A-6DBD30349D5B}"/>
              </a:ext>
            </a:extLst>
          </p:cNvPr>
          <p:cNvGrpSpPr/>
          <p:nvPr/>
        </p:nvGrpSpPr>
        <p:grpSpPr>
          <a:xfrm>
            <a:off x="2751206" y="1474732"/>
            <a:ext cx="1657096" cy="1183764"/>
            <a:chOff x="2723329" y="1452373"/>
            <a:chExt cx="1657096" cy="118376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720AB20-0FE9-91E1-A8FD-D9B63BFCAE11}"/>
                </a:ext>
              </a:extLst>
            </p:cNvPr>
            <p:cNvSpPr txBox="1"/>
            <p:nvPr/>
          </p:nvSpPr>
          <p:spPr>
            <a:xfrm>
              <a:off x="2723329" y="1452373"/>
              <a:ext cx="16570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Search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relevant information </a:t>
              </a:r>
              <a:endPara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2" name="Graphic 81" descr="Single gear with solid fill">
              <a:extLst>
                <a:ext uri="{FF2B5EF4-FFF2-40B4-BE49-F238E27FC236}">
                  <a16:creationId xmlns:a16="http://schemas.microsoft.com/office/drawing/2014/main" id="{58A9176F-556B-C023-39B6-0DFB2A87E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10575" y="1847833"/>
              <a:ext cx="788304" cy="788304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32629B1-36DE-BE85-4C02-12B82A31B5C9}"/>
              </a:ext>
            </a:extLst>
          </p:cNvPr>
          <p:cNvGrpSpPr/>
          <p:nvPr/>
        </p:nvGrpSpPr>
        <p:grpSpPr>
          <a:xfrm>
            <a:off x="7971644" y="1383891"/>
            <a:ext cx="1288771" cy="1245941"/>
            <a:chOff x="7766757" y="1355719"/>
            <a:chExt cx="1288771" cy="124594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0A7356D-C431-7849-2162-BEAE6DCEED58}"/>
                </a:ext>
              </a:extLst>
            </p:cNvPr>
            <p:cNvSpPr txBox="1"/>
            <p:nvPr/>
          </p:nvSpPr>
          <p:spPr>
            <a:xfrm>
              <a:off x="7766757" y="1355719"/>
              <a:ext cx="12887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Processing the context</a:t>
              </a:r>
              <a:endPara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3" name="Graphic 82" descr="Single gear with solid fill">
              <a:extLst>
                <a:ext uri="{FF2B5EF4-FFF2-40B4-BE49-F238E27FC236}">
                  <a16:creationId xmlns:a16="http://schemas.microsoft.com/office/drawing/2014/main" id="{E37DE494-6C6A-BBF4-8790-FDA72E8C2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24842" y="1813356"/>
              <a:ext cx="788304" cy="788304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7762AFA-33CC-120A-F59E-472C3044A0EC}"/>
              </a:ext>
            </a:extLst>
          </p:cNvPr>
          <p:cNvGrpSpPr/>
          <p:nvPr/>
        </p:nvGrpSpPr>
        <p:grpSpPr>
          <a:xfrm>
            <a:off x="4235346" y="1804758"/>
            <a:ext cx="1134718" cy="1190973"/>
            <a:chOff x="4185134" y="1679151"/>
            <a:chExt cx="1134718" cy="1190973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846CADB-07B3-B11D-23C3-5B6434F42E3A}"/>
                </a:ext>
              </a:extLst>
            </p:cNvPr>
            <p:cNvSpPr txBox="1"/>
            <p:nvPr/>
          </p:nvSpPr>
          <p:spPr>
            <a:xfrm>
              <a:off x="4185134" y="1679151"/>
              <a:ext cx="11347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Knowledge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source </a:t>
              </a:r>
              <a:endPara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4" name="Graphic 83" descr="Single gear with solid fill">
              <a:extLst>
                <a:ext uri="{FF2B5EF4-FFF2-40B4-BE49-F238E27FC236}">
                  <a16:creationId xmlns:a16="http://schemas.microsoft.com/office/drawing/2014/main" id="{90B15868-C077-C32C-D948-13C9A4CBC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26841" y="2081820"/>
              <a:ext cx="788304" cy="788304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69DC413-B236-23FB-4CCC-D041DA252044}"/>
              </a:ext>
            </a:extLst>
          </p:cNvPr>
          <p:cNvGrpSpPr/>
          <p:nvPr/>
        </p:nvGrpSpPr>
        <p:grpSpPr>
          <a:xfrm>
            <a:off x="6606842" y="1786347"/>
            <a:ext cx="1288770" cy="1195687"/>
            <a:chOff x="6526467" y="1684288"/>
            <a:chExt cx="1288770" cy="1195687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8730015-7D5C-0948-CFFE-D240EA0E60A7}"/>
                </a:ext>
              </a:extLst>
            </p:cNvPr>
            <p:cNvSpPr txBox="1"/>
            <p:nvPr/>
          </p:nvSpPr>
          <p:spPr>
            <a:xfrm>
              <a:off x="6526467" y="1684288"/>
              <a:ext cx="12887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3F3F3F"/>
                  </a:solidFill>
                  <a:latin typeface="Calibri" panose="020F0502020204030204"/>
                </a:rPr>
                <a:t>R</a:t>
              </a:r>
              <a:r>
                <a:rPr lang="en-IN" sz="1400" b="1" dirty="0">
                  <a:solidFill>
                    <a:srgbClr val="3F3F3F"/>
                  </a:solidFill>
                  <a:latin typeface="Calibri" panose="020F0502020204030204"/>
                </a:rPr>
                <a:t>equested to LLM end point</a:t>
              </a:r>
              <a:endPara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5" name="Graphic 84" descr="Single gear with solid fill">
              <a:extLst>
                <a:ext uri="{FF2B5EF4-FFF2-40B4-BE49-F238E27FC236}">
                  <a16:creationId xmlns:a16="http://schemas.microsoft.com/office/drawing/2014/main" id="{29864E9B-DD51-3BDF-F35D-5D2D267BF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4912" y="2091671"/>
              <a:ext cx="788304" cy="788304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29C1CB6-0ADD-68A3-29C9-3D3F302115E1}"/>
              </a:ext>
            </a:extLst>
          </p:cNvPr>
          <p:cNvGrpSpPr/>
          <p:nvPr/>
        </p:nvGrpSpPr>
        <p:grpSpPr>
          <a:xfrm>
            <a:off x="5070016" y="1345368"/>
            <a:ext cx="1714637" cy="1214485"/>
            <a:chOff x="5082578" y="1345314"/>
            <a:chExt cx="1714637" cy="121448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0C1CEF2-FC3D-5D3B-2FAC-46E32778475F}"/>
                </a:ext>
              </a:extLst>
            </p:cNvPr>
            <p:cNvSpPr txBox="1"/>
            <p:nvPr/>
          </p:nvSpPr>
          <p:spPr>
            <a:xfrm>
              <a:off x="5082578" y="1345314"/>
              <a:ext cx="17146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enhances context.</a:t>
              </a:r>
              <a:endPara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6" name="Graphic 85" descr="Single gear with solid fill">
              <a:extLst>
                <a:ext uri="{FF2B5EF4-FFF2-40B4-BE49-F238E27FC236}">
                  <a16:creationId xmlns:a16="http://schemas.microsoft.com/office/drawing/2014/main" id="{DC528B7D-B7D2-43C0-DC0E-088C2B97F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04982" y="1771495"/>
              <a:ext cx="788304" cy="788304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9496A46-84A0-F6BC-A853-F266A4C8CA87}"/>
              </a:ext>
            </a:extLst>
          </p:cNvPr>
          <p:cNvGrpSpPr/>
          <p:nvPr/>
        </p:nvGrpSpPr>
        <p:grpSpPr>
          <a:xfrm>
            <a:off x="10476434" y="1361131"/>
            <a:ext cx="1288772" cy="1161210"/>
            <a:chOff x="10043060" y="1324613"/>
            <a:chExt cx="1288772" cy="1161210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18F2588-9E9A-E780-22CC-1C0A9D3D451A}"/>
                </a:ext>
              </a:extLst>
            </p:cNvPr>
            <p:cNvSpPr txBox="1"/>
            <p:nvPr/>
          </p:nvSpPr>
          <p:spPr>
            <a:xfrm>
              <a:off x="10043060" y="1324613"/>
              <a:ext cx="1288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 to user</a:t>
              </a:r>
            </a:p>
          </p:txBody>
        </p:sp>
        <p:pic>
          <p:nvPicPr>
            <p:cNvPr id="87" name="Graphic 86" descr="Single gear with solid fill">
              <a:extLst>
                <a:ext uri="{FF2B5EF4-FFF2-40B4-BE49-F238E27FC236}">
                  <a16:creationId xmlns:a16="http://schemas.microsoft.com/office/drawing/2014/main" id="{6A53DA0A-506E-0118-255D-D71BE7759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93294" y="1697519"/>
              <a:ext cx="788304" cy="788304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0235E00-3909-B784-2953-12800E720776}"/>
              </a:ext>
            </a:extLst>
          </p:cNvPr>
          <p:cNvGrpSpPr/>
          <p:nvPr/>
        </p:nvGrpSpPr>
        <p:grpSpPr>
          <a:xfrm>
            <a:off x="9234868" y="1805004"/>
            <a:ext cx="1288771" cy="1196843"/>
            <a:chOff x="8894918" y="1757108"/>
            <a:chExt cx="1288771" cy="1196843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19D0331-E4D4-D3F7-33BA-12AD287E18CF}"/>
                </a:ext>
              </a:extLst>
            </p:cNvPr>
            <p:cNvSpPr txBox="1"/>
            <p:nvPr/>
          </p:nvSpPr>
          <p:spPr>
            <a:xfrm>
              <a:off x="8894918" y="1757108"/>
              <a:ext cx="12887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Fresh, quality data created</a:t>
              </a:r>
            </a:p>
          </p:txBody>
        </p:sp>
        <p:pic>
          <p:nvPicPr>
            <p:cNvPr id="88" name="Graphic 87" descr="Single gear with solid fill">
              <a:extLst>
                <a:ext uri="{FF2B5EF4-FFF2-40B4-BE49-F238E27FC236}">
                  <a16:creationId xmlns:a16="http://schemas.microsoft.com/office/drawing/2014/main" id="{9BF70036-310B-B217-C0C4-BC5922A14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34866" y="2165647"/>
              <a:ext cx="788304" cy="788304"/>
            </a:xfrm>
            <a:prstGeom prst="rect">
              <a:avLst/>
            </a:prstGeom>
          </p:spPr>
        </p:pic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3132880-F34A-2DF8-D378-B43DA6353CA2}"/>
              </a:ext>
            </a:extLst>
          </p:cNvPr>
          <p:cNvCxnSpPr>
            <a:cxnSpLocks/>
          </p:cNvCxnSpPr>
          <p:nvPr/>
        </p:nvCxnSpPr>
        <p:spPr>
          <a:xfrm>
            <a:off x="1266953" y="2241734"/>
            <a:ext cx="365367" cy="18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2A19A0E-44B1-ABEF-A9B9-93E5014CE666}"/>
              </a:ext>
            </a:extLst>
          </p:cNvPr>
          <p:cNvCxnSpPr>
            <a:cxnSpLocks/>
          </p:cNvCxnSpPr>
          <p:nvPr/>
        </p:nvCxnSpPr>
        <p:spPr>
          <a:xfrm>
            <a:off x="3955744" y="2305096"/>
            <a:ext cx="365367" cy="18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7BEEFE9-410C-B928-77BD-0EAAD4CD7B62}"/>
              </a:ext>
            </a:extLst>
          </p:cNvPr>
          <p:cNvCxnSpPr>
            <a:cxnSpLocks/>
          </p:cNvCxnSpPr>
          <p:nvPr/>
        </p:nvCxnSpPr>
        <p:spPr>
          <a:xfrm>
            <a:off x="6419286" y="2323754"/>
            <a:ext cx="365367" cy="18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06C150D-ED73-85B5-BB1D-EC9A94CDAB0A}"/>
              </a:ext>
            </a:extLst>
          </p:cNvPr>
          <p:cNvCxnSpPr>
            <a:cxnSpLocks/>
          </p:cNvCxnSpPr>
          <p:nvPr/>
        </p:nvCxnSpPr>
        <p:spPr>
          <a:xfrm>
            <a:off x="8976556" y="2295423"/>
            <a:ext cx="365367" cy="18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9400192-C583-E78C-D8E3-7F36331DCE32}"/>
              </a:ext>
            </a:extLst>
          </p:cNvPr>
          <p:cNvCxnSpPr>
            <a:cxnSpLocks/>
          </p:cNvCxnSpPr>
          <p:nvPr/>
        </p:nvCxnSpPr>
        <p:spPr>
          <a:xfrm flipV="1">
            <a:off x="2624911" y="2287147"/>
            <a:ext cx="365367" cy="242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0412D58-9FAB-F777-4919-FBC2C2E1E1C0}"/>
              </a:ext>
            </a:extLst>
          </p:cNvPr>
          <p:cNvCxnSpPr>
            <a:cxnSpLocks/>
          </p:cNvCxnSpPr>
          <p:nvPr/>
        </p:nvCxnSpPr>
        <p:spPr>
          <a:xfrm flipV="1">
            <a:off x="5196736" y="2234776"/>
            <a:ext cx="365367" cy="242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322636E-0E73-2289-45A5-D91920DBF7B9}"/>
              </a:ext>
            </a:extLst>
          </p:cNvPr>
          <p:cNvCxnSpPr>
            <a:cxnSpLocks/>
          </p:cNvCxnSpPr>
          <p:nvPr/>
        </p:nvCxnSpPr>
        <p:spPr>
          <a:xfrm flipV="1">
            <a:off x="7715272" y="2245976"/>
            <a:ext cx="365367" cy="242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4A2D152-95FF-6D8C-2DC0-7E6613B360AC}"/>
              </a:ext>
            </a:extLst>
          </p:cNvPr>
          <p:cNvCxnSpPr>
            <a:cxnSpLocks/>
          </p:cNvCxnSpPr>
          <p:nvPr/>
        </p:nvCxnSpPr>
        <p:spPr>
          <a:xfrm flipV="1">
            <a:off x="10330670" y="2202488"/>
            <a:ext cx="365367" cy="242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6DCAD149-4D09-544A-21E3-F62B0697F9B0}"/>
              </a:ext>
            </a:extLst>
          </p:cNvPr>
          <p:cNvSpPr txBox="1"/>
          <p:nvPr/>
        </p:nvSpPr>
        <p:spPr>
          <a:xfrm>
            <a:off x="2655802" y="2965264"/>
            <a:ext cx="6604613" cy="369332"/>
          </a:xfrm>
          <a:prstGeom prst="rect">
            <a:avLst/>
          </a:prstGeom>
          <a:solidFill>
            <a:srgbClr val="F18A3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sources 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Scouring pertinent data from external reservoirs.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Cylinder 126">
            <a:extLst>
              <a:ext uri="{FF2B5EF4-FFF2-40B4-BE49-F238E27FC236}">
                <a16:creationId xmlns:a16="http://schemas.microsoft.com/office/drawing/2014/main" id="{682B13BB-F25A-61A2-4B14-4738EC41A797}"/>
              </a:ext>
            </a:extLst>
          </p:cNvPr>
          <p:cNvSpPr/>
          <p:nvPr/>
        </p:nvSpPr>
        <p:spPr>
          <a:xfrm>
            <a:off x="898349" y="4727764"/>
            <a:ext cx="1997518" cy="385686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ylinder 127">
            <a:extLst>
              <a:ext uri="{FF2B5EF4-FFF2-40B4-BE49-F238E27FC236}">
                <a16:creationId xmlns:a16="http://schemas.microsoft.com/office/drawing/2014/main" id="{E909FB3B-B79E-20D3-7FD5-5C38F788B125}"/>
              </a:ext>
            </a:extLst>
          </p:cNvPr>
          <p:cNvSpPr/>
          <p:nvPr/>
        </p:nvSpPr>
        <p:spPr>
          <a:xfrm>
            <a:off x="898349" y="5101470"/>
            <a:ext cx="1997518" cy="385686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Cylinder 128">
            <a:extLst>
              <a:ext uri="{FF2B5EF4-FFF2-40B4-BE49-F238E27FC236}">
                <a16:creationId xmlns:a16="http://schemas.microsoft.com/office/drawing/2014/main" id="{DD37E335-15DE-674B-ADD2-B6459F952CD1}"/>
              </a:ext>
            </a:extLst>
          </p:cNvPr>
          <p:cNvSpPr/>
          <p:nvPr/>
        </p:nvSpPr>
        <p:spPr>
          <a:xfrm>
            <a:off x="898349" y="5487156"/>
            <a:ext cx="1997518" cy="385686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Cylinder 129">
            <a:extLst>
              <a:ext uri="{FF2B5EF4-FFF2-40B4-BE49-F238E27FC236}">
                <a16:creationId xmlns:a16="http://schemas.microsoft.com/office/drawing/2014/main" id="{E570AC42-D547-DCC3-2143-48EC2D047705}"/>
              </a:ext>
            </a:extLst>
          </p:cNvPr>
          <p:cNvSpPr/>
          <p:nvPr/>
        </p:nvSpPr>
        <p:spPr>
          <a:xfrm>
            <a:off x="898349" y="4354058"/>
            <a:ext cx="1997518" cy="385686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Cylinder 130">
            <a:extLst>
              <a:ext uri="{FF2B5EF4-FFF2-40B4-BE49-F238E27FC236}">
                <a16:creationId xmlns:a16="http://schemas.microsoft.com/office/drawing/2014/main" id="{926851AC-B47D-8168-0D33-0A72711AEB08}"/>
              </a:ext>
            </a:extLst>
          </p:cNvPr>
          <p:cNvSpPr/>
          <p:nvPr/>
        </p:nvSpPr>
        <p:spPr>
          <a:xfrm>
            <a:off x="898349" y="3968372"/>
            <a:ext cx="1997518" cy="385686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Cylinder 131">
            <a:extLst>
              <a:ext uri="{FF2B5EF4-FFF2-40B4-BE49-F238E27FC236}">
                <a16:creationId xmlns:a16="http://schemas.microsoft.com/office/drawing/2014/main" id="{FDD7EB55-4B1E-88FB-1F6B-2B00AF9BD077}"/>
              </a:ext>
            </a:extLst>
          </p:cNvPr>
          <p:cNvSpPr/>
          <p:nvPr/>
        </p:nvSpPr>
        <p:spPr>
          <a:xfrm>
            <a:off x="898349" y="3594666"/>
            <a:ext cx="1997518" cy="385686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E95B215-BF53-8005-32D8-9832118D88D5}"/>
              </a:ext>
            </a:extLst>
          </p:cNvPr>
          <p:cNvCxnSpPr>
            <a:cxnSpLocks/>
          </p:cNvCxnSpPr>
          <p:nvPr/>
        </p:nvCxnSpPr>
        <p:spPr>
          <a:xfrm>
            <a:off x="3455870" y="3670028"/>
            <a:ext cx="450307" cy="52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D43799E-77D7-48D9-3F20-1613DAA267B0}"/>
              </a:ext>
            </a:extLst>
          </p:cNvPr>
          <p:cNvCxnSpPr>
            <a:cxnSpLocks/>
          </p:cNvCxnSpPr>
          <p:nvPr/>
        </p:nvCxnSpPr>
        <p:spPr>
          <a:xfrm>
            <a:off x="3451179" y="4089200"/>
            <a:ext cx="450307" cy="52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3BF1744-991A-5045-940E-067BAD1078F2}"/>
              </a:ext>
            </a:extLst>
          </p:cNvPr>
          <p:cNvCxnSpPr>
            <a:cxnSpLocks/>
          </p:cNvCxnSpPr>
          <p:nvPr/>
        </p:nvCxnSpPr>
        <p:spPr>
          <a:xfrm>
            <a:off x="3448047" y="4514209"/>
            <a:ext cx="450307" cy="52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CC01624-388F-CA9A-EC0C-F39C60EE8EFE}"/>
              </a:ext>
            </a:extLst>
          </p:cNvPr>
          <p:cNvCxnSpPr>
            <a:cxnSpLocks/>
          </p:cNvCxnSpPr>
          <p:nvPr/>
        </p:nvCxnSpPr>
        <p:spPr>
          <a:xfrm>
            <a:off x="3455870" y="4920072"/>
            <a:ext cx="450307" cy="52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ED4CBCE-7B90-BA86-47E9-8767CAF7C28B}"/>
              </a:ext>
            </a:extLst>
          </p:cNvPr>
          <p:cNvCxnSpPr>
            <a:cxnSpLocks/>
          </p:cNvCxnSpPr>
          <p:nvPr/>
        </p:nvCxnSpPr>
        <p:spPr>
          <a:xfrm>
            <a:off x="3469269" y="5764815"/>
            <a:ext cx="450307" cy="52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085A70A-CCA9-241E-966A-164C21F2174F}"/>
              </a:ext>
            </a:extLst>
          </p:cNvPr>
          <p:cNvCxnSpPr>
            <a:cxnSpLocks/>
          </p:cNvCxnSpPr>
          <p:nvPr/>
        </p:nvCxnSpPr>
        <p:spPr>
          <a:xfrm>
            <a:off x="3469072" y="5294313"/>
            <a:ext cx="450307" cy="52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809728A0-63A8-1677-DCD8-D03AE7857BC2}"/>
              </a:ext>
            </a:extLst>
          </p:cNvPr>
          <p:cNvSpPr txBox="1"/>
          <p:nvPr/>
        </p:nvSpPr>
        <p:spPr>
          <a:xfrm>
            <a:off x="4150456" y="3968372"/>
            <a:ext cx="5603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300" b="1" dirty="0">
                <a:solidFill>
                  <a:srgbClr val="002060"/>
                </a:solidFill>
                <a:latin typeface="Calibri" panose="020F0502020204030204"/>
              </a:rPr>
              <a:t>Online </a:t>
            </a:r>
            <a:r>
              <a:rPr lang="en-US" sz="1300" b="1" dirty="0">
                <a:solidFill>
                  <a:srgbClr val="002060"/>
                </a:solidFill>
                <a:latin typeface="Calibri" panose="020F0502020204030204"/>
              </a:rPr>
              <a:t>Sources </a:t>
            </a:r>
            <a:endParaRPr kumimoji="0" lang="en-IN" sz="13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0D0D0D"/>
                </a:solidFill>
                <a:effectLst/>
                <a:latin typeface="Söhne"/>
              </a:rPr>
              <a:t>Diverse web-based platforms offering valuable data.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A95502F-A164-C50D-EBB6-56A98C0E3B7A}"/>
              </a:ext>
            </a:extLst>
          </p:cNvPr>
          <p:cNvSpPr txBox="1"/>
          <p:nvPr/>
        </p:nvSpPr>
        <p:spPr>
          <a:xfrm>
            <a:off x="4152759" y="4385734"/>
            <a:ext cx="560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300" b="1" dirty="0">
                <a:solidFill>
                  <a:srgbClr val="002060"/>
                </a:solidFill>
                <a:latin typeface="Calibri" panose="020F0502020204030204"/>
              </a:rPr>
              <a:t>Application </a:t>
            </a:r>
            <a:r>
              <a:rPr lang="en-US" sz="1300" b="1" dirty="0">
                <a:solidFill>
                  <a:srgbClr val="002060"/>
                </a:solidFill>
                <a:latin typeface="Calibri" panose="020F0502020204030204"/>
              </a:rPr>
              <a:t>programming interface</a:t>
            </a:r>
            <a:endParaRPr kumimoji="0" lang="en-IN" sz="13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0D0D0D"/>
                </a:solidFill>
                <a:effectLst/>
                <a:latin typeface="Söhne"/>
              </a:rPr>
              <a:t>Software intermediary enabling communication between different applications.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F9247D6-C327-121F-A7D4-95B803105E93}"/>
              </a:ext>
            </a:extLst>
          </p:cNvPr>
          <p:cNvSpPr txBox="1"/>
          <p:nvPr/>
        </p:nvSpPr>
        <p:spPr>
          <a:xfrm>
            <a:off x="4166322" y="3514952"/>
            <a:ext cx="560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300" b="1" dirty="0">
                <a:solidFill>
                  <a:srgbClr val="002060"/>
                </a:solidFill>
                <a:latin typeface="Calibri" panose="020F0502020204030204"/>
              </a:rPr>
              <a:t>Data </a:t>
            </a:r>
            <a:r>
              <a:rPr lang="en-US" sz="1300" b="1" dirty="0">
                <a:solidFill>
                  <a:srgbClr val="002060"/>
                </a:solidFill>
                <a:latin typeface="Calibri" panose="020F0502020204030204"/>
              </a:rPr>
              <a:t>Sources </a:t>
            </a:r>
            <a:endParaRPr kumimoji="0" lang="en-IN" sz="13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Various repositories providing relevant information for retrieval.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AC48AA5-5F5E-D1CF-2D13-4DC4B62548F8}"/>
              </a:ext>
            </a:extLst>
          </p:cNvPr>
          <p:cNvSpPr txBox="1"/>
          <p:nvPr/>
        </p:nvSpPr>
        <p:spPr>
          <a:xfrm>
            <a:off x="4138230" y="5202413"/>
            <a:ext cx="5603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300" b="1" dirty="0">
                <a:solidFill>
                  <a:srgbClr val="002060"/>
                </a:solidFill>
                <a:latin typeface="Calibri" panose="020F0502020204030204"/>
              </a:rPr>
              <a:t>Digital </a:t>
            </a:r>
            <a:r>
              <a:rPr lang="en-US" sz="1300" b="1" dirty="0">
                <a:solidFill>
                  <a:srgbClr val="002060"/>
                </a:solidFill>
                <a:latin typeface="Calibri" panose="020F0502020204030204"/>
              </a:rPr>
              <a:t>Libraries </a:t>
            </a:r>
            <a:endParaRPr kumimoji="0" lang="en-IN" sz="13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0D0D0D"/>
                </a:solidFill>
                <a:effectLst/>
                <a:latin typeface="Söhne"/>
              </a:rPr>
              <a:t>Repositories of digital content, such as books and articles.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8B2D702-2F0A-7380-0AD0-B73608DCD36F}"/>
              </a:ext>
            </a:extLst>
          </p:cNvPr>
          <p:cNvSpPr txBox="1"/>
          <p:nvPr/>
        </p:nvSpPr>
        <p:spPr>
          <a:xfrm>
            <a:off x="4152759" y="4801029"/>
            <a:ext cx="5603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Databases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repositories storing structured data for retrieval.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0F83CD3-9ABF-9143-E6CD-707965EEF95A}"/>
              </a:ext>
            </a:extLst>
          </p:cNvPr>
          <p:cNvSpPr txBox="1"/>
          <p:nvPr/>
        </p:nvSpPr>
        <p:spPr>
          <a:xfrm>
            <a:off x="4138427" y="5617708"/>
            <a:ext cx="6334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300" b="1" dirty="0">
                <a:solidFill>
                  <a:srgbClr val="002060"/>
                </a:solidFill>
                <a:latin typeface="Calibri" panose="020F0502020204030204"/>
              </a:rPr>
              <a:t>Social media </a:t>
            </a:r>
            <a:r>
              <a:rPr lang="en-US" sz="1300" b="1" dirty="0">
                <a:solidFill>
                  <a:srgbClr val="002060"/>
                </a:solidFill>
                <a:latin typeface="Calibri" panose="020F0502020204030204"/>
              </a:rPr>
              <a:t>platforms </a:t>
            </a:r>
            <a:endParaRPr kumimoji="0" lang="en-IN" sz="13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0D0D0D"/>
                </a:solidFill>
                <a:effectLst/>
                <a:latin typeface="Söhne"/>
              </a:rPr>
              <a:t>Online platforms for user-generated content and interaction.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41F4A4-61DA-C34C-D4EE-D6A79ECD3CD7}"/>
              </a:ext>
            </a:extLst>
          </p:cNvPr>
          <p:cNvSpPr/>
          <p:nvPr/>
        </p:nvSpPr>
        <p:spPr>
          <a:xfrm>
            <a:off x="1744117" y="3695762"/>
            <a:ext cx="305981" cy="310302"/>
          </a:xfrm>
          <a:prstGeom prst="ellipse">
            <a:avLst/>
          </a:prstGeom>
          <a:solidFill>
            <a:srgbClr val="F18A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8F740C-E135-D538-E571-0963E488C5F1}"/>
              </a:ext>
            </a:extLst>
          </p:cNvPr>
          <p:cNvSpPr/>
          <p:nvPr/>
        </p:nvSpPr>
        <p:spPr>
          <a:xfrm>
            <a:off x="1744117" y="4044053"/>
            <a:ext cx="305981" cy="310302"/>
          </a:xfrm>
          <a:prstGeom prst="ellipse">
            <a:avLst/>
          </a:prstGeom>
          <a:solidFill>
            <a:srgbClr val="F18A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F88188-DD2E-0152-BBF2-2E6C48F1E393}"/>
              </a:ext>
            </a:extLst>
          </p:cNvPr>
          <p:cNvSpPr/>
          <p:nvPr/>
        </p:nvSpPr>
        <p:spPr>
          <a:xfrm>
            <a:off x="1742438" y="4412601"/>
            <a:ext cx="305981" cy="310302"/>
          </a:xfrm>
          <a:prstGeom prst="ellipse">
            <a:avLst/>
          </a:prstGeom>
          <a:solidFill>
            <a:srgbClr val="F18A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C55D4F-327F-F5B1-7B26-BC9687644A08}"/>
              </a:ext>
            </a:extLst>
          </p:cNvPr>
          <p:cNvSpPr/>
          <p:nvPr/>
        </p:nvSpPr>
        <p:spPr>
          <a:xfrm>
            <a:off x="1744117" y="4809687"/>
            <a:ext cx="305981" cy="310302"/>
          </a:xfrm>
          <a:prstGeom prst="ellipse">
            <a:avLst/>
          </a:prstGeom>
          <a:solidFill>
            <a:srgbClr val="F18A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141C99-F163-5B8D-CB4F-7CA02554347D}"/>
              </a:ext>
            </a:extLst>
          </p:cNvPr>
          <p:cNvSpPr/>
          <p:nvPr/>
        </p:nvSpPr>
        <p:spPr>
          <a:xfrm>
            <a:off x="1747050" y="5202413"/>
            <a:ext cx="305981" cy="310302"/>
          </a:xfrm>
          <a:prstGeom prst="ellipse">
            <a:avLst/>
          </a:prstGeom>
          <a:solidFill>
            <a:srgbClr val="F18A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C8FD5A-E4C6-8F29-A53E-67EB3ECF0CB0}"/>
              </a:ext>
            </a:extLst>
          </p:cNvPr>
          <p:cNvSpPr/>
          <p:nvPr/>
        </p:nvSpPr>
        <p:spPr>
          <a:xfrm>
            <a:off x="1747050" y="5567401"/>
            <a:ext cx="305981" cy="310302"/>
          </a:xfrm>
          <a:prstGeom prst="ellipse">
            <a:avLst/>
          </a:prstGeom>
          <a:solidFill>
            <a:srgbClr val="F18A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061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A18C-FD52-9CA2-83F2-EB64922B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52FA4-D6E9-08B1-AD0B-55A07F59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RAG Essence Unveiled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9F8F8-A3FE-54C9-45EF-33268D8F7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4111" y="6312467"/>
            <a:ext cx="251927" cy="18466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Google Shape;452;p67">
            <a:extLst>
              <a:ext uri="{FF2B5EF4-FFF2-40B4-BE49-F238E27FC236}">
                <a16:creationId xmlns:a16="http://schemas.microsoft.com/office/drawing/2014/main" id="{38BFC2F0-3182-744C-2046-7893322672A2}"/>
              </a:ext>
            </a:extLst>
          </p:cNvPr>
          <p:cNvSpPr txBox="1"/>
          <p:nvPr/>
        </p:nvSpPr>
        <p:spPr>
          <a:xfrm>
            <a:off x="4867603" y="3985320"/>
            <a:ext cx="246773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M Sans"/>
                <a:ea typeface="+mn-ea"/>
                <a:cs typeface="+mn-cs"/>
                <a:sym typeface="DM Sans"/>
              </a:rPr>
              <a:t>We provide enhanced data sourced  for optimal performance.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M Sans"/>
                <a:ea typeface="+mn-ea"/>
                <a:cs typeface="+mn-cs"/>
                <a:sym typeface="DM Sans"/>
              </a:rPr>
              <a:t>	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18A31"/>
                </a:solidFill>
                <a:effectLst/>
                <a:uLnTx/>
                <a:uFillTx/>
                <a:latin typeface="DM Sans"/>
                <a:ea typeface="+mn-ea"/>
                <a:cs typeface="+mn-cs"/>
                <a:sym typeface="DM Sans"/>
              </a:rPr>
              <a:t> +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18A31"/>
              </a:solidFill>
              <a:effectLst/>
              <a:uLnTx/>
              <a:uFillTx/>
              <a:latin typeface="DM Sans"/>
              <a:ea typeface="+mn-ea"/>
              <a:cs typeface="+mn-cs"/>
              <a:sym typeface="DM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M Sans"/>
                <a:ea typeface="+mn-ea"/>
                <a:cs typeface="+mn-cs"/>
                <a:sym typeface="DM Sans"/>
              </a:rPr>
              <a:t>     External sources 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433BFEE-9CE9-4F6A-08B6-7393CA438A8B}"/>
              </a:ext>
            </a:extLst>
          </p:cNvPr>
          <p:cNvSpPr/>
          <p:nvPr/>
        </p:nvSpPr>
        <p:spPr>
          <a:xfrm>
            <a:off x="7335337" y="2354933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400" b="1" dirty="0">
              <a:solidFill>
                <a:srgbClr val="0D0D0D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System Integration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88DD735-D80A-6C1C-3393-A643F3432343}"/>
              </a:ext>
            </a:extLst>
          </p:cNvPr>
          <p:cNvSpPr/>
          <p:nvPr/>
        </p:nvSpPr>
        <p:spPr>
          <a:xfrm>
            <a:off x="9591334" y="2358363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API Compatibility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428E06D-627D-6C07-9C2E-8468227AC0D8}"/>
              </a:ext>
            </a:extLst>
          </p:cNvPr>
          <p:cNvSpPr/>
          <p:nvPr/>
        </p:nvSpPr>
        <p:spPr>
          <a:xfrm>
            <a:off x="7335337" y="3666820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Customization Capabilities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592EA15-7D7B-7945-2009-D39BD5211E51}"/>
              </a:ext>
            </a:extLst>
          </p:cNvPr>
          <p:cNvSpPr/>
          <p:nvPr/>
        </p:nvSpPr>
        <p:spPr>
          <a:xfrm>
            <a:off x="7335337" y="5002608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Real-time Integration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931ED6C-F108-17C9-3214-75E94F906AB4}"/>
              </a:ext>
            </a:extLst>
          </p:cNvPr>
          <p:cNvSpPr/>
          <p:nvPr/>
        </p:nvSpPr>
        <p:spPr>
          <a:xfrm>
            <a:off x="9591334" y="4989981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Scalability Options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4FF8222-5422-4AB6-966F-7D94F1CAA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5695" y="2184369"/>
            <a:ext cx="1961571" cy="1544863"/>
          </a:xfrm>
          <a:prstGeom prst="rect">
            <a:avLst/>
          </a:prstGeom>
        </p:spPr>
      </p:pic>
      <p:sp>
        <p:nvSpPr>
          <p:cNvPr id="107" name="Google Shape;452;p67">
            <a:extLst>
              <a:ext uri="{FF2B5EF4-FFF2-40B4-BE49-F238E27FC236}">
                <a16:creationId xmlns:a16="http://schemas.microsoft.com/office/drawing/2014/main" id="{7B149F79-95ED-66D5-5559-4988580BE7C6}"/>
              </a:ext>
            </a:extLst>
          </p:cNvPr>
          <p:cNvSpPr txBox="1"/>
          <p:nvPr/>
        </p:nvSpPr>
        <p:spPr>
          <a:xfrm>
            <a:off x="8204504" y="1896686"/>
            <a:ext cx="2563922" cy="3385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M Sans"/>
                <a:ea typeface="+mn-ea"/>
                <a:cs typeface="+mn-cs"/>
                <a:sym typeface="DM Sans"/>
              </a:rPr>
              <a:t>Integration Capabilities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6B5EDAF-17E9-4805-29D2-A6F4E3DB2B02}"/>
              </a:ext>
            </a:extLst>
          </p:cNvPr>
          <p:cNvSpPr/>
          <p:nvPr/>
        </p:nvSpPr>
        <p:spPr>
          <a:xfrm>
            <a:off x="530853" y="2358363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User Prompt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FC5FA26-DB21-BB90-B7DA-22E7440CE09A}"/>
              </a:ext>
            </a:extLst>
          </p:cNvPr>
          <p:cNvSpPr/>
          <p:nvPr/>
        </p:nvSpPr>
        <p:spPr>
          <a:xfrm>
            <a:off x="2774118" y="2354933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Context send to LLM model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51D3032-1934-3E97-0FD8-3954B064D893}"/>
              </a:ext>
            </a:extLst>
          </p:cNvPr>
          <p:cNvSpPr/>
          <p:nvPr/>
        </p:nvSpPr>
        <p:spPr>
          <a:xfrm>
            <a:off x="523534" y="3666818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API requested to external source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3D2454B-7DCA-5A47-8E41-97522A36A24F}"/>
              </a:ext>
            </a:extLst>
          </p:cNvPr>
          <p:cNvSpPr/>
          <p:nvPr/>
        </p:nvSpPr>
        <p:spPr>
          <a:xfrm>
            <a:off x="2774118" y="3666820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LLM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synthesis the data of context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FA9FDA8-4A07-37A7-E42D-BB722E7BD608}"/>
              </a:ext>
            </a:extLst>
          </p:cNvPr>
          <p:cNvSpPr/>
          <p:nvPr/>
        </p:nvSpPr>
        <p:spPr>
          <a:xfrm>
            <a:off x="530853" y="5002608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Search relevant data context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68A8F44-395D-9562-3975-EFB017568CE1}"/>
              </a:ext>
            </a:extLst>
          </p:cNvPr>
          <p:cNvSpPr/>
          <p:nvPr/>
        </p:nvSpPr>
        <p:spPr>
          <a:xfrm>
            <a:off x="2774118" y="4978707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Precise data send to user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F4459B73-C424-3C11-902E-42FC8E07358E}"/>
              </a:ext>
            </a:extLst>
          </p:cNvPr>
          <p:cNvSpPr txBox="1"/>
          <p:nvPr/>
        </p:nvSpPr>
        <p:spPr>
          <a:xfrm>
            <a:off x="2429068" y="1258961"/>
            <a:ext cx="7333861" cy="338554"/>
          </a:xfrm>
          <a:prstGeom prst="rect">
            <a:avLst/>
          </a:prstGeom>
          <a:solidFill>
            <a:srgbClr val="F18A3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"We leverage diverse external sources for updated data and superior responses."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9" name="Google Shape;452;p67">
            <a:extLst>
              <a:ext uri="{FF2B5EF4-FFF2-40B4-BE49-F238E27FC236}">
                <a16:creationId xmlns:a16="http://schemas.microsoft.com/office/drawing/2014/main" id="{0B9EE639-70FC-7B68-CFB0-E5BB5BAF1B04}"/>
              </a:ext>
            </a:extLst>
          </p:cNvPr>
          <p:cNvSpPr txBox="1"/>
          <p:nvPr/>
        </p:nvSpPr>
        <p:spPr>
          <a:xfrm>
            <a:off x="1423575" y="1855392"/>
            <a:ext cx="2215172" cy="3385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M Sans"/>
                <a:ea typeface="+mn-ea"/>
                <a:cs typeface="+mn-cs"/>
                <a:sym typeface="DM Sans"/>
              </a:rPr>
              <a:t>Core Functionalities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2EE3FCAF-FCAB-8A31-C56F-58933A839B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133" t="41761" r="22731" b="41943"/>
          <a:stretch/>
        </p:blipFill>
        <p:spPr>
          <a:xfrm>
            <a:off x="5037168" y="711114"/>
            <a:ext cx="2117663" cy="4610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3D042D-EE61-8489-8077-F3F2CED0D86E}"/>
              </a:ext>
            </a:extLst>
          </p:cNvPr>
          <p:cNvSpPr/>
          <p:nvPr/>
        </p:nvSpPr>
        <p:spPr>
          <a:xfrm>
            <a:off x="9591334" y="3666817"/>
            <a:ext cx="1949714" cy="1091945"/>
          </a:xfrm>
          <a:prstGeom prst="rect">
            <a:avLst/>
          </a:prstGeom>
          <a:solidFill>
            <a:schemeClr val="bg1"/>
          </a:solidFill>
          <a:ln>
            <a:solidFill>
              <a:srgbClr val="F18A3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API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Integrations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090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0F0D-1EE8-DCC8-83B3-A992AAF3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Benefits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3B130-7F38-8E64-9F5C-E8D45E02A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 descr="Arrow circle with solid fill">
            <a:extLst>
              <a:ext uri="{FF2B5EF4-FFF2-40B4-BE49-F238E27FC236}">
                <a16:creationId xmlns:a16="http://schemas.microsoft.com/office/drawing/2014/main" id="{D1E8F235-63D9-4DEC-BCB1-1E94CABFB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7634" y="3361564"/>
            <a:ext cx="1879961" cy="1879961"/>
          </a:xfrm>
          <a:prstGeom prst="rect">
            <a:avLst/>
          </a:prstGeom>
        </p:spPr>
      </p:pic>
      <p:pic>
        <p:nvPicPr>
          <p:cNvPr id="9" name="Graphic 8" descr="Arrow circle with solid fill">
            <a:extLst>
              <a:ext uri="{FF2B5EF4-FFF2-40B4-BE49-F238E27FC236}">
                <a16:creationId xmlns:a16="http://schemas.microsoft.com/office/drawing/2014/main" id="{DDCC8818-F800-251B-49C3-54CA98C86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941" y="1414168"/>
            <a:ext cx="1879961" cy="1879961"/>
          </a:xfrm>
          <a:prstGeom prst="rect">
            <a:avLst/>
          </a:prstGeom>
        </p:spPr>
      </p:pic>
      <p:pic>
        <p:nvPicPr>
          <p:cNvPr id="10" name="Graphic 9" descr="Arrow circle with solid fill">
            <a:extLst>
              <a:ext uri="{FF2B5EF4-FFF2-40B4-BE49-F238E27FC236}">
                <a16:creationId xmlns:a16="http://schemas.microsoft.com/office/drawing/2014/main" id="{806C6F95-D35B-521C-9285-E293E3898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6409" y="1414168"/>
            <a:ext cx="1879961" cy="1879961"/>
          </a:xfrm>
          <a:prstGeom prst="rect">
            <a:avLst/>
          </a:prstGeom>
        </p:spPr>
      </p:pic>
      <p:pic>
        <p:nvPicPr>
          <p:cNvPr id="11" name="Graphic 10" descr="Arrow circle with solid fill">
            <a:extLst>
              <a:ext uri="{FF2B5EF4-FFF2-40B4-BE49-F238E27FC236}">
                <a16:creationId xmlns:a16="http://schemas.microsoft.com/office/drawing/2014/main" id="{9F7B6180-FC6B-939B-6E55-C2939F5C0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918" y="3361564"/>
            <a:ext cx="1879961" cy="1879961"/>
          </a:xfrm>
          <a:prstGeom prst="rect">
            <a:avLst/>
          </a:prstGeom>
        </p:spPr>
      </p:pic>
      <p:pic>
        <p:nvPicPr>
          <p:cNvPr id="12" name="Graphic 11" descr="Arrow circle with solid fill">
            <a:extLst>
              <a:ext uri="{FF2B5EF4-FFF2-40B4-BE49-F238E27FC236}">
                <a16:creationId xmlns:a16="http://schemas.microsoft.com/office/drawing/2014/main" id="{92A808E7-8F24-7E63-65E7-991115C6C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8152" y="1414168"/>
            <a:ext cx="1879961" cy="1879961"/>
          </a:xfrm>
          <a:prstGeom prst="rect">
            <a:avLst/>
          </a:prstGeom>
        </p:spPr>
      </p:pic>
      <p:pic>
        <p:nvPicPr>
          <p:cNvPr id="13" name="Graphic 12" descr="Arrow circle with solid fill">
            <a:extLst>
              <a:ext uri="{FF2B5EF4-FFF2-40B4-BE49-F238E27FC236}">
                <a16:creationId xmlns:a16="http://schemas.microsoft.com/office/drawing/2014/main" id="{269587A0-53B3-4023-F034-96EF8D0AA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2202" y="3361564"/>
            <a:ext cx="1879961" cy="1879961"/>
          </a:xfrm>
          <a:prstGeom prst="rect">
            <a:avLst/>
          </a:prstGeom>
        </p:spPr>
      </p:pic>
      <p:pic>
        <p:nvPicPr>
          <p:cNvPr id="14" name="Graphic 13" descr="Arrow circle with solid fill">
            <a:extLst>
              <a:ext uri="{FF2B5EF4-FFF2-40B4-BE49-F238E27FC236}">
                <a16:creationId xmlns:a16="http://schemas.microsoft.com/office/drawing/2014/main" id="{15D769E5-4867-1CE1-7B29-CD490A697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9895" y="1414168"/>
            <a:ext cx="1879961" cy="1879961"/>
          </a:xfrm>
          <a:prstGeom prst="rect">
            <a:avLst/>
          </a:prstGeom>
        </p:spPr>
      </p:pic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8201346E-1E52-A51B-18D6-9DCE6F4A1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389175" y="2102307"/>
            <a:ext cx="541562" cy="541562"/>
          </a:xfrm>
          <a:prstGeom prst="rect">
            <a:avLst/>
          </a:prstGeom>
        </p:spPr>
      </p:pic>
      <p:pic>
        <p:nvPicPr>
          <p:cNvPr id="22" name="Graphic 21" descr="Statistics with solid fill">
            <a:extLst>
              <a:ext uri="{FF2B5EF4-FFF2-40B4-BE49-F238E27FC236}">
                <a16:creationId xmlns:a16="http://schemas.microsoft.com/office/drawing/2014/main" id="{1DA5026A-4508-E060-F8E1-9D351A8C96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58645" y="4010207"/>
            <a:ext cx="574722" cy="574722"/>
          </a:xfrm>
          <a:prstGeom prst="rect">
            <a:avLst/>
          </a:prstGeom>
        </p:spPr>
      </p:pic>
      <p:pic>
        <p:nvPicPr>
          <p:cNvPr id="26" name="Graphic 25" descr="Head with gears with solid fill">
            <a:extLst>
              <a:ext uri="{FF2B5EF4-FFF2-40B4-BE49-F238E27FC236}">
                <a16:creationId xmlns:a16="http://schemas.microsoft.com/office/drawing/2014/main" id="{750B413A-7CFF-EF85-27C0-98B7269BB1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001600" y="2019653"/>
            <a:ext cx="587594" cy="587594"/>
          </a:xfrm>
          <a:prstGeom prst="rect">
            <a:avLst/>
          </a:prstGeom>
        </p:spPr>
      </p:pic>
      <p:pic>
        <p:nvPicPr>
          <p:cNvPr id="28" name="Graphic 27" descr="Lock with solid fill">
            <a:extLst>
              <a:ext uri="{FF2B5EF4-FFF2-40B4-BE49-F238E27FC236}">
                <a16:creationId xmlns:a16="http://schemas.microsoft.com/office/drawing/2014/main" id="{BA8820B3-9BC2-B5FE-B42A-FA4E0462DE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14179" y="2047001"/>
            <a:ext cx="532898" cy="532898"/>
          </a:xfrm>
          <a:prstGeom prst="rect">
            <a:avLst/>
          </a:prstGeom>
        </p:spPr>
      </p:pic>
      <p:pic>
        <p:nvPicPr>
          <p:cNvPr id="30" name="Graphic 29" descr="Handshake with solid fill">
            <a:extLst>
              <a:ext uri="{FF2B5EF4-FFF2-40B4-BE49-F238E27FC236}">
                <a16:creationId xmlns:a16="http://schemas.microsoft.com/office/drawing/2014/main" id="{AB713E4E-1663-A265-13BF-F9F053A43DE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302886" y="4045086"/>
            <a:ext cx="550795" cy="550795"/>
          </a:xfrm>
          <a:prstGeom prst="rect">
            <a:avLst/>
          </a:prstGeom>
        </p:spPr>
      </p:pic>
      <p:pic>
        <p:nvPicPr>
          <p:cNvPr id="32" name="Picture 31" descr="Connections with solid fill">
            <a:extLst>
              <a:ext uri="{FF2B5EF4-FFF2-40B4-BE49-F238E27FC236}">
                <a16:creationId xmlns:a16="http://schemas.microsoft.com/office/drawing/2014/main" id="{F6930DCE-8388-BEEF-7083-A05A740221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1357" r="1357"/>
          <a:stretch/>
        </p:blipFill>
        <p:spPr>
          <a:xfrm>
            <a:off x="844923" y="2044006"/>
            <a:ext cx="583583" cy="59986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B79CA25-A724-1B01-A209-DD8CD2EC0808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4883" b="15910"/>
          <a:stretch/>
        </p:blipFill>
        <p:spPr>
          <a:xfrm>
            <a:off x="2336546" y="4045086"/>
            <a:ext cx="571706" cy="505428"/>
          </a:xfrm>
          <a:prstGeom prst="rect">
            <a:avLst/>
          </a:prstGeom>
        </p:spPr>
      </p:pic>
      <p:pic>
        <p:nvPicPr>
          <p:cNvPr id="36" name="Graphic 35" descr="Chevron arrows with solid fill">
            <a:extLst>
              <a:ext uri="{FF2B5EF4-FFF2-40B4-BE49-F238E27FC236}">
                <a16:creationId xmlns:a16="http://schemas.microsoft.com/office/drawing/2014/main" id="{937EA5E3-1915-702B-8CE0-5A5A871EC7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9178029">
            <a:off x="3145215" y="2965618"/>
            <a:ext cx="684324" cy="684324"/>
          </a:xfrm>
          <a:prstGeom prst="rect">
            <a:avLst/>
          </a:prstGeom>
        </p:spPr>
      </p:pic>
      <p:pic>
        <p:nvPicPr>
          <p:cNvPr id="37" name="Graphic 36" descr="Chevron arrows with solid fill">
            <a:extLst>
              <a:ext uri="{FF2B5EF4-FFF2-40B4-BE49-F238E27FC236}">
                <a16:creationId xmlns:a16="http://schemas.microsoft.com/office/drawing/2014/main" id="{0BF8CCCE-EEBA-66DF-5EFB-DBC4C1939A9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3160799">
            <a:off x="1514834" y="3064529"/>
            <a:ext cx="684324" cy="684324"/>
          </a:xfrm>
          <a:prstGeom prst="rect">
            <a:avLst/>
          </a:prstGeom>
        </p:spPr>
      </p:pic>
      <p:pic>
        <p:nvPicPr>
          <p:cNvPr id="38" name="Graphic 37" descr="Chevron arrows with solid fill">
            <a:extLst>
              <a:ext uri="{FF2B5EF4-FFF2-40B4-BE49-F238E27FC236}">
                <a16:creationId xmlns:a16="http://schemas.microsoft.com/office/drawing/2014/main" id="{90AA59C5-584D-93D1-97BE-E994F786AE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3160799">
            <a:off x="8348369" y="2989945"/>
            <a:ext cx="684324" cy="684324"/>
          </a:xfrm>
          <a:prstGeom prst="rect">
            <a:avLst/>
          </a:prstGeom>
        </p:spPr>
      </p:pic>
      <p:pic>
        <p:nvPicPr>
          <p:cNvPr id="39" name="Graphic 38" descr="Chevron arrows with solid fill">
            <a:extLst>
              <a:ext uri="{FF2B5EF4-FFF2-40B4-BE49-F238E27FC236}">
                <a16:creationId xmlns:a16="http://schemas.microsoft.com/office/drawing/2014/main" id="{DD520043-8866-D3D3-6346-C5D818261D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9178029">
            <a:off x="6614931" y="2965619"/>
            <a:ext cx="684324" cy="684324"/>
          </a:xfrm>
          <a:prstGeom prst="rect">
            <a:avLst/>
          </a:prstGeom>
        </p:spPr>
      </p:pic>
      <p:pic>
        <p:nvPicPr>
          <p:cNvPr id="40" name="Graphic 39" descr="Chevron arrows with solid fill">
            <a:extLst>
              <a:ext uri="{FF2B5EF4-FFF2-40B4-BE49-F238E27FC236}">
                <a16:creationId xmlns:a16="http://schemas.microsoft.com/office/drawing/2014/main" id="{10A0941B-6900-6540-F636-4EEE761584D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9178029">
            <a:off x="10220089" y="3047910"/>
            <a:ext cx="684324" cy="684324"/>
          </a:xfrm>
          <a:prstGeom prst="rect">
            <a:avLst/>
          </a:prstGeom>
        </p:spPr>
      </p:pic>
      <p:pic>
        <p:nvPicPr>
          <p:cNvPr id="41" name="Graphic 40" descr="Chevron arrows with solid fill">
            <a:extLst>
              <a:ext uri="{FF2B5EF4-FFF2-40B4-BE49-F238E27FC236}">
                <a16:creationId xmlns:a16="http://schemas.microsoft.com/office/drawing/2014/main" id="{E0446A51-CA8C-29A9-A2B4-2B611B00FD8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3160799">
            <a:off x="5006559" y="2989946"/>
            <a:ext cx="684324" cy="684324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089EDEF-0C09-C74F-DB26-4EB08C94CBF6}"/>
              </a:ext>
            </a:extLst>
          </p:cNvPr>
          <p:cNvSpPr/>
          <p:nvPr/>
        </p:nvSpPr>
        <p:spPr>
          <a:xfrm>
            <a:off x="374883" y="1270649"/>
            <a:ext cx="1523662" cy="301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 Information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FB17BC-40B1-DC0C-821A-FDB0545B1229}"/>
              </a:ext>
            </a:extLst>
          </p:cNvPr>
          <p:cNvSpPr/>
          <p:nvPr/>
        </p:nvSpPr>
        <p:spPr>
          <a:xfrm>
            <a:off x="2012068" y="5244529"/>
            <a:ext cx="1487693" cy="305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Cost Savings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0B5374-690C-7CC3-ABFB-B163FD5A91D5}"/>
              </a:ext>
            </a:extLst>
          </p:cNvPr>
          <p:cNvSpPr/>
          <p:nvPr/>
        </p:nvSpPr>
        <p:spPr>
          <a:xfrm>
            <a:off x="3485897" y="1432769"/>
            <a:ext cx="1553120" cy="310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Hallucinations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168573-A515-4A49-D5C1-DF28F1AA91EA}"/>
              </a:ext>
            </a:extLst>
          </p:cNvPr>
          <p:cNvSpPr/>
          <p:nvPr/>
        </p:nvSpPr>
        <p:spPr>
          <a:xfrm>
            <a:off x="5226121" y="5161334"/>
            <a:ext cx="1858356" cy="520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 Synthesis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7FF861-8282-E8E0-3763-A845B197B672}"/>
              </a:ext>
            </a:extLst>
          </p:cNvPr>
          <p:cNvSpPr/>
          <p:nvPr/>
        </p:nvSpPr>
        <p:spPr>
          <a:xfrm>
            <a:off x="6740355" y="1185399"/>
            <a:ext cx="1827758" cy="387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Simplified Training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F02C46-1CE3-B6AE-C4AB-8BB176BF6508}"/>
              </a:ext>
            </a:extLst>
          </p:cNvPr>
          <p:cNvSpPr/>
          <p:nvPr/>
        </p:nvSpPr>
        <p:spPr>
          <a:xfrm>
            <a:off x="8982287" y="5246925"/>
            <a:ext cx="1296615" cy="301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Trust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2B10B4-077D-0C57-2186-FC738A1A0136}"/>
              </a:ext>
            </a:extLst>
          </p:cNvPr>
          <p:cNvSpPr/>
          <p:nvPr/>
        </p:nvSpPr>
        <p:spPr>
          <a:xfrm>
            <a:off x="10152098" y="1225675"/>
            <a:ext cx="1827758" cy="306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Versatile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9876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Content Placeholder 29">
            <a:extLst>
              <a:ext uri="{FF2B5EF4-FFF2-40B4-BE49-F238E27FC236}">
                <a16:creationId xmlns:a16="http://schemas.microsoft.com/office/drawing/2014/main" id="{D8A1C9EC-13A9-F5E9-D62E-1668C1923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6116" y="879844"/>
            <a:ext cx="8190272" cy="523146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F5927-DBEF-AEE9-6CC1-26245C6A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RAG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688C-9ED7-78C3-D214-849804A9E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923EE9-CB4D-8F4C-1C25-A68995B27BFE}"/>
              </a:ext>
            </a:extLst>
          </p:cNvPr>
          <p:cNvSpPr txBox="1"/>
          <p:nvPr/>
        </p:nvSpPr>
        <p:spPr>
          <a:xfrm>
            <a:off x="445882" y="963759"/>
            <a:ext cx="3984172" cy="338554"/>
          </a:xfrm>
          <a:prstGeom prst="rect">
            <a:avLst/>
          </a:prstGeom>
          <a:solidFill>
            <a:srgbClr val="F18A3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Retrieval Augmented Generation Works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2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0660-103E-C65F-B541-237BC4EE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C972-390F-E1FF-03DD-CB563BD9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1" y="219451"/>
            <a:ext cx="8792711" cy="714306"/>
          </a:xfrm>
        </p:spPr>
        <p:txBody>
          <a:bodyPr/>
          <a:lstStyle/>
          <a:p>
            <a:r>
              <a:rPr lang="en-US" dirty="0"/>
              <a:t>Customer Stories – 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6FAF2-5BA6-38B5-414A-AE6FD4537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24259-CD6C-EF4E-3CC3-C5FE63303F42}"/>
              </a:ext>
            </a:extLst>
          </p:cNvPr>
          <p:cNvSpPr txBox="1"/>
          <p:nvPr/>
        </p:nvSpPr>
        <p:spPr>
          <a:xfrm>
            <a:off x="445881" y="936010"/>
            <a:ext cx="565011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EminenceAI is a RAG based web application which generates questions using RAG LLM model.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a faculty member initiates the "Build" action, an API call is made to Eminence AI's core.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request ID is generated for tracking.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 based on input are produced and stored in an Eminence AI-controlled database.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Generated questions are sent back to the main application database and rendered for faculty review.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AB0B65-993F-C897-AD14-E82CD4DDB17C}"/>
              </a:ext>
            </a:extLst>
          </p:cNvPr>
          <p:cNvSpPr/>
          <p:nvPr/>
        </p:nvSpPr>
        <p:spPr>
          <a:xfrm>
            <a:off x="6201102" y="1655380"/>
            <a:ext cx="1965436" cy="714306"/>
          </a:xfrm>
          <a:prstGeom prst="roundRect">
            <a:avLst/>
          </a:prstGeom>
          <a:solidFill>
            <a:srgbClr val="F76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Generate questions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2CA86-B420-17D3-7C2A-5C2C93C29FCF}"/>
              </a:ext>
            </a:extLst>
          </p:cNvPr>
          <p:cNvSpPr txBox="1"/>
          <p:nvPr/>
        </p:nvSpPr>
        <p:spPr>
          <a:xfrm>
            <a:off x="6466489" y="1063736"/>
            <a:ext cx="143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0066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3BA5DA-4518-15DC-AA9D-8E2970E14DC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183820" y="2369686"/>
            <a:ext cx="0" cy="688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AA79E0-05D7-8CFB-C1CE-BB87AF645DF9}"/>
              </a:ext>
            </a:extLst>
          </p:cNvPr>
          <p:cNvSpPr/>
          <p:nvPr/>
        </p:nvSpPr>
        <p:spPr>
          <a:xfrm>
            <a:off x="6201102" y="3082158"/>
            <a:ext cx="1965436" cy="1059313"/>
          </a:xfrm>
          <a:prstGeom prst="roundRect">
            <a:avLst/>
          </a:prstGeom>
          <a:solidFill>
            <a:srgbClr val="F76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Generates question in background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0DD7C5-488D-64A5-5339-B9645C9355D4}"/>
              </a:ext>
            </a:extLst>
          </p:cNvPr>
          <p:cNvCxnSpPr>
            <a:cxnSpLocks/>
          </p:cNvCxnSpPr>
          <p:nvPr/>
        </p:nvCxnSpPr>
        <p:spPr>
          <a:xfrm>
            <a:off x="7183820" y="4141471"/>
            <a:ext cx="0" cy="430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4AFFF8-D886-4C83-C72F-9CFF23A8ED6F}"/>
              </a:ext>
            </a:extLst>
          </p:cNvPr>
          <p:cNvSpPr/>
          <p:nvPr/>
        </p:nvSpPr>
        <p:spPr>
          <a:xfrm>
            <a:off x="6201102" y="4572000"/>
            <a:ext cx="1965436" cy="1059313"/>
          </a:xfrm>
          <a:prstGeom prst="roundRect">
            <a:avLst/>
          </a:prstGeom>
          <a:solidFill>
            <a:srgbClr val="F76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send to application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C4A3C0-7323-B0FD-DAA5-77343A8CBC58}"/>
              </a:ext>
            </a:extLst>
          </p:cNvPr>
          <p:cNvSpPr txBox="1"/>
          <p:nvPr/>
        </p:nvSpPr>
        <p:spPr>
          <a:xfrm>
            <a:off x="9677400" y="1063735"/>
            <a:ext cx="1965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0066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4C8222-64B5-A179-B08C-20D9B3F1D66F}"/>
              </a:ext>
            </a:extLst>
          </p:cNvPr>
          <p:cNvSpPr/>
          <p:nvPr/>
        </p:nvSpPr>
        <p:spPr>
          <a:xfrm>
            <a:off x="9677400" y="1655380"/>
            <a:ext cx="1965436" cy="714306"/>
          </a:xfrm>
          <a:prstGeom prst="roundRect">
            <a:avLst/>
          </a:prstGeom>
          <a:solidFill>
            <a:srgbClr val="F76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build request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6BE3EF-A9FF-0281-B425-C68608583547}"/>
              </a:ext>
            </a:extLst>
          </p:cNvPr>
          <p:cNvCxnSpPr>
            <a:stCxn id="16" idx="1"/>
            <a:endCxn id="6" idx="3"/>
          </p:cNvCxnSpPr>
          <p:nvPr/>
        </p:nvCxnSpPr>
        <p:spPr>
          <a:xfrm flipH="1">
            <a:off x="8166538" y="2012533"/>
            <a:ext cx="1510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FDD6767-9C04-942F-B67C-5AD88A5A3950}"/>
              </a:ext>
            </a:extLst>
          </p:cNvPr>
          <p:cNvSpPr txBox="1"/>
          <p:nvPr/>
        </p:nvSpPr>
        <p:spPr>
          <a:xfrm>
            <a:off x="8269012" y="1651525"/>
            <a:ext cx="13374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call to core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0EFFDE-3293-9918-3CA5-C4610D80161E}"/>
              </a:ext>
            </a:extLst>
          </p:cNvPr>
          <p:cNvSpPr/>
          <p:nvPr/>
        </p:nvSpPr>
        <p:spPr>
          <a:xfrm>
            <a:off x="9780683" y="4572000"/>
            <a:ext cx="1965436" cy="1059313"/>
          </a:xfrm>
          <a:prstGeom prst="roundRect">
            <a:avLst/>
          </a:prstGeom>
          <a:solidFill>
            <a:srgbClr val="F76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stored in database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5041DC-0A02-69F0-2483-7C94A1986583}"/>
              </a:ext>
            </a:extLst>
          </p:cNvPr>
          <p:cNvCxnSpPr>
            <a:stCxn id="14" idx="3"/>
            <a:endCxn id="20" idx="1"/>
          </p:cNvCxnSpPr>
          <p:nvPr/>
        </p:nvCxnSpPr>
        <p:spPr>
          <a:xfrm>
            <a:off x="8166538" y="5101657"/>
            <a:ext cx="1614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55EFE2-5008-312F-D1F5-BB85905605EA}"/>
              </a:ext>
            </a:extLst>
          </p:cNvPr>
          <p:cNvSpPr/>
          <p:nvPr/>
        </p:nvSpPr>
        <p:spPr>
          <a:xfrm>
            <a:off x="9831461" y="3058510"/>
            <a:ext cx="1965436" cy="1059313"/>
          </a:xfrm>
          <a:prstGeom prst="roundRect">
            <a:avLst/>
          </a:prstGeom>
          <a:solidFill>
            <a:srgbClr val="F76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display to user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939BC0-21EF-FF82-723D-9F4238F00677}"/>
              </a:ext>
            </a:extLst>
          </p:cNvPr>
          <p:cNvCxnSpPr>
            <a:cxnSpLocks/>
          </p:cNvCxnSpPr>
          <p:nvPr/>
        </p:nvCxnSpPr>
        <p:spPr>
          <a:xfrm flipV="1">
            <a:off x="10814179" y="4117823"/>
            <a:ext cx="0" cy="454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234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8692-38E3-884A-7C7B-F69AB8664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195985"/>
            <a:ext cx="11300236" cy="714306"/>
          </a:xfrm>
        </p:spPr>
        <p:txBody>
          <a:bodyPr/>
          <a:lstStyle/>
          <a:p>
            <a:r>
              <a:rPr lang="en-IN" dirty="0">
                <a:ea typeface="Segoe UI Historic"/>
                <a:cs typeface="Segoe UI Historic"/>
              </a:rPr>
              <a:t>   EminenceAI (Case Study) #7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B904E-F02C-B056-E810-0ED04084A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69902-7B3B-F10D-4D5B-715F89F9B6D6}"/>
              </a:ext>
            </a:extLst>
          </p:cNvPr>
          <p:cNvSpPr/>
          <p:nvPr/>
        </p:nvSpPr>
        <p:spPr>
          <a:xfrm>
            <a:off x="648540" y="1035479"/>
            <a:ext cx="10700951" cy="650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DataPattern builds a web application for EminenceAI, dynamic medical education exam platform.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857FE-8715-242D-7172-6CDF75734387}"/>
              </a:ext>
            </a:extLst>
          </p:cNvPr>
          <p:cNvSpPr/>
          <p:nvPr/>
        </p:nvSpPr>
        <p:spPr>
          <a:xfrm>
            <a:off x="648539" y="1802339"/>
            <a:ext cx="3511378" cy="5120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Challenges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C417E-7C54-1915-DF4E-0DC8A0672EC5}"/>
              </a:ext>
            </a:extLst>
          </p:cNvPr>
          <p:cNvSpPr/>
          <p:nvPr/>
        </p:nvSpPr>
        <p:spPr>
          <a:xfrm>
            <a:off x="4243326" y="1797924"/>
            <a:ext cx="3511378" cy="5120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Approach and Solution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065126-EDBE-B3FC-A0FE-3EF71F819A3F}"/>
              </a:ext>
            </a:extLst>
          </p:cNvPr>
          <p:cNvSpPr/>
          <p:nvPr/>
        </p:nvSpPr>
        <p:spPr>
          <a:xfrm>
            <a:off x="7838113" y="1797923"/>
            <a:ext cx="3511378" cy="5120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89ED70-0E61-3C75-F11F-3C9D419EE2FF}"/>
              </a:ext>
            </a:extLst>
          </p:cNvPr>
          <p:cNvSpPr/>
          <p:nvPr/>
        </p:nvSpPr>
        <p:spPr>
          <a:xfrm>
            <a:off x="648539" y="2430480"/>
            <a:ext cx="3511378" cy="35379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Medical students find exams challenging, struggling to access questions effectively.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Institutions neglect student training, lacking proper provision of sample question sets.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Students face difficulty navigating extensive syllabus without breaking it into manageable sections.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9320C7-00BB-4759-7E85-80D56A765691}"/>
              </a:ext>
            </a:extLst>
          </p:cNvPr>
          <p:cNvSpPr/>
          <p:nvPr/>
        </p:nvSpPr>
        <p:spPr>
          <a:xfrm>
            <a:off x="4256974" y="2428497"/>
            <a:ext cx="3511378" cy="35379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Easy filtration 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Filtering syllabus using multiple fields like subject, system, sub-system etc.,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QGen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faculty  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Faculty efficiently trains students with unlimited questions by providing curated sets.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Vetted questions: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Students access regularly updated questions and answers from a vetted database during exams.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58CD10-1A37-C6B7-F775-7F1B3B052717}"/>
              </a:ext>
            </a:extLst>
          </p:cNvPr>
          <p:cNvSpPr/>
          <p:nvPr/>
        </p:nvSpPr>
        <p:spPr>
          <a:xfrm>
            <a:off x="7838113" y="2430480"/>
            <a:ext cx="3511378" cy="35379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Vetters can effortlessly review questions by logging into the application.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Students can self-train with timed and tutor mode tests, and invite friends for discussions.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Faculty can seamlessly generate questions from the core, facilitating review and download.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Displaying student performance accurately reflects syllabus comprehension and strengths.</a:t>
            </a:r>
          </a:p>
        </p:txBody>
      </p:sp>
      <p:pic>
        <p:nvPicPr>
          <p:cNvPr id="5" name="Picture 4" descr="A blue and yellow square with a black background&#10;&#10;Description automatically generated">
            <a:extLst>
              <a:ext uri="{FF2B5EF4-FFF2-40B4-BE49-F238E27FC236}">
                <a16:creationId xmlns:a16="http://schemas.microsoft.com/office/drawing/2014/main" id="{6114D6B6-5BFE-E62C-6069-B3A9C75AD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00" y="291268"/>
            <a:ext cx="691234" cy="49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0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FC83-018A-40F0-8AAE-8ACF9E7A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Capabilities of DataPattern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CF8CF-81A4-03DD-F89B-59B02B258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B499C-6BDE-727F-C20B-C8D1D8C77012}"/>
              </a:ext>
            </a:extLst>
          </p:cNvPr>
          <p:cNvSpPr txBox="1"/>
          <p:nvPr/>
        </p:nvSpPr>
        <p:spPr>
          <a:xfrm>
            <a:off x="2591578" y="925677"/>
            <a:ext cx="6097554" cy="369332"/>
          </a:xfrm>
          <a:prstGeom prst="rect">
            <a:avLst/>
          </a:prstGeom>
          <a:solidFill>
            <a:srgbClr val="F18A3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Unleashing insights through Databricks, Gen AI, and Power BI</a:t>
            </a:r>
          </a:p>
        </p:txBody>
      </p:sp>
      <p:sp>
        <p:nvSpPr>
          <p:cNvPr id="10" name="Star: 10 Points 9">
            <a:extLst>
              <a:ext uri="{FF2B5EF4-FFF2-40B4-BE49-F238E27FC236}">
                <a16:creationId xmlns:a16="http://schemas.microsoft.com/office/drawing/2014/main" id="{1A58693D-924A-D13F-1BE3-824258F6CB8D}"/>
              </a:ext>
            </a:extLst>
          </p:cNvPr>
          <p:cNvSpPr/>
          <p:nvPr/>
        </p:nvSpPr>
        <p:spPr>
          <a:xfrm>
            <a:off x="5285381" y="1645751"/>
            <a:ext cx="1642186" cy="1716833"/>
          </a:xfrm>
          <a:prstGeom prst="star10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2CAFE-B1E9-3BD7-3737-3D52F902B454}"/>
              </a:ext>
            </a:extLst>
          </p:cNvPr>
          <p:cNvSpPr txBox="1"/>
          <p:nvPr/>
        </p:nvSpPr>
        <p:spPr>
          <a:xfrm>
            <a:off x="697807" y="1530392"/>
            <a:ext cx="330614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  <a:r>
              <a:rPr lang="en-IN" sz="1400" b="1" dirty="0">
                <a:solidFill>
                  <a:srgbClr val="0D0D0D"/>
                </a:solidFill>
                <a:latin typeface="Söhne"/>
              </a:rPr>
              <a:t>Databricks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b="1" dirty="0">
                <a:solidFill>
                  <a:srgbClr val="0D0D0D"/>
                </a:solidFill>
                <a:latin typeface="Söhne"/>
              </a:rPr>
              <a:t>Model Deployment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Deploy trained models on Databricks for efficient retrieval and generation tasks.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b="1" dirty="0">
                <a:solidFill>
                  <a:srgbClr val="0D0D0D"/>
                </a:solidFill>
                <a:latin typeface="Söhne"/>
              </a:rPr>
              <a:t>Model training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: 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Train big models fast on Databricks with distributed computing.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b="1" dirty="0">
                <a:solidFill>
                  <a:srgbClr val="0D0D0D"/>
                </a:solidFill>
                <a:latin typeface="Söhne"/>
              </a:rPr>
              <a:t>Data Integration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Databricks integrates various data sources for retrieval and generative models.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A0C06314-776C-FED0-78E9-5C43474520C5}"/>
              </a:ext>
            </a:extLst>
          </p:cNvPr>
          <p:cNvSpPr/>
          <p:nvPr/>
        </p:nvSpPr>
        <p:spPr>
          <a:xfrm>
            <a:off x="623163" y="1530391"/>
            <a:ext cx="3306148" cy="2752360"/>
          </a:xfrm>
          <a:prstGeom prst="flowChartOffpageConnector">
            <a:avLst/>
          </a:prstGeom>
          <a:noFill/>
          <a:ln>
            <a:solidFill>
              <a:srgbClr val="F18A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894821-E18D-D67E-E1BB-65E71B232B4B}"/>
              </a:ext>
            </a:extLst>
          </p:cNvPr>
          <p:cNvSpPr txBox="1"/>
          <p:nvPr/>
        </p:nvSpPr>
        <p:spPr>
          <a:xfrm>
            <a:off x="8383555" y="1530392"/>
            <a:ext cx="311063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  <a:r>
              <a:rPr lang="en-IN" sz="1400" b="1" dirty="0">
                <a:solidFill>
                  <a:srgbClr val="0D0D0D"/>
                </a:solidFill>
                <a:latin typeface="Söhne"/>
              </a:rPr>
              <a:t>Power BI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Visualization of Retrieved Information: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Power BI visualizes retrieved data, improving understanding and interpretation.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Integration with AI Services: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Power BI integrates AI services for enhanced analytics and natural language generation, enriching retrieved information.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Natural Language Queries: </a:t>
            </a:r>
            <a:r>
              <a:rPr lang="en-IN" sz="1200" b="0" i="0" dirty="0">
                <a:solidFill>
                  <a:srgbClr val="0D0D0D"/>
                </a:solidFill>
                <a:effectLst/>
                <a:latin typeface="Söhne"/>
              </a:rPr>
              <a:t>Power BI's language processing enables simple queries for interactive exploration.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BA6FBC79-2BB7-16C1-F085-26568FC8BC22}"/>
              </a:ext>
            </a:extLst>
          </p:cNvPr>
          <p:cNvSpPr/>
          <p:nvPr/>
        </p:nvSpPr>
        <p:spPr>
          <a:xfrm>
            <a:off x="8188045" y="1530392"/>
            <a:ext cx="3306148" cy="2752361"/>
          </a:xfrm>
          <a:prstGeom prst="flowChartOffpageConnector">
            <a:avLst/>
          </a:prstGeom>
          <a:noFill/>
          <a:ln>
            <a:solidFill>
              <a:srgbClr val="F18A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FFA2FE12-F486-E5C2-FE4A-AF90304C08EA}"/>
              </a:ext>
            </a:extLst>
          </p:cNvPr>
          <p:cNvSpPr/>
          <p:nvPr/>
        </p:nvSpPr>
        <p:spPr>
          <a:xfrm>
            <a:off x="4400507" y="3429000"/>
            <a:ext cx="3306148" cy="2752360"/>
          </a:xfrm>
          <a:prstGeom prst="flowChartOffpageConnector">
            <a:avLst/>
          </a:prstGeom>
          <a:noFill/>
          <a:ln>
            <a:solidFill>
              <a:srgbClr val="F18A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A5C51-67D4-89E6-57F6-CB689DA42F7E}"/>
              </a:ext>
            </a:extLst>
          </p:cNvPr>
          <p:cNvSpPr txBox="1"/>
          <p:nvPr/>
        </p:nvSpPr>
        <p:spPr>
          <a:xfrm>
            <a:off x="4529806" y="3433293"/>
            <a:ext cx="304665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  <a:r>
              <a:rPr lang="en-IN" sz="1400" b="1" dirty="0">
                <a:solidFill>
                  <a:srgbClr val="0D0D0D"/>
                </a:solidFill>
                <a:latin typeface="Söhne"/>
              </a:rPr>
              <a:t>Gen AI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Content Creation: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GenAI augments retrieved information by creating new content from learned patterns.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Diverse Outputs: </a:t>
            </a:r>
            <a:r>
              <a:rPr lang="en-IN" sz="1200" b="0" i="0" dirty="0">
                <a:solidFill>
                  <a:srgbClr val="0D0D0D"/>
                </a:solidFill>
                <a:effectLst/>
                <a:latin typeface="Söhne"/>
              </a:rPr>
              <a:t>GenAI provides varied outputs for exploring different perspectives or content variations.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Enhanced Understanding 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GenAI enhances understanding with added context, making information clearer and more actionable.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</p:txBody>
      </p:sp>
      <p:pic>
        <p:nvPicPr>
          <p:cNvPr id="26" name="Graphic 25" descr="Back with solid fill">
            <a:extLst>
              <a:ext uri="{FF2B5EF4-FFF2-40B4-BE49-F238E27FC236}">
                <a16:creationId xmlns:a16="http://schemas.microsoft.com/office/drawing/2014/main" id="{3F9572B2-0923-7ED6-76D9-20CDA8680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2350" y="1992171"/>
            <a:ext cx="914400" cy="914400"/>
          </a:xfrm>
          <a:prstGeom prst="rect">
            <a:avLst/>
          </a:prstGeom>
        </p:spPr>
      </p:pic>
      <p:pic>
        <p:nvPicPr>
          <p:cNvPr id="28" name="Graphic 27" descr="Back with solid fill">
            <a:extLst>
              <a:ext uri="{FF2B5EF4-FFF2-40B4-BE49-F238E27FC236}">
                <a16:creationId xmlns:a16="http://schemas.microsoft.com/office/drawing/2014/main" id="{434F9642-448D-53BD-154B-BBB8C9609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8433" y="2060964"/>
            <a:ext cx="914400" cy="914400"/>
          </a:xfrm>
          <a:prstGeom prst="rect">
            <a:avLst/>
          </a:prstGeom>
        </p:spPr>
      </p:pic>
      <p:pic>
        <p:nvPicPr>
          <p:cNvPr id="29" name="Graphic 28" descr="Back with solid fill">
            <a:extLst>
              <a:ext uri="{FF2B5EF4-FFF2-40B4-BE49-F238E27FC236}">
                <a16:creationId xmlns:a16="http://schemas.microsoft.com/office/drawing/2014/main" id="{8FE98C5B-5328-64AC-4EED-AC5728491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892074">
            <a:off x="3442367" y="3891968"/>
            <a:ext cx="914400" cy="914400"/>
          </a:xfrm>
          <a:prstGeom prst="rect">
            <a:avLst/>
          </a:prstGeom>
        </p:spPr>
      </p:pic>
      <p:pic>
        <p:nvPicPr>
          <p:cNvPr id="30" name="Graphic 29" descr="Back with solid fill">
            <a:extLst>
              <a:ext uri="{FF2B5EF4-FFF2-40B4-BE49-F238E27FC236}">
                <a16:creationId xmlns:a16="http://schemas.microsoft.com/office/drawing/2014/main" id="{15D33B7E-E158-10CB-7348-A93AD629F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786301">
            <a:off x="7809397" y="4016521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B5449E-FFCE-CA29-1395-EE7CDC51CF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92" y="1947263"/>
            <a:ext cx="1004215" cy="100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6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5" y="65995"/>
            <a:ext cx="11300236" cy="526975"/>
          </a:xfrm>
        </p:spPr>
        <p:txBody>
          <a:bodyPr>
            <a:normAutofit/>
          </a:bodyPr>
          <a:lstStyle/>
          <a:p>
            <a:r>
              <a:rPr lang="en-US" sz="2800" dirty="0"/>
              <a:t>What can we do in RAG?</a:t>
            </a:r>
            <a:endParaRPr lang="en-CA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FBB15-E5CE-CF4C-BF0A-7825587B0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76D8003-103C-DF44-A153-E691160C1ECD}"/>
              </a:ext>
            </a:extLst>
          </p:cNvPr>
          <p:cNvSpPr/>
          <p:nvPr/>
        </p:nvSpPr>
        <p:spPr>
          <a:xfrm>
            <a:off x="3107387" y="1298880"/>
            <a:ext cx="7905136" cy="526975"/>
          </a:xfrm>
          <a:prstGeom prst="chevron">
            <a:avLst/>
          </a:prstGeom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j-lt"/>
              </a:rPr>
              <a:t>Databricks facilitates seamless integration of retrieval mechanisms with generation models, enhancing the contextuality and relevance of generated responses.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B91D36-3210-7BCF-8096-CBF9E876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7248" y="1000970"/>
            <a:ext cx="2140139" cy="112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6C8FBAC1-1FC6-74BE-3931-10E2A790B837}"/>
              </a:ext>
            </a:extLst>
          </p:cNvPr>
          <p:cNvSpPr/>
          <p:nvPr/>
        </p:nvSpPr>
        <p:spPr>
          <a:xfrm>
            <a:off x="3928380" y="1962557"/>
            <a:ext cx="7905136" cy="526975"/>
          </a:xfrm>
          <a:prstGeom prst="chevron">
            <a:avLst/>
          </a:prstGeom>
          <a:solidFill>
            <a:srgbClr val="F76A00"/>
          </a:solidFill>
          <a:ln>
            <a:solidFill>
              <a:srgbClr val="F76A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j-lt"/>
              </a:rPr>
              <a:t>Databricks fosters iterative improvements in retrieval-augmented generation models through efficient collaboration and experimentation.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2E90B08-DBDD-1739-A673-DB65C0FE4686}"/>
              </a:ext>
            </a:extLst>
          </p:cNvPr>
          <p:cNvSpPr/>
          <p:nvPr/>
        </p:nvSpPr>
        <p:spPr>
          <a:xfrm>
            <a:off x="3190961" y="2767777"/>
            <a:ext cx="7905136" cy="526975"/>
          </a:xfrm>
          <a:prstGeom prst="chevron">
            <a:avLst/>
          </a:prstGeom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j-lt"/>
              </a:rPr>
              <a:t>Gen AI models can generate human-like responses based on retrieved information, enriching the contextuality and relevance of the generated content.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772F657-8229-B14C-32C8-318BE06A1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3" t="19179" r="22009" b="24080"/>
          <a:stretch/>
        </p:blipFill>
        <p:spPr bwMode="auto">
          <a:xfrm>
            <a:off x="1072120" y="2217157"/>
            <a:ext cx="1930393" cy="190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Chevron 8">
            <a:extLst>
              <a:ext uri="{FF2B5EF4-FFF2-40B4-BE49-F238E27FC236}">
                <a16:creationId xmlns:a16="http://schemas.microsoft.com/office/drawing/2014/main" id="{CF9E3065-8E5D-71F2-291E-21D3B3F3F33F}"/>
              </a:ext>
            </a:extLst>
          </p:cNvPr>
          <p:cNvSpPr/>
          <p:nvPr/>
        </p:nvSpPr>
        <p:spPr>
          <a:xfrm>
            <a:off x="4011954" y="3431454"/>
            <a:ext cx="7905136" cy="526975"/>
          </a:xfrm>
          <a:prstGeom prst="chevron">
            <a:avLst/>
          </a:prstGeom>
          <a:solidFill>
            <a:srgbClr val="F76A00"/>
          </a:solidFill>
          <a:ln>
            <a:solidFill>
              <a:srgbClr val="F76A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j-lt"/>
              </a:rPr>
              <a:t>Gen AI's adaptability allows for personalized augmentation, tailoring responses to user preferences or real-time data, enhancing the overall user experience.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3FDFE4EE-AC76-EDE3-8A06-083A59EF48E6}"/>
              </a:ext>
            </a:extLst>
          </p:cNvPr>
          <p:cNvSpPr/>
          <p:nvPr/>
        </p:nvSpPr>
        <p:spPr>
          <a:xfrm>
            <a:off x="3259787" y="4373376"/>
            <a:ext cx="7905136" cy="526975"/>
          </a:xfrm>
          <a:prstGeom prst="chevron">
            <a:avLst/>
          </a:prstGeom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j-lt"/>
              </a:rPr>
              <a:t>Power BI can visualize retrieved information and generated responses, providing stakeholders with intuitive insights into the augmentation process.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51E2CCD-289E-24EF-F66A-27E466A81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9" b="4399"/>
          <a:stretch/>
        </p:blipFill>
        <p:spPr bwMode="auto">
          <a:xfrm>
            <a:off x="1231273" y="4217837"/>
            <a:ext cx="1612086" cy="159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08855F7-1ADA-384E-1328-C55711F5F950}"/>
              </a:ext>
            </a:extLst>
          </p:cNvPr>
          <p:cNvSpPr/>
          <p:nvPr/>
        </p:nvSpPr>
        <p:spPr>
          <a:xfrm>
            <a:off x="4080780" y="5037053"/>
            <a:ext cx="7905136" cy="526975"/>
          </a:xfrm>
          <a:prstGeom prst="chevron">
            <a:avLst/>
          </a:prstGeom>
          <a:solidFill>
            <a:srgbClr val="F76A00"/>
          </a:solidFill>
          <a:ln>
            <a:solidFill>
              <a:srgbClr val="F76A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j-lt"/>
              </a:rPr>
              <a:t>Power BI's integration capabilities enable the incorporation of external NLP tools or models, enriching retrieval-augmented generation workflows with additional analytical power.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36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5" y="65995"/>
            <a:ext cx="11300236" cy="526975"/>
          </a:xfrm>
        </p:spPr>
        <p:txBody>
          <a:bodyPr>
            <a:normAutofit/>
          </a:bodyPr>
          <a:lstStyle/>
          <a:p>
            <a:r>
              <a:rPr lang="en-IN" sz="2800" dirty="0"/>
              <a:t>RAG based services</a:t>
            </a:r>
            <a:endParaRPr lang="en-CA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FBB15-E5CE-CF4C-BF0A-7825587B0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CC3B9-6596-1243-9665-72A444B9047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96A17E-D22E-C324-4786-AD07DDC02BBC}"/>
              </a:ext>
            </a:extLst>
          </p:cNvPr>
          <p:cNvGrpSpPr/>
          <p:nvPr/>
        </p:nvGrpSpPr>
        <p:grpSpPr>
          <a:xfrm>
            <a:off x="430174" y="820789"/>
            <a:ext cx="2140744" cy="2472192"/>
            <a:chOff x="762003" y="796941"/>
            <a:chExt cx="2140744" cy="2472192"/>
          </a:xfrm>
        </p:grpSpPr>
        <p:sp>
          <p:nvSpPr>
            <p:cNvPr id="8" name="Flowchart: Display 7">
              <a:extLst>
                <a:ext uri="{FF2B5EF4-FFF2-40B4-BE49-F238E27FC236}">
                  <a16:creationId xmlns:a16="http://schemas.microsoft.com/office/drawing/2014/main" id="{4A27594F-9540-02F0-E5BF-5BECAD1BC93C}"/>
                </a:ext>
              </a:extLst>
            </p:cNvPr>
            <p:cNvSpPr/>
            <p:nvPr/>
          </p:nvSpPr>
          <p:spPr>
            <a:xfrm rot="5400000">
              <a:off x="656036" y="1022422"/>
              <a:ext cx="2352678" cy="2140744"/>
            </a:xfrm>
            <a:prstGeom prst="flowChartDisplay">
              <a:avLst/>
            </a:prstGeom>
            <a:noFill/>
            <a:ln w="19050">
              <a:solidFill>
                <a:srgbClr val="F18A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3E4C18-53A0-29AA-E8E2-820A073D6B4C}"/>
                </a:ext>
              </a:extLst>
            </p:cNvPr>
            <p:cNvSpPr txBox="1"/>
            <p:nvPr/>
          </p:nvSpPr>
          <p:spPr>
            <a:xfrm>
              <a:off x="877494" y="1746734"/>
              <a:ext cx="19097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Tailored AI for specific needs.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Precision AI solutions for efficiency.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Customized intelligence to drive innovation.</a:t>
              </a:r>
              <a:endParaRPr lang="en-IN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2E1A8A-35F8-91AA-B193-3780515D9D7B}"/>
                </a:ext>
              </a:extLst>
            </p:cNvPr>
            <p:cNvSpPr txBox="1"/>
            <p:nvPr/>
          </p:nvSpPr>
          <p:spPr>
            <a:xfrm>
              <a:off x="1065615" y="1133611"/>
              <a:ext cx="1543052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IN" sz="1400" b="1" dirty="0">
                  <a:solidFill>
                    <a:srgbClr val="0D0D0D"/>
                  </a:solidFill>
                  <a:latin typeface="Calibri"/>
                  <a:cs typeface="Calibri"/>
                </a:rPr>
                <a:t>Custom AI </a:t>
              </a:r>
              <a:br>
                <a:rPr lang="en-IN" sz="1400" b="1" dirty="0">
                  <a:solidFill>
                    <a:srgbClr val="0D0D0D"/>
                  </a:solidFill>
                  <a:latin typeface="Calibri"/>
                  <a:cs typeface="Calibri"/>
                </a:rPr>
              </a:br>
              <a:r>
                <a:rPr lang="en-IN" sz="1400" b="1" dirty="0">
                  <a:solidFill>
                    <a:srgbClr val="0D0D0D"/>
                  </a:solidFill>
                  <a:latin typeface="Calibri"/>
                  <a:cs typeface="Calibri"/>
                </a:rPr>
                <a:t>Solutions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0AC7CE-13B1-1C41-B412-80FD4534EE39}"/>
                </a:ext>
              </a:extLst>
            </p:cNvPr>
            <p:cNvSpPr/>
            <p:nvPr/>
          </p:nvSpPr>
          <p:spPr>
            <a:xfrm>
              <a:off x="1734743" y="796941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F7EE35-791A-9148-D49A-BE50D8FB9828}"/>
              </a:ext>
            </a:extLst>
          </p:cNvPr>
          <p:cNvGrpSpPr/>
          <p:nvPr/>
        </p:nvGrpSpPr>
        <p:grpSpPr>
          <a:xfrm>
            <a:off x="2729275" y="1328430"/>
            <a:ext cx="2183607" cy="2473692"/>
            <a:chOff x="3583789" y="1189977"/>
            <a:chExt cx="2183607" cy="2473692"/>
          </a:xfrm>
        </p:grpSpPr>
        <p:sp>
          <p:nvSpPr>
            <p:cNvPr id="13" name="Flowchart: Display 12">
              <a:extLst>
                <a:ext uri="{FF2B5EF4-FFF2-40B4-BE49-F238E27FC236}">
                  <a16:creationId xmlns:a16="http://schemas.microsoft.com/office/drawing/2014/main" id="{EE6B1F91-17F3-7ABF-8114-4214FEEA4C86}"/>
                </a:ext>
              </a:extLst>
            </p:cNvPr>
            <p:cNvSpPr/>
            <p:nvPr/>
          </p:nvSpPr>
          <p:spPr>
            <a:xfrm rot="5400000">
              <a:off x="3477822" y="1416958"/>
              <a:ext cx="2352678" cy="2140744"/>
            </a:xfrm>
            <a:prstGeom prst="flowChartDisplay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864472-DEA6-120F-3C8E-6109B3D0056E}"/>
                </a:ext>
              </a:extLst>
            </p:cNvPr>
            <p:cNvSpPr txBox="1"/>
            <p:nvPr/>
          </p:nvSpPr>
          <p:spPr>
            <a:xfrm>
              <a:off x="3857633" y="1935532"/>
              <a:ext cx="19097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Simple questions for quick answers.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Everyday language for intuitive search.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Plain language queries for understanding.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0BEB9A-C2FF-3878-08F9-2CA68938C861}"/>
                </a:ext>
              </a:extLst>
            </p:cNvPr>
            <p:cNvSpPr txBox="1"/>
            <p:nvPr/>
          </p:nvSpPr>
          <p:spPr>
            <a:xfrm>
              <a:off x="3900033" y="1508238"/>
              <a:ext cx="154305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i="0" dirty="0">
                  <a:solidFill>
                    <a:srgbClr val="0D0D0D"/>
                  </a:solidFill>
                  <a:effectLst/>
                  <a:latin typeface="Söhne"/>
                </a:rPr>
                <a:t>Natural Language Queries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62F9E8A-42DA-0410-4DC3-E95D92292AB5}"/>
                </a:ext>
              </a:extLst>
            </p:cNvPr>
            <p:cNvSpPr/>
            <p:nvPr/>
          </p:nvSpPr>
          <p:spPr>
            <a:xfrm>
              <a:off x="4556529" y="1189977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4D198A-D306-2A55-8282-6A9CEF7900C8}"/>
              </a:ext>
            </a:extLst>
          </p:cNvPr>
          <p:cNvGrpSpPr/>
          <p:nvPr/>
        </p:nvGrpSpPr>
        <p:grpSpPr>
          <a:xfrm>
            <a:off x="5048029" y="820789"/>
            <a:ext cx="2213375" cy="2482516"/>
            <a:chOff x="6413900" y="786617"/>
            <a:chExt cx="2213375" cy="2482516"/>
          </a:xfrm>
        </p:grpSpPr>
        <p:sp>
          <p:nvSpPr>
            <p:cNvPr id="23" name="Flowchart: Display 22">
              <a:extLst>
                <a:ext uri="{FF2B5EF4-FFF2-40B4-BE49-F238E27FC236}">
                  <a16:creationId xmlns:a16="http://schemas.microsoft.com/office/drawing/2014/main" id="{477CE2C8-CE4E-A466-2B23-520A9EC77D7D}"/>
                </a:ext>
              </a:extLst>
            </p:cNvPr>
            <p:cNvSpPr/>
            <p:nvPr/>
          </p:nvSpPr>
          <p:spPr>
            <a:xfrm rot="5400000">
              <a:off x="6307933" y="1022422"/>
              <a:ext cx="2352678" cy="2140744"/>
            </a:xfrm>
            <a:prstGeom prst="flowChartDisplay">
              <a:avLst/>
            </a:prstGeom>
            <a:noFill/>
            <a:ln w="19050">
              <a:solidFill>
                <a:srgbClr val="F18A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854F2B-9887-9CAC-232B-A1C5F70CF328}"/>
                </a:ext>
              </a:extLst>
            </p:cNvPr>
            <p:cNvSpPr txBox="1"/>
            <p:nvPr/>
          </p:nvSpPr>
          <p:spPr>
            <a:xfrm>
              <a:off x="6486531" y="1696892"/>
              <a:ext cx="21407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Merge diverse data seamlessly.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Integrate various sources for clarity.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 Combine data for comprehensive insights.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D220360-0084-F197-A6C7-EBCA15145BDB}"/>
                </a:ext>
              </a:extLst>
            </p:cNvPr>
            <p:cNvSpPr txBox="1"/>
            <p:nvPr/>
          </p:nvSpPr>
          <p:spPr>
            <a:xfrm>
              <a:off x="6785377" y="1214432"/>
              <a:ext cx="1543052" cy="30777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400" b="1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Data Integration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BD0C6DF-D69B-D50D-32FE-DFC13AC31C76}"/>
                </a:ext>
              </a:extLst>
            </p:cNvPr>
            <p:cNvSpPr/>
            <p:nvPr/>
          </p:nvSpPr>
          <p:spPr>
            <a:xfrm>
              <a:off x="7386640" y="786617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5EE0FC-87F0-14E0-07E3-568AE71E1703}"/>
              </a:ext>
            </a:extLst>
          </p:cNvPr>
          <p:cNvGrpSpPr/>
          <p:nvPr/>
        </p:nvGrpSpPr>
        <p:grpSpPr>
          <a:xfrm>
            <a:off x="7347130" y="1328430"/>
            <a:ext cx="2213375" cy="2468239"/>
            <a:chOff x="9235686" y="1196796"/>
            <a:chExt cx="2213375" cy="2468239"/>
          </a:xfrm>
        </p:grpSpPr>
        <p:sp>
          <p:nvSpPr>
            <p:cNvPr id="30" name="Flowchart: Display 29">
              <a:extLst>
                <a:ext uri="{FF2B5EF4-FFF2-40B4-BE49-F238E27FC236}">
                  <a16:creationId xmlns:a16="http://schemas.microsoft.com/office/drawing/2014/main" id="{F2415F8A-ADC8-A79B-F4A2-FC8F5972784F}"/>
                </a:ext>
              </a:extLst>
            </p:cNvPr>
            <p:cNvSpPr/>
            <p:nvPr/>
          </p:nvSpPr>
          <p:spPr>
            <a:xfrm rot="5400000">
              <a:off x="9129719" y="1418324"/>
              <a:ext cx="2352678" cy="2140744"/>
            </a:xfrm>
            <a:prstGeom prst="flowChartDisplay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Calibri"/>
                <a:cs typeface="Calibri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EA3114C-8BF6-AB8A-B875-F9558ABDF418}"/>
                </a:ext>
              </a:extLst>
            </p:cNvPr>
            <p:cNvSpPr txBox="1"/>
            <p:nvPr/>
          </p:nvSpPr>
          <p:spPr>
            <a:xfrm>
              <a:off x="9308317" y="2092794"/>
              <a:ext cx="21407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Efficiently handle vast data volumes.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Process large datasets with ease.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it-IT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Scale for massive data processing.</a:t>
              </a:r>
              <a:endParaRPr lang="en-US" sz="1200" b="0" i="0" dirty="0">
                <a:solidFill>
                  <a:srgbClr val="0D0D0D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AAF9F0-35E5-91FD-F86E-4CB5D7F2BA84}"/>
                </a:ext>
              </a:extLst>
            </p:cNvPr>
            <p:cNvSpPr txBox="1"/>
            <p:nvPr/>
          </p:nvSpPr>
          <p:spPr>
            <a:xfrm>
              <a:off x="9534385" y="1522463"/>
              <a:ext cx="1543052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400" b="1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Big Data Processing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4C6B29B-1124-C784-D09E-A005C8619377}"/>
                </a:ext>
              </a:extLst>
            </p:cNvPr>
            <p:cNvSpPr/>
            <p:nvPr/>
          </p:nvSpPr>
          <p:spPr>
            <a:xfrm>
              <a:off x="10208426" y="1196796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Calibri"/>
                <a:cs typeface="Calibri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940AA3-E519-890D-B35C-EAF1773BC856}"/>
              </a:ext>
            </a:extLst>
          </p:cNvPr>
          <p:cNvGrpSpPr/>
          <p:nvPr/>
        </p:nvGrpSpPr>
        <p:grpSpPr>
          <a:xfrm>
            <a:off x="9665883" y="820789"/>
            <a:ext cx="2246122" cy="2482516"/>
            <a:chOff x="6413900" y="786617"/>
            <a:chExt cx="2246122" cy="2482516"/>
          </a:xfrm>
        </p:grpSpPr>
        <p:sp>
          <p:nvSpPr>
            <p:cNvPr id="37" name="Flowchart: Display 36">
              <a:extLst>
                <a:ext uri="{FF2B5EF4-FFF2-40B4-BE49-F238E27FC236}">
                  <a16:creationId xmlns:a16="http://schemas.microsoft.com/office/drawing/2014/main" id="{B419F7D4-1574-63EB-484B-6BD2FDE73EF9}"/>
                </a:ext>
              </a:extLst>
            </p:cNvPr>
            <p:cNvSpPr/>
            <p:nvPr/>
          </p:nvSpPr>
          <p:spPr>
            <a:xfrm rot="5400000">
              <a:off x="6307933" y="1022422"/>
              <a:ext cx="2352678" cy="2140744"/>
            </a:xfrm>
            <a:prstGeom prst="flowChartDisplay">
              <a:avLst/>
            </a:prstGeom>
            <a:noFill/>
            <a:ln w="19050">
              <a:solidFill>
                <a:srgbClr val="F18A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06879D0-B180-2C16-0065-CAABB1EED9D5}"/>
                </a:ext>
              </a:extLst>
            </p:cNvPr>
            <p:cNvSpPr txBox="1"/>
            <p:nvPr/>
          </p:nvSpPr>
          <p:spPr>
            <a:xfrm>
              <a:off x="6486531" y="1696892"/>
              <a:ext cx="217349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Dive deep for valuable insights.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Uncover trends with predictive analytics.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Extract insights from complex data.</a:t>
              </a:r>
              <a:r>
                <a:rPr lang="en-US" altLang="en-US" sz="800" dirty="0">
                  <a:latin typeface="Calibri"/>
                  <a:cs typeface="Calibri"/>
                </a:rPr>
                <a:t>.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63AE65-7E04-475A-3C37-C8551AE2351C}"/>
                </a:ext>
              </a:extLst>
            </p:cNvPr>
            <p:cNvSpPr txBox="1"/>
            <p:nvPr/>
          </p:nvSpPr>
          <p:spPr>
            <a:xfrm>
              <a:off x="6716992" y="1116740"/>
              <a:ext cx="1543052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400" b="1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Advanced Analytics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DEC5C45-EA65-241B-661D-27B07139AE71}"/>
                </a:ext>
              </a:extLst>
            </p:cNvPr>
            <p:cNvSpPr/>
            <p:nvPr/>
          </p:nvSpPr>
          <p:spPr>
            <a:xfrm>
              <a:off x="7386640" y="786617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840169-4732-7405-C7EF-D327549B5A10}"/>
              </a:ext>
            </a:extLst>
          </p:cNvPr>
          <p:cNvGrpSpPr/>
          <p:nvPr/>
        </p:nvGrpSpPr>
        <p:grpSpPr>
          <a:xfrm>
            <a:off x="5120660" y="3601282"/>
            <a:ext cx="1951190" cy="2317657"/>
            <a:chOff x="762003" y="796941"/>
            <a:chExt cx="2140744" cy="2472192"/>
          </a:xfrm>
        </p:grpSpPr>
        <p:sp>
          <p:nvSpPr>
            <p:cNvPr id="46" name="Flowchart: Display 45">
              <a:extLst>
                <a:ext uri="{FF2B5EF4-FFF2-40B4-BE49-F238E27FC236}">
                  <a16:creationId xmlns:a16="http://schemas.microsoft.com/office/drawing/2014/main" id="{CB10CB5F-9119-CD13-DE3D-DC908E7AB639}"/>
                </a:ext>
              </a:extLst>
            </p:cNvPr>
            <p:cNvSpPr/>
            <p:nvPr/>
          </p:nvSpPr>
          <p:spPr>
            <a:xfrm rot="5400000">
              <a:off x="656036" y="1022422"/>
              <a:ext cx="2352678" cy="2140744"/>
            </a:xfrm>
            <a:prstGeom prst="flowChartDisplay">
              <a:avLst/>
            </a:prstGeom>
            <a:noFill/>
            <a:ln w="19050">
              <a:solidFill>
                <a:srgbClr val="F18A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BD6746-0D08-C7E7-D664-138C7AE4C273}"/>
                </a:ext>
              </a:extLst>
            </p:cNvPr>
            <p:cNvSpPr txBox="1"/>
            <p:nvPr/>
          </p:nvSpPr>
          <p:spPr>
            <a:xfrm>
              <a:off x="877494" y="1746734"/>
              <a:ext cx="1909763" cy="1280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Expert guidance for effective implementation.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Tailored training for optimal usage. </a:t>
              </a:r>
            </a:p>
            <a:p>
              <a:endParaRPr lang="en-IN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15D5BE7-09FE-8FAE-49A9-C2CE61B40631}"/>
                </a:ext>
              </a:extLst>
            </p:cNvPr>
            <p:cNvSpPr txBox="1"/>
            <p:nvPr/>
          </p:nvSpPr>
          <p:spPr>
            <a:xfrm>
              <a:off x="1065615" y="1133611"/>
              <a:ext cx="1543052" cy="55810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IN" sz="1400" b="1" dirty="0">
                  <a:solidFill>
                    <a:srgbClr val="0D0D0D"/>
                  </a:solidFill>
                  <a:latin typeface="Calibri"/>
                  <a:cs typeface="Calibri"/>
                </a:rPr>
                <a:t>Consultation &amp; Training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4F040CE-4BD0-BEBA-F8CC-7D77F48EB01B}"/>
                </a:ext>
              </a:extLst>
            </p:cNvPr>
            <p:cNvSpPr/>
            <p:nvPr/>
          </p:nvSpPr>
          <p:spPr>
            <a:xfrm>
              <a:off x="1734743" y="796941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DE01039-49B7-E8E3-8575-49972A7E51C1}"/>
              </a:ext>
            </a:extLst>
          </p:cNvPr>
          <p:cNvGrpSpPr/>
          <p:nvPr/>
        </p:nvGrpSpPr>
        <p:grpSpPr>
          <a:xfrm>
            <a:off x="1687128" y="3640313"/>
            <a:ext cx="2183607" cy="2473692"/>
            <a:chOff x="3583789" y="1189977"/>
            <a:chExt cx="2183607" cy="2473692"/>
          </a:xfrm>
        </p:grpSpPr>
        <p:sp>
          <p:nvSpPr>
            <p:cNvPr id="56" name="Flowchart: Display 55">
              <a:extLst>
                <a:ext uri="{FF2B5EF4-FFF2-40B4-BE49-F238E27FC236}">
                  <a16:creationId xmlns:a16="http://schemas.microsoft.com/office/drawing/2014/main" id="{C9FE02A3-B5C8-60DB-80BF-5CB1A9FABFF9}"/>
                </a:ext>
              </a:extLst>
            </p:cNvPr>
            <p:cNvSpPr/>
            <p:nvPr/>
          </p:nvSpPr>
          <p:spPr>
            <a:xfrm rot="5400000">
              <a:off x="3477822" y="1416958"/>
              <a:ext cx="2352678" cy="2140744"/>
            </a:xfrm>
            <a:prstGeom prst="flowChartDisplay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DF83BE3-AF52-ACCB-430B-6EE7E14D07AA}"/>
                </a:ext>
              </a:extLst>
            </p:cNvPr>
            <p:cNvSpPr txBox="1"/>
            <p:nvPr/>
          </p:nvSpPr>
          <p:spPr>
            <a:xfrm>
              <a:off x="3857633" y="1935532"/>
              <a:ext cx="190976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Intelligent insights for informed decisions.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Recommendations based on predictive analysis.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AI-guided choices for strategic planning.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FF54EB6-0A3B-7F31-E309-80561AE988F0}"/>
                </a:ext>
              </a:extLst>
            </p:cNvPr>
            <p:cNvSpPr txBox="1"/>
            <p:nvPr/>
          </p:nvSpPr>
          <p:spPr>
            <a:xfrm>
              <a:off x="3900033" y="1508238"/>
              <a:ext cx="154305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i="0" dirty="0">
                  <a:solidFill>
                    <a:srgbClr val="0D0D0D"/>
                  </a:solidFill>
                  <a:effectLst/>
                  <a:latin typeface="Söhne"/>
                </a:rPr>
                <a:t>AI-driven Decision Support 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C583FCF-5C4A-0A4F-7714-8D999EAF5231}"/>
                </a:ext>
              </a:extLst>
            </p:cNvPr>
            <p:cNvSpPr/>
            <p:nvPr/>
          </p:nvSpPr>
          <p:spPr>
            <a:xfrm>
              <a:off x="4556529" y="1189977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722335-8475-A937-901F-6B2EA7E05DD8}"/>
              </a:ext>
            </a:extLst>
          </p:cNvPr>
          <p:cNvGrpSpPr/>
          <p:nvPr/>
        </p:nvGrpSpPr>
        <p:grpSpPr>
          <a:xfrm>
            <a:off x="8264022" y="3699602"/>
            <a:ext cx="2183607" cy="2473692"/>
            <a:chOff x="3583789" y="1189977"/>
            <a:chExt cx="2183607" cy="2473692"/>
          </a:xfrm>
        </p:grpSpPr>
        <p:sp>
          <p:nvSpPr>
            <p:cNvPr id="61" name="Flowchart: Display 60">
              <a:extLst>
                <a:ext uri="{FF2B5EF4-FFF2-40B4-BE49-F238E27FC236}">
                  <a16:creationId xmlns:a16="http://schemas.microsoft.com/office/drawing/2014/main" id="{29DE113A-8B02-3BC0-6994-8F5AD84603E0}"/>
                </a:ext>
              </a:extLst>
            </p:cNvPr>
            <p:cNvSpPr/>
            <p:nvPr/>
          </p:nvSpPr>
          <p:spPr>
            <a:xfrm rot="5400000">
              <a:off x="3477822" y="1416958"/>
              <a:ext cx="2352678" cy="2140744"/>
            </a:xfrm>
            <a:prstGeom prst="flowChartDisplay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A368E62-93F5-793E-1AF1-BBFBAC158D09}"/>
                </a:ext>
              </a:extLst>
            </p:cNvPr>
            <p:cNvSpPr txBox="1"/>
            <p:nvPr/>
          </p:nvSpPr>
          <p:spPr>
            <a:xfrm>
              <a:off x="3857633" y="1935532"/>
              <a:ext cx="190976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Generate reports automatically for efficiency.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Streamline reporting processes with automation.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rgbClr val="0D0D0D"/>
                  </a:solidFill>
                  <a:effectLst/>
                  <a:latin typeface="Calibri"/>
                  <a:cs typeface="Calibri"/>
                </a:rPr>
                <a:t>Simplify reporting tasks with automation.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EE96AAE-BA91-9616-AA5D-717960CD5F6A}"/>
                </a:ext>
              </a:extLst>
            </p:cNvPr>
            <p:cNvSpPr txBox="1"/>
            <p:nvPr/>
          </p:nvSpPr>
          <p:spPr>
            <a:xfrm>
              <a:off x="3900033" y="1508238"/>
              <a:ext cx="154305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i="0" dirty="0">
                  <a:solidFill>
                    <a:srgbClr val="0D0D0D"/>
                  </a:solidFill>
                  <a:effectLst/>
                  <a:latin typeface="Söhne"/>
                </a:rPr>
                <a:t>Automated Reporting </a:t>
              </a:r>
              <a:endParaRPr lang="en-IN" sz="1400" dirty="0">
                <a:latin typeface="Calibri"/>
                <a:cs typeface="Calibri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C5D5DAE-1346-3E43-66B7-F4B32DFD88FC}"/>
                </a:ext>
              </a:extLst>
            </p:cNvPr>
            <p:cNvSpPr/>
            <p:nvPr/>
          </p:nvSpPr>
          <p:spPr>
            <a:xfrm>
              <a:off x="4556529" y="1189977"/>
              <a:ext cx="195263" cy="185738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5589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5" y="65995"/>
            <a:ext cx="11300236" cy="526975"/>
          </a:xfrm>
        </p:spPr>
        <p:txBody>
          <a:bodyPr>
            <a:normAutofit/>
          </a:bodyPr>
          <a:lstStyle/>
          <a:p>
            <a:r>
              <a:rPr lang="en-CA" sz="2800" dirty="0"/>
              <a:t>Upcoming </a:t>
            </a:r>
            <a:r>
              <a:rPr lang="en-US" sz="2800" dirty="0"/>
              <a:t>Technologies </a:t>
            </a:r>
            <a:endParaRPr lang="en-CA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7323" y="1474588"/>
            <a:ext cx="3931125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Retail and Consumer Engagement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FBB15-E5CE-CF4C-BF0A-7825587B0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14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4F2BC-2147-1849-F6CA-11E274478EFB}"/>
              </a:ext>
            </a:extLst>
          </p:cNvPr>
          <p:cNvSpPr txBox="1"/>
          <p:nvPr/>
        </p:nvSpPr>
        <p:spPr>
          <a:xfrm>
            <a:off x="1387323" y="2141337"/>
            <a:ext cx="275086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Industrial Digitalization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CAFCE-A697-EE85-F3CB-99779B76DF1A}"/>
              </a:ext>
            </a:extLst>
          </p:cNvPr>
          <p:cNvSpPr txBox="1"/>
          <p:nvPr/>
        </p:nvSpPr>
        <p:spPr>
          <a:xfrm>
            <a:off x="1387321" y="2670559"/>
            <a:ext cx="3473927" cy="6771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Healthcare and Anomaly Detection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EAFE3-30DE-659C-5EF5-A7DAA6BBA279}"/>
              </a:ext>
            </a:extLst>
          </p:cNvPr>
          <p:cNvSpPr txBox="1"/>
          <p:nvPr/>
        </p:nvSpPr>
        <p:spPr>
          <a:xfrm>
            <a:off x="1387323" y="3443087"/>
            <a:ext cx="275086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Use Cases 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58D504-6286-6F67-806C-5B8C86B647B2}"/>
              </a:ext>
            </a:extLst>
          </p:cNvPr>
          <p:cNvSpPr txBox="1"/>
          <p:nvPr/>
        </p:nvSpPr>
        <p:spPr>
          <a:xfrm>
            <a:off x="6266238" y="1527502"/>
            <a:ext cx="404203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Continuous Adaptation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23D1EA-4A26-DC37-06FD-4BF175F14311}"/>
              </a:ext>
            </a:extLst>
          </p:cNvPr>
          <p:cNvSpPr txBox="1"/>
          <p:nvPr/>
        </p:nvSpPr>
        <p:spPr>
          <a:xfrm>
            <a:off x="6319155" y="2892754"/>
            <a:ext cx="3473926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Enhancing Domain Adaptation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D9BBD-4183-366B-FC06-13EB5A667D5A}"/>
              </a:ext>
            </a:extLst>
          </p:cNvPr>
          <p:cNvSpPr txBox="1"/>
          <p:nvPr/>
        </p:nvSpPr>
        <p:spPr>
          <a:xfrm>
            <a:off x="6319156" y="2194254"/>
            <a:ext cx="328204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Active Retrieval Strategies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7A13D4-2737-C437-8145-7F5646D1E488}"/>
              </a:ext>
            </a:extLst>
          </p:cNvPr>
          <p:cNvSpPr txBox="1"/>
          <p:nvPr/>
        </p:nvSpPr>
        <p:spPr>
          <a:xfrm>
            <a:off x="6319154" y="3496003"/>
            <a:ext cx="3282043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CA" sz="2200" dirty="0">
                <a:solidFill>
                  <a:srgbClr val="ED7D31"/>
                </a:solidFill>
                <a:latin typeface="Calibri" panose="020F0502020204030204"/>
              </a:rPr>
              <a:t>Challenges and Limitations</a:t>
            </a:r>
            <a:endParaRPr lang="en-US" sz="2400" dirty="0">
              <a:cs typeface="Calibri" panose="020F0502020204030204"/>
            </a:endParaRPr>
          </a:p>
        </p:txBody>
      </p:sp>
      <p:pic>
        <p:nvPicPr>
          <p:cNvPr id="28" name="Graphic 27" descr="Caret Right with solid fill">
            <a:extLst>
              <a:ext uri="{FF2B5EF4-FFF2-40B4-BE49-F238E27FC236}">
                <a16:creationId xmlns:a16="http://schemas.microsoft.com/office/drawing/2014/main" id="{973D29EF-78E8-4280-E910-C7A05C7BD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16" y="1479549"/>
            <a:ext cx="321734" cy="332317"/>
          </a:xfrm>
          <a:prstGeom prst="rect">
            <a:avLst/>
          </a:prstGeom>
        </p:spPr>
      </p:pic>
      <p:pic>
        <p:nvPicPr>
          <p:cNvPr id="29" name="Graphic 28" descr="Caret Right with solid fill">
            <a:extLst>
              <a:ext uri="{FF2B5EF4-FFF2-40B4-BE49-F238E27FC236}">
                <a16:creationId xmlns:a16="http://schemas.microsoft.com/office/drawing/2014/main" id="{ED3AA35E-35CC-17C3-0450-20151E7DB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15" y="2103965"/>
            <a:ext cx="321734" cy="332317"/>
          </a:xfrm>
          <a:prstGeom prst="rect">
            <a:avLst/>
          </a:prstGeom>
        </p:spPr>
      </p:pic>
      <p:pic>
        <p:nvPicPr>
          <p:cNvPr id="34" name="Graphic 33" descr="Caret Right with solid fill">
            <a:extLst>
              <a:ext uri="{FF2B5EF4-FFF2-40B4-BE49-F238E27FC236}">
                <a16:creationId xmlns:a16="http://schemas.microsoft.com/office/drawing/2014/main" id="{FE245DCB-D534-B1E8-7636-A445769B0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16" y="2844799"/>
            <a:ext cx="321734" cy="332317"/>
          </a:xfrm>
          <a:prstGeom prst="rect">
            <a:avLst/>
          </a:prstGeom>
        </p:spPr>
      </p:pic>
      <p:pic>
        <p:nvPicPr>
          <p:cNvPr id="35" name="Graphic 34" descr="Caret Right with solid fill">
            <a:extLst>
              <a:ext uri="{FF2B5EF4-FFF2-40B4-BE49-F238E27FC236}">
                <a16:creationId xmlns:a16="http://schemas.microsoft.com/office/drawing/2014/main" id="{0CB118B5-86FD-E331-3A04-A12C0AED0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15" y="3448048"/>
            <a:ext cx="321734" cy="332317"/>
          </a:xfrm>
          <a:prstGeom prst="rect">
            <a:avLst/>
          </a:prstGeom>
        </p:spPr>
      </p:pic>
      <p:pic>
        <p:nvPicPr>
          <p:cNvPr id="41" name="Graphic 40" descr="Caret Right with solid fill">
            <a:extLst>
              <a:ext uri="{FF2B5EF4-FFF2-40B4-BE49-F238E27FC236}">
                <a16:creationId xmlns:a16="http://schemas.microsoft.com/office/drawing/2014/main" id="{90F060CE-F898-1B82-66E8-CB6A3925A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3136" y="1526764"/>
            <a:ext cx="321734" cy="332317"/>
          </a:xfrm>
          <a:prstGeom prst="rect">
            <a:avLst/>
          </a:prstGeom>
        </p:spPr>
      </p:pic>
      <p:pic>
        <p:nvPicPr>
          <p:cNvPr id="42" name="Graphic 41" descr="Caret Right with solid fill">
            <a:extLst>
              <a:ext uri="{FF2B5EF4-FFF2-40B4-BE49-F238E27FC236}">
                <a16:creationId xmlns:a16="http://schemas.microsoft.com/office/drawing/2014/main" id="{4D556FD6-35BD-C077-4A67-B369F5FD8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3136" y="2151994"/>
            <a:ext cx="321734" cy="332317"/>
          </a:xfrm>
          <a:prstGeom prst="rect">
            <a:avLst/>
          </a:prstGeom>
        </p:spPr>
      </p:pic>
      <p:pic>
        <p:nvPicPr>
          <p:cNvPr id="43" name="Graphic 42" descr="Caret Right with solid fill">
            <a:extLst>
              <a:ext uri="{FF2B5EF4-FFF2-40B4-BE49-F238E27FC236}">
                <a16:creationId xmlns:a16="http://schemas.microsoft.com/office/drawing/2014/main" id="{9038BCEE-FD79-CD98-3091-3F950D9FB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3136" y="2845609"/>
            <a:ext cx="321734" cy="332317"/>
          </a:xfrm>
          <a:prstGeom prst="rect">
            <a:avLst/>
          </a:prstGeom>
        </p:spPr>
      </p:pic>
      <p:pic>
        <p:nvPicPr>
          <p:cNvPr id="44" name="Graphic 43" descr="Caret Right with solid fill">
            <a:extLst>
              <a:ext uri="{FF2B5EF4-FFF2-40B4-BE49-F238E27FC236}">
                <a16:creationId xmlns:a16="http://schemas.microsoft.com/office/drawing/2014/main" id="{7E42CC70-F563-5128-1AF0-6BE7F367A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3136" y="3509916"/>
            <a:ext cx="321734" cy="33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8366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2">
      <a:dk1>
        <a:srgbClr val="3F3F3F"/>
      </a:dk1>
      <a:lt1>
        <a:srgbClr val="FFFFFF"/>
      </a:lt1>
      <a:dk2>
        <a:srgbClr val="002060"/>
      </a:dk2>
      <a:lt2>
        <a:srgbClr val="E7E6E6"/>
      </a:lt2>
      <a:accent1>
        <a:srgbClr val="D8D8D8"/>
      </a:accent1>
      <a:accent2>
        <a:srgbClr val="7F7F7F"/>
      </a:accent2>
      <a:accent3>
        <a:srgbClr val="0070C0"/>
      </a:accent3>
      <a:accent4>
        <a:srgbClr val="F4B183"/>
      </a:accent4>
      <a:accent5>
        <a:srgbClr val="000066"/>
      </a:accent5>
      <a:accent6>
        <a:srgbClr val="ED7D31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Pattern Overview for Intel[724]" id="{68AC1855-D0F8-4377-8505-044080BEDED5}" vid="{88C21425-C578-4ED2-9B2B-730CB433FD64}"/>
    </a:ext>
  </a:extLst>
</a:theme>
</file>

<file path=ppt/theme/theme2.xml><?xml version="1.0" encoding="utf-8"?>
<a:theme xmlns:a="http://schemas.openxmlformats.org/drawingml/2006/main" name="3_Office Theme">
  <a:themeElements>
    <a:clrScheme name="Custom 2">
      <a:dk1>
        <a:srgbClr val="3F3F3F"/>
      </a:dk1>
      <a:lt1>
        <a:srgbClr val="FFFFFF"/>
      </a:lt1>
      <a:dk2>
        <a:srgbClr val="002060"/>
      </a:dk2>
      <a:lt2>
        <a:srgbClr val="E7E6E6"/>
      </a:lt2>
      <a:accent1>
        <a:srgbClr val="D8D8D8"/>
      </a:accent1>
      <a:accent2>
        <a:srgbClr val="7F7F7F"/>
      </a:accent2>
      <a:accent3>
        <a:srgbClr val="0070C0"/>
      </a:accent3>
      <a:accent4>
        <a:srgbClr val="F4B183"/>
      </a:accent4>
      <a:accent5>
        <a:srgbClr val="000066"/>
      </a:accent5>
      <a:accent6>
        <a:srgbClr val="ED7D31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Pattern Overview for Intel[724]" id="{68AC1855-D0F8-4377-8505-044080BEDED5}" vid="{88C21425-C578-4ED2-9B2B-730CB433FD64}"/>
    </a:ext>
  </a:extLst>
</a:theme>
</file>

<file path=ppt/theme/theme3.xml><?xml version="1.0" encoding="utf-8"?>
<a:theme xmlns:a="http://schemas.openxmlformats.org/drawingml/2006/main" name="4_Office Theme">
  <a:themeElements>
    <a:clrScheme name="Custom 2">
      <a:dk1>
        <a:srgbClr val="3F3F3F"/>
      </a:dk1>
      <a:lt1>
        <a:srgbClr val="FFFFFF"/>
      </a:lt1>
      <a:dk2>
        <a:srgbClr val="002060"/>
      </a:dk2>
      <a:lt2>
        <a:srgbClr val="E7E6E6"/>
      </a:lt2>
      <a:accent1>
        <a:srgbClr val="D8D8D8"/>
      </a:accent1>
      <a:accent2>
        <a:srgbClr val="7F7F7F"/>
      </a:accent2>
      <a:accent3>
        <a:srgbClr val="0070C0"/>
      </a:accent3>
      <a:accent4>
        <a:srgbClr val="F4B183"/>
      </a:accent4>
      <a:accent5>
        <a:srgbClr val="000066"/>
      </a:accent5>
      <a:accent6>
        <a:srgbClr val="ED7D31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Pattern Overview for Intel[724]" id="{68AC1855-D0F8-4377-8505-044080BEDED5}" vid="{88C21425-C578-4ED2-9B2B-730CB433FD6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1574</Words>
  <Application>Microsoft Office PowerPoint</Application>
  <PresentationFormat>Widescreen</PresentationFormat>
  <Paragraphs>270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Arial</vt:lpstr>
      <vt:lpstr>Calibri</vt:lpstr>
      <vt:lpstr>DM Sans</vt:lpstr>
      <vt:lpstr>Segoe UI</vt:lpstr>
      <vt:lpstr>Segoe UI Historic</vt:lpstr>
      <vt:lpstr>Segoe UI Light</vt:lpstr>
      <vt:lpstr>Söhne</vt:lpstr>
      <vt:lpstr>Wingdings</vt:lpstr>
      <vt:lpstr>2_Office Theme</vt:lpstr>
      <vt:lpstr>3_Office Theme</vt:lpstr>
      <vt:lpstr>4_Office Theme</vt:lpstr>
      <vt:lpstr>PowerPoint Presentation</vt:lpstr>
      <vt:lpstr>Slide Content</vt:lpstr>
      <vt:lpstr>Introduction -DataPattern</vt:lpstr>
      <vt:lpstr>Digital Transformation Services Portfolio </vt:lpstr>
      <vt:lpstr>Traversing the Path of Retrieval Augmented Generation</vt:lpstr>
      <vt:lpstr>RAG Essence Unveiled</vt:lpstr>
      <vt:lpstr>Benefits </vt:lpstr>
      <vt:lpstr>Architecture of RAG</vt:lpstr>
      <vt:lpstr>Customer Stories – Case study</vt:lpstr>
      <vt:lpstr>   EminenceAI (Case Study) #7</vt:lpstr>
      <vt:lpstr>Capabilities of DataPattern</vt:lpstr>
      <vt:lpstr>What can we do in RAG?</vt:lpstr>
      <vt:lpstr>RAG based services</vt:lpstr>
      <vt:lpstr>Upcoming Technologies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Shek Showkath M</dc:creator>
  <cp:lastModifiedBy>Shek Showkath M</cp:lastModifiedBy>
  <cp:revision>41</cp:revision>
  <dcterms:created xsi:type="dcterms:W3CDTF">2024-03-04T14:18:01Z</dcterms:created>
  <dcterms:modified xsi:type="dcterms:W3CDTF">2024-03-28T04:58:55Z</dcterms:modified>
</cp:coreProperties>
</file>